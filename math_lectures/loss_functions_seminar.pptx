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5"/>
  </p:notesMasterIdLst>
  <p:sldIdLst>
    <p:sldId id="256" r:id="rId5"/>
    <p:sldId id="257" r:id="rId6"/>
    <p:sldId id="285" r:id="rId7"/>
    <p:sldId id="258" r:id="rId8"/>
    <p:sldId id="259" r:id="rId9"/>
    <p:sldId id="260" r:id="rId10"/>
    <p:sldId id="261" r:id="rId11"/>
    <p:sldId id="262" r:id="rId12"/>
    <p:sldId id="263" r:id="rId13"/>
    <p:sldId id="264" r:id="rId14"/>
    <p:sldId id="265" r:id="rId15"/>
    <p:sldId id="266" r:id="rId16"/>
    <p:sldId id="298" r:id="rId17"/>
    <p:sldId id="304" r:id="rId18"/>
    <p:sldId id="305" r:id="rId19"/>
    <p:sldId id="306" r:id="rId20"/>
    <p:sldId id="307" r:id="rId21"/>
    <p:sldId id="299" r:id="rId22"/>
    <p:sldId id="300" r:id="rId23"/>
    <p:sldId id="301" r:id="rId24"/>
    <p:sldId id="302" r:id="rId25"/>
    <p:sldId id="289" r:id="rId26"/>
    <p:sldId id="290" r:id="rId27"/>
    <p:sldId id="291" r:id="rId28"/>
    <p:sldId id="292" r:id="rId29"/>
    <p:sldId id="293" r:id="rId30"/>
    <p:sldId id="267" r:id="rId31"/>
    <p:sldId id="268" r:id="rId32"/>
    <p:sldId id="294" r:id="rId33"/>
    <p:sldId id="269" r:id="rId34"/>
    <p:sldId id="271" r:id="rId35"/>
    <p:sldId id="274" r:id="rId36"/>
    <p:sldId id="273" r:id="rId37"/>
    <p:sldId id="275" r:id="rId38"/>
    <p:sldId id="280" r:id="rId39"/>
    <p:sldId id="281" r:id="rId40"/>
    <p:sldId id="282" r:id="rId41"/>
    <p:sldId id="272" r:id="rId42"/>
    <p:sldId id="283" r:id="rId43"/>
    <p:sldId id="284" r:id="rId44"/>
    <p:sldId id="276" r:id="rId45"/>
    <p:sldId id="277" r:id="rId46"/>
    <p:sldId id="278" r:id="rId47"/>
    <p:sldId id="279" r:id="rId48"/>
    <p:sldId id="270" r:id="rId49"/>
    <p:sldId id="286" r:id="rId50"/>
    <p:sldId id="287" r:id="rId51"/>
    <p:sldId id="295" r:id="rId52"/>
    <p:sldId id="288" r:id="rId53"/>
    <p:sldId id="296" r:id="rId54"/>
    <p:sldId id="308" r:id="rId55"/>
    <p:sldId id="309" r:id="rId56"/>
    <p:sldId id="310" r:id="rId57"/>
    <p:sldId id="311" r:id="rId58"/>
    <p:sldId id="312" r:id="rId59"/>
    <p:sldId id="313" r:id="rId60"/>
    <p:sldId id="314" r:id="rId61"/>
    <p:sldId id="315" r:id="rId62"/>
    <p:sldId id="316" r:id="rId63"/>
    <p:sldId id="29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119" d="100"/>
          <a:sy n="119" d="100"/>
        </p:scale>
        <p:origin x="9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0FC2B0-E444-4C0D-80A5-63BA5A899DD5}"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58E94-951E-4DC1-9ADA-E38332B9DF9B}" type="slidenum">
              <a:rPr lang="en-US" smtClean="0"/>
              <a:t>‹#›</a:t>
            </a:fld>
            <a:endParaRPr lang="en-US"/>
          </a:p>
        </p:txBody>
      </p:sp>
    </p:spTree>
    <p:extLst>
      <p:ext uri="{BB962C8B-B14F-4D97-AF65-F5344CB8AC3E}">
        <p14:creationId xmlns:p14="http://schemas.microsoft.com/office/powerpoint/2010/main" val="1658553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A58E94-951E-4DC1-9ADA-E38332B9DF9B}" type="slidenum">
              <a:rPr lang="en-US" smtClean="0"/>
              <a:t>6</a:t>
            </a:fld>
            <a:endParaRPr lang="en-US"/>
          </a:p>
        </p:txBody>
      </p:sp>
    </p:spTree>
    <p:extLst>
      <p:ext uri="{BB962C8B-B14F-4D97-AF65-F5344CB8AC3E}">
        <p14:creationId xmlns:p14="http://schemas.microsoft.com/office/powerpoint/2010/main" val="3622526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50FA-85C2-08FB-B433-C01824A8EB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3408B2-2A54-37F2-E850-0B19379E9D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F9849E-4ED2-6587-D7CE-6FE9F5F76AAE}"/>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5" name="Footer Placeholder 4">
            <a:extLst>
              <a:ext uri="{FF2B5EF4-FFF2-40B4-BE49-F238E27FC236}">
                <a16:creationId xmlns:a16="http://schemas.microsoft.com/office/drawing/2014/main" id="{626482EB-85B9-18DA-4822-465B2500E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5EA8E-FAF1-B686-B9EF-DAA2ECC0B783}"/>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37131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62A9-66C6-E350-1587-A280F96A5E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8FE32F-5EDB-1099-CC9A-0E96D1DCF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042C9C-1810-2DF4-E21B-A01E61463407}"/>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5" name="Footer Placeholder 4">
            <a:extLst>
              <a:ext uri="{FF2B5EF4-FFF2-40B4-BE49-F238E27FC236}">
                <a16:creationId xmlns:a16="http://schemas.microsoft.com/office/drawing/2014/main" id="{81CDF68E-3CD1-D6E9-BB48-EB2E2AFBE2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532532-3D7C-ED0E-3D21-8461053DD3E8}"/>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59583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343F0-81EC-B155-92B9-8C0348F916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EB26A5-CC9A-9549-80CF-2B68065FD8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119211-B50E-510F-AB42-126938E58673}"/>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5" name="Footer Placeholder 4">
            <a:extLst>
              <a:ext uri="{FF2B5EF4-FFF2-40B4-BE49-F238E27FC236}">
                <a16:creationId xmlns:a16="http://schemas.microsoft.com/office/drawing/2014/main" id="{C58BCC41-DDD7-E0F7-41DC-84CFA9E9D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F5748C-054C-B470-B70B-7CC8CE64076E}"/>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4932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D5AA7-A594-D60D-3EF4-48F574357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FCC61E-5A95-4FDE-2C19-9BEEDCA72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626BF5-6D76-DA65-6A1C-E9D78722AB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8601DB-A7CC-1A3B-22E5-6FE07827C4BB}"/>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6" name="Footer Placeholder 5">
            <a:extLst>
              <a:ext uri="{FF2B5EF4-FFF2-40B4-BE49-F238E27FC236}">
                <a16:creationId xmlns:a16="http://schemas.microsoft.com/office/drawing/2014/main" id="{9F2FE08C-9C40-7D46-903A-8B9C21F1CB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71696-E9CF-2E4C-393C-F564C184BFDD}"/>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232215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8F54B-D4B6-F085-CE32-4CE012AEB8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7A0CA6-5FF1-C477-4FA1-A37DA6DA12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0D4FC3-4861-67B5-3B6F-3096345943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CFD0F0-B5CB-970B-4F86-12394E265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ABDE65-FCC1-7F69-7A1F-EF48B65F8C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89E2F-F928-72BC-DB63-0D76BD8367F3}"/>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8" name="Footer Placeholder 7">
            <a:extLst>
              <a:ext uri="{FF2B5EF4-FFF2-40B4-BE49-F238E27FC236}">
                <a16:creationId xmlns:a16="http://schemas.microsoft.com/office/drawing/2014/main" id="{68D972D3-BDA3-8C52-490B-144B697071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25FE51-923C-E1A6-F409-195F73AAE653}"/>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674148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1A4C-0425-1C07-2039-B1E045B3E1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536C24-77E9-1FB8-81FD-52074EF9721A}"/>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4" name="Footer Placeholder 3">
            <a:extLst>
              <a:ext uri="{FF2B5EF4-FFF2-40B4-BE49-F238E27FC236}">
                <a16:creationId xmlns:a16="http://schemas.microsoft.com/office/drawing/2014/main" id="{EDA28363-5BF9-91F1-587D-089756D747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80C166-5C4A-5B5A-C4C8-82969592C64E}"/>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52060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9CCB50-F65F-6D48-5111-92D49DCC2EA8}"/>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3" name="Footer Placeholder 2">
            <a:extLst>
              <a:ext uri="{FF2B5EF4-FFF2-40B4-BE49-F238E27FC236}">
                <a16:creationId xmlns:a16="http://schemas.microsoft.com/office/drawing/2014/main" id="{229D5346-09FB-5CF2-9FCC-A5A25DCF6F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DB807E-CB16-57C1-12FF-C2392D6B3F4F}"/>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550201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5E06C-3249-AE4F-A86F-C16095DCA8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2B22F7-8099-18DB-BEAE-7DB4F4BB4F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32D405-9DDC-C006-D4AD-232574BFA5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C606E8-79B2-1971-3780-EF51943ED32E}"/>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6" name="Footer Placeholder 5">
            <a:extLst>
              <a:ext uri="{FF2B5EF4-FFF2-40B4-BE49-F238E27FC236}">
                <a16:creationId xmlns:a16="http://schemas.microsoft.com/office/drawing/2014/main" id="{22E94633-7DA4-A75A-5466-6B710B3A2D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69856E-11C4-CBFD-5AE1-D0A9143FAA55}"/>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1202901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C25E-5A05-1553-6DBC-61510A39D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520042-8147-A8CE-76D1-B547992EC5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D896F9-8E90-D53A-984E-A6007F19C9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DE2B7-D381-D6EC-FC21-F2B059AF7A84}"/>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6" name="Footer Placeholder 5">
            <a:extLst>
              <a:ext uri="{FF2B5EF4-FFF2-40B4-BE49-F238E27FC236}">
                <a16:creationId xmlns:a16="http://schemas.microsoft.com/office/drawing/2014/main" id="{2FC1D0FA-D348-FF8E-200E-318503BA3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53D823-D2FC-79DA-FB91-F0DA0F5A39F2}"/>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900582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E543B-CD4A-C466-9C9A-189E3AB071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9EBF8A-3B50-3A09-6FB0-88B0E21A0E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328C4F-0C12-215B-6B3F-A017EA202FF0}"/>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5" name="Footer Placeholder 4">
            <a:extLst>
              <a:ext uri="{FF2B5EF4-FFF2-40B4-BE49-F238E27FC236}">
                <a16:creationId xmlns:a16="http://schemas.microsoft.com/office/drawing/2014/main" id="{C8889E82-AE3D-C1F9-90D2-12AAD2BDC2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364A9-6EF9-1C87-4A7F-1D2D49F6B68A}"/>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69100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EC67DD-DC5A-8A52-D63A-6A98EBB75E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85A7A6-68B0-CB8B-BC6E-F06514EA87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CAFB4-39EF-99CE-0DA4-6C319246EE4B}"/>
              </a:ext>
            </a:extLst>
          </p:cNvPr>
          <p:cNvSpPr>
            <a:spLocks noGrp="1"/>
          </p:cNvSpPr>
          <p:nvPr>
            <p:ph type="dt" sz="half" idx="10"/>
          </p:nvPr>
        </p:nvSpPr>
        <p:spPr/>
        <p:txBody>
          <a:bodyPr/>
          <a:lstStyle/>
          <a:p>
            <a:fld id="{4A679BED-9C6B-4541-BD3C-413BAB473E0E}" type="datetimeFigureOut">
              <a:rPr lang="en-US" smtClean="0"/>
              <a:t>12/19/2025</a:t>
            </a:fld>
            <a:endParaRPr lang="en-US"/>
          </a:p>
        </p:txBody>
      </p:sp>
      <p:sp>
        <p:nvSpPr>
          <p:cNvPr id="5" name="Footer Placeholder 4">
            <a:extLst>
              <a:ext uri="{FF2B5EF4-FFF2-40B4-BE49-F238E27FC236}">
                <a16:creationId xmlns:a16="http://schemas.microsoft.com/office/drawing/2014/main" id="{46F48FE3-5F49-1BE0-0601-2788B2EAC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E3C5C-DEF8-D228-4EC1-66DF0A81CF20}"/>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53912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A07EAA-C910-3F9A-DAFD-56DF879360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F3D910-16CC-BF6D-B7FC-FBD9B9334D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E4444-7BFB-9797-BF05-190C36DEFA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679BED-9C6B-4541-BD3C-413BAB473E0E}" type="datetimeFigureOut">
              <a:rPr lang="en-US" smtClean="0"/>
              <a:t>12/19/2025</a:t>
            </a:fld>
            <a:endParaRPr lang="en-US"/>
          </a:p>
        </p:txBody>
      </p:sp>
      <p:sp>
        <p:nvSpPr>
          <p:cNvPr id="5" name="Footer Placeholder 4">
            <a:extLst>
              <a:ext uri="{FF2B5EF4-FFF2-40B4-BE49-F238E27FC236}">
                <a16:creationId xmlns:a16="http://schemas.microsoft.com/office/drawing/2014/main" id="{419DAF4E-3375-3722-D338-33F4C35CB9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CA2412-EE00-294E-C9BB-026C76AD0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BB3D91-53FD-4A6D-9DC7-D3D344FF4E1E}" type="slidenum">
              <a:rPr lang="en-US" smtClean="0"/>
              <a:t>‹#›</a:t>
            </a:fld>
            <a:endParaRPr lang="en-US"/>
          </a:p>
        </p:txBody>
      </p:sp>
    </p:spTree>
    <p:extLst>
      <p:ext uri="{BB962C8B-B14F-4D97-AF65-F5344CB8AC3E}">
        <p14:creationId xmlns:p14="http://schemas.microsoft.com/office/powerpoint/2010/main" val="3381727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f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jf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jf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4AEB8-99E9-564D-D8EB-EC334F346A8D}"/>
              </a:ext>
            </a:extLst>
          </p:cNvPr>
          <p:cNvSpPr>
            <a:spLocks noGrp="1"/>
          </p:cNvSpPr>
          <p:nvPr>
            <p:ph type="ctrTitle"/>
          </p:nvPr>
        </p:nvSpPr>
        <p:spPr/>
        <p:txBody>
          <a:bodyPr/>
          <a:lstStyle/>
          <a:p>
            <a:r>
              <a:rPr lang="en-US" dirty="0"/>
              <a:t>Classification Metrics and Loss Functions</a:t>
            </a:r>
          </a:p>
        </p:txBody>
      </p:sp>
      <p:sp>
        <p:nvSpPr>
          <p:cNvPr id="3" name="Subtitle 2">
            <a:extLst>
              <a:ext uri="{FF2B5EF4-FFF2-40B4-BE49-F238E27FC236}">
                <a16:creationId xmlns:a16="http://schemas.microsoft.com/office/drawing/2014/main" id="{2E79884E-3756-5743-8B1A-C5EC5DC9E668}"/>
              </a:ext>
            </a:extLst>
          </p:cNvPr>
          <p:cNvSpPr>
            <a:spLocks noGrp="1"/>
          </p:cNvSpPr>
          <p:nvPr>
            <p:ph type="subTitle" idx="1"/>
          </p:nvPr>
        </p:nvSpPr>
        <p:spPr/>
        <p:txBody>
          <a:bodyPr/>
          <a:lstStyle/>
          <a:p>
            <a:r>
              <a:rPr lang="en-US" dirty="0"/>
              <a:t>Old Dominion Vision Lab Seminar</a:t>
            </a:r>
          </a:p>
          <a:p>
            <a:r>
              <a:rPr lang="en-US" dirty="0"/>
              <a:t>Alex Glandon</a:t>
            </a:r>
          </a:p>
          <a:p>
            <a:r>
              <a:rPr lang="en-US"/>
              <a:t>2025</a:t>
            </a:r>
            <a:endParaRPr lang="en-US" dirty="0"/>
          </a:p>
        </p:txBody>
      </p:sp>
      <p:sp>
        <p:nvSpPr>
          <p:cNvPr id="4" name="TextBox 3">
            <a:extLst>
              <a:ext uri="{FF2B5EF4-FFF2-40B4-BE49-F238E27FC236}">
                <a16:creationId xmlns:a16="http://schemas.microsoft.com/office/drawing/2014/main" id="{5D6C17A0-E3B1-3708-2B62-CE7DFF4FC0EE}"/>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140879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5C2A5-EAAA-A9FC-EA3C-D70F109A7B3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D33F270-E2FE-B06C-FD19-BDA623717862}"/>
              </a:ext>
            </a:extLst>
          </p:cNvPr>
          <p:cNvSpPr>
            <a:spLocks noGrp="1"/>
          </p:cNvSpPr>
          <p:nvPr>
            <p:ph idx="1"/>
          </p:nvPr>
        </p:nvSpPr>
        <p:spPr/>
        <p:txBody>
          <a:bodyPr>
            <a:normAutofit/>
          </a:bodyPr>
          <a:lstStyle/>
          <a:p>
            <a:r>
              <a:rPr lang="en-US" dirty="0"/>
              <a:t>Statistical Point Estimation​ [1]</a:t>
            </a:r>
          </a:p>
          <a:p>
            <a:r>
              <a:rPr lang="en-US" dirty="0"/>
              <a:t>Statistical Hypothesis Testing​ [3]</a:t>
            </a:r>
          </a:p>
          <a:p>
            <a:r>
              <a:rPr lang="en-US" dirty="0"/>
              <a:t>Classification Models​</a:t>
            </a:r>
          </a:p>
          <a:p>
            <a:pPr lvl="1"/>
            <a:r>
              <a:rPr lang="en-US" dirty="0"/>
              <a:t>Relationship to Point Estimation​</a:t>
            </a:r>
          </a:p>
          <a:p>
            <a:pPr lvl="1"/>
            <a:r>
              <a:rPr lang="en-US" dirty="0"/>
              <a:t>Relationship to Hypothesis Testing​</a:t>
            </a:r>
          </a:p>
          <a:p>
            <a:r>
              <a:rPr lang="en-US" dirty="0"/>
              <a:t>Classification Metrics for Example Applications​</a:t>
            </a:r>
          </a:p>
          <a:p>
            <a:r>
              <a:rPr lang="en-US" dirty="0"/>
              <a:t>Classification Metrics vs Loss Functions​</a:t>
            </a:r>
          </a:p>
          <a:p>
            <a:pPr lvl="1"/>
            <a:r>
              <a:rPr lang="en-US" dirty="0"/>
              <a:t>Imbalanced Data [4]</a:t>
            </a:r>
          </a:p>
        </p:txBody>
      </p:sp>
    </p:spTree>
    <p:extLst>
      <p:ext uri="{BB962C8B-B14F-4D97-AF65-F5344CB8AC3E}">
        <p14:creationId xmlns:p14="http://schemas.microsoft.com/office/powerpoint/2010/main" val="539842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13622-9593-E876-3F73-996529EE0DB3}"/>
              </a:ext>
            </a:extLst>
          </p:cNvPr>
          <p:cNvSpPr>
            <a:spLocks noGrp="1"/>
          </p:cNvSpPr>
          <p:nvPr>
            <p:ph type="title"/>
          </p:nvPr>
        </p:nvSpPr>
        <p:spPr/>
        <p:txBody>
          <a:bodyPr/>
          <a:lstStyle/>
          <a:p>
            <a:r>
              <a:rPr lang="en-US" dirty="0"/>
              <a:t>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0A880F-2F78-8074-712A-0FC42F15B9D3}"/>
                  </a:ext>
                </a:extLst>
              </p:cNvPr>
              <p:cNvSpPr>
                <a:spLocks noGrp="1"/>
              </p:cNvSpPr>
              <p:nvPr>
                <p:ph idx="1"/>
              </p:nvPr>
            </p:nvSpPr>
            <p:spPr/>
            <p:txBody>
              <a:bodyPr>
                <a:normAutofit fontScale="77500" lnSpcReduction="20000"/>
              </a:bodyPr>
              <a:lstStyle/>
              <a:p>
                <a:r>
                  <a:rPr lang="en-US" dirty="0"/>
                  <a:t>Lower case variable -&gt; sample</a:t>
                </a:r>
              </a:p>
              <a:p>
                <a:r>
                  <a:rPr lang="en-US" dirty="0"/>
                  <a:t>Upper case variable -&gt; random variable</a:t>
                </a:r>
              </a:p>
              <a:p>
                <a:r>
                  <a:rPr lang="en-US" dirty="0"/>
                  <a:t>Examples we will see later</a:t>
                </a:r>
              </a:p>
              <a:p>
                <a:pPr lvl="1"/>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𝑡𝑟𝑎𝑖𝑛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𝑡𝑟𝑎𝑖𝑛</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𝑡𝑟𝑎𝑖𝑛</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𝑡𝑟𝑎𝑖𝑛</m:t>
                        </m:r>
                      </m:sub>
                    </m:sSub>
                    <m:r>
                      <a:rPr lang="en-US" i="1">
                        <a:latin typeface="Cambria Math" panose="02040503050406030204" pitchFamily="18" charset="0"/>
                      </a:rPr>
                      <m:t>,</m:t>
                    </m:r>
                    <m:acc>
                      <m:accPr>
                        <m:chr m:val="̂"/>
                        <m:ctrlPr>
                          <a:rPr lang="en-US" i="1" smtClean="0">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oMath>
                </a14:m>
                <a:r>
                  <a:rPr lang="en-US" b="0" dirty="0"/>
                  <a:t>, the output of a neural network is a random variable with discrete support (</a:t>
                </a:r>
                <a:r>
                  <a:rPr lang="en-US" dirty="0"/>
                  <a:t>number of possible classes) and it is defined by a conditional </a:t>
                </a:r>
                <a:r>
                  <a:rPr lang="en-US" b="0" dirty="0"/>
                  <a:t>distribution given the data sample </a:t>
                </a:r>
                <a14:m>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rPr>
                          <m:t>𝑥</m:t>
                        </m:r>
                      </m:e>
                      <m:sub>
                        <m:r>
                          <a:rPr lang="en-US" i="1">
                            <a:latin typeface="Cambria Math" panose="02040503050406030204" pitchFamily="18" charset="0"/>
                          </a:rPr>
                          <m:t>𝑡𝑟𝑎𝑖𝑛</m:t>
                        </m:r>
                      </m:sub>
                    </m:sSub>
                  </m:oMath>
                </a14:m>
                <a:r>
                  <a:rPr lang="en-US" b="0" dirty="0"/>
                  <a:t> and neural network weights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endParaRPr lang="en-US" b="0" dirty="0"/>
              </a:p>
              <a:p>
                <a:pPr lvl="1"/>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1">
                            <a:latin typeface="Cambria Math" panose="02040503050406030204" pitchFamily="18" charset="0"/>
                          </a:rPr>
                          <m:t>𝑡𝑟𝑎𝑖𝑛</m:t>
                        </m:r>
                      </m:sub>
                    </m:sSub>
                  </m:oMath>
                </a14:m>
                <a:r>
                  <a:rPr lang="en-US" dirty="0"/>
                  <a:t>, the target of a training sample is a deterministic scalar, an observation of the random variable </a:t>
                </a:r>
                <a14:m>
                  <m:oMath xmlns:m="http://schemas.openxmlformats.org/officeDocument/2006/math">
                    <m:r>
                      <a:rPr lang="en-US" i="1" smtClean="0">
                        <a:latin typeface="Cambria Math" panose="02040503050406030204" pitchFamily="18" charset="0"/>
                      </a:rPr>
                      <m:t>𝑌</m:t>
                    </m:r>
                  </m:oMath>
                </a14:m>
                <a:r>
                  <a:rPr lang="en-US" dirty="0"/>
                  <a:t> (a marginal of our dataset)</a:t>
                </a:r>
              </a:p>
              <a:p>
                <a:pPr lvl="1"/>
                <a:r>
                  <a:rPr lang="en-US" dirty="0"/>
                  <a:t>The idea is predictions are distributions over labels, targets are samples that identify a deterministic label</a:t>
                </a:r>
              </a:p>
              <a:p>
                <a:r>
                  <a:rPr lang="en-US" dirty="0"/>
                  <a:t>An estimator is a function of a random variable (the generative distribution) and therefore is also a random variable</a:t>
                </a:r>
              </a:p>
              <a:p>
                <a:r>
                  <a:rPr lang="en-US" dirty="0"/>
                  <a:t>An estimate is a function of a particular sample (which is deterministic) and therefore is also deterministic</a:t>
                </a:r>
              </a:p>
              <a:p>
                <a:r>
                  <a:rPr lang="en-US" dirty="0"/>
                  <a:t>[1,2]</a:t>
                </a:r>
              </a:p>
            </p:txBody>
          </p:sp>
        </mc:Choice>
        <mc:Fallback xmlns="">
          <p:sp>
            <p:nvSpPr>
              <p:cNvPr id="3" name="Content Placeholder 2">
                <a:extLst>
                  <a:ext uri="{FF2B5EF4-FFF2-40B4-BE49-F238E27FC236}">
                    <a16:creationId xmlns:a16="http://schemas.microsoft.com/office/drawing/2014/main" id="{740A880F-2F78-8074-712A-0FC42F15B9D3}"/>
                  </a:ext>
                </a:extLst>
              </p:cNvPr>
              <p:cNvSpPr>
                <a:spLocks noGrp="1" noRot="1" noChangeAspect="1" noMove="1" noResize="1" noEditPoints="1" noAdjustHandles="1" noChangeArrowheads="1" noChangeShapeType="1" noTextEdit="1"/>
              </p:cNvSpPr>
              <p:nvPr>
                <p:ph idx="1"/>
              </p:nvPr>
            </p:nvSpPr>
            <p:spPr>
              <a:blipFill>
                <a:blip r:embed="rId2"/>
                <a:stretch>
                  <a:fillRect l="-696" t="-2661" b="-1120"/>
                </a:stretch>
              </a:blipFill>
            </p:spPr>
            <p:txBody>
              <a:bodyPr/>
              <a:lstStyle/>
              <a:p>
                <a:r>
                  <a:rPr lang="en-US">
                    <a:noFill/>
                  </a:rPr>
                  <a:t> </a:t>
                </a:r>
              </a:p>
            </p:txBody>
          </p:sp>
        </mc:Fallback>
      </mc:AlternateContent>
    </p:spTree>
    <p:extLst>
      <p:ext uri="{BB962C8B-B14F-4D97-AF65-F5344CB8AC3E}">
        <p14:creationId xmlns:p14="http://schemas.microsoft.com/office/powerpoint/2010/main" val="224341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3124-6156-7065-6007-4C28AF038D7A}"/>
              </a:ext>
            </a:extLst>
          </p:cNvPr>
          <p:cNvSpPr>
            <a:spLocks noGrp="1"/>
          </p:cNvSpPr>
          <p:nvPr>
            <p:ph type="title"/>
          </p:nvPr>
        </p:nvSpPr>
        <p:spPr/>
        <p:txBody>
          <a:bodyPr/>
          <a:lstStyle/>
          <a:p>
            <a:r>
              <a:rPr lang="en-US" dirty="0"/>
              <a:t>Statistical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8E3A37-C07A-CB1A-B593-07BF6E537BB9}"/>
                  </a:ext>
                </a:extLst>
              </p:cNvPr>
              <p:cNvSpPr>
                <a:spLocks noGrp="1"/>
              </p:cNvSpPr>
              <p:nvPr>
                <p:ph idx="1"/>
              </p:nvPr>
            </p:nvSpPr>
            <p:spPr/>
            <p:txBody>
              <a:bodyPr>
                <a:normAutofit fontScale="85000" lnSpcReduction="10000"/>
              </a:bodyPr>
              <a:lstStyle/>
              <a:p>
                <a:r>
                  <a:rPr lang="en-US" dirty="0"/>
                  <a:t>Given a generative distribution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(e.g. Normal, Poisson)</a:t>
                </a:r>
              </a:p>
              <a:p>
                <a:r>
                  <a:rPr lang="en-US" dirty="0"/>
                  <a:t>Design an estimator for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given the sample data</a:t>
                </a:r>
              </a:p>
              <a:p>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d>
                  </m:oMath>
                </a14:m>
                <a:r>
                  <a:rPr lang="en-US" dirty="0"/>
                  <a:t> </a:t>
                </a:r>
              </a:p>
              <a:p>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oMath>
                </a14:m>
                <a:r>
                  <a:rPr lang="en-US" i="1" dirty="0"/>
                  <a:t> </a:t>
                </a:r>
                <a:r>
                  <a:rPr lang="en-US" dirty="0"/>
                  <a:t>(the dataset) is a set of n observations of the random variable X</a:t>
                </a:r>
              </a:p>
              <a:p>
                <a:r>
                  <a:rPr lang="en-US" dirty="0"/>
                  <a:t>Called “point estimation” because for a given measurement </a:t>
                </a:r>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oMath>
                </a14:m>
                <a:r>
                  <a:rPr lang="en-US" dirty="0"/>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is a deterministic function of the dataset (not a distribution with a spread)</a:t>
                </a:r>
              </a:p>
            </p:txBody>
          </p:sp>
        </mc:Choice>
        <mc:Fallback xmlns="">
          <p:sp>
            <p:nvSpPr>
              <p:cNvPr id="3" name="Content Placeholder 2">
                <a:extLst>
                  <a:ext uri="{FF2B5EF4-FFF2-40B4-BE49-F238E27FC236}">
                    <a16:creationId xmlns:a16="http://schemas.microsoft.com/office/drawing/2014/main" id="{DE8E3A37-C07A-CB1A-B593-07BF6E537BB9}"/>
                  </a:ext>
                </a:extLst>
              </p:cNvPr>
              <p:cNvSpPr>
                <a:spLocks noGrp="1" noRot="1" noChangeAspect="1" noMove="1" noResize="1" noEditPoints="1" noAdjustHandles="1" noChangeArrowheads="1" noChangeShapeType="1" noTextEdit="1"/>
              </p:cNvSpPr>
              <p:nvPr>
                <p:ph idx="1"/>
              </p:nvPr>
            </p:nvSpPr>
            <p:spPr>
              <a:blipFill>
                <a:blip r:embed="rId2"/>
                <a:stretch>
                  <a:fillRect l="-812" t="-2521"/>
                </a:stretch>
              </a:blipFill>
            </p:spPr>
            <p:txBody>
              <a:bodyPr/>
              <a:lstStyle/>
              <a:p>
                <a:r>
                  <a:rPr lang="en-US">
                    <a:noFill/>
                  </a:rPr>
                  <a:t> </a:t>
                </a:r>
              </a:p>
            </p:txBody>
          </p:sp>
        </mc:Fallback>
      </mc:AlternateContent>
    </p:spTree>
    <p:extLst>
      <p:ext uri="{BB962C8B-B14F-4D97-AF65-F5344CB8AC3E}">
        <p14:creationId xmlns:p14="http://schemas.microsoft.com/office/powerpoint/2010/main" val="14074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1778-10DE-98E9-E113-E19D9E2E1803}"/>
              </a:ext>
            </a:extLst>
          </p:cNvPr>
          <p:cNvSpPr>
            <a:spLocks noGrp="1"/>
          </p:cNvSpPr>
          <p:nvPr>
            <p:ph type="title"/>
          </p:nvPr>
        </p:nvSpPr>
        <p:spPr/>
        <p:txBody>
          <a:bodyPr/>
          <a:lstStyle/>
          <a:p>
            <a:r>
              <a:rPr lang="en-US" dirty="0"/>
              <a:t>Statistical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B3AD97-A5E9-80C8-C56A-7A3FFD6C8BB6}"/>
                  </a:ext>
                </a:extLst>
              </p:cNvPr>
              <p:cNvSpPr>
                <a:spLocks noGrp="1"/>
              </p:cNvSpPr>
              <p:nvPr>
                <p:ph idx="1"/>
              </p:nvPr>
            </p:nvSpPr>
            <p:spPr/>
            <p:txBody>
              <a:bodyPr>
                <a:normAutofit fontScale="92500" lnSpcReduction="10000"/>
              </a:bodyPr>
              <a:lstStyle/>
              <a:p>
                <a:r>
                  <a:rPr lang="en-US" dirty="0"/>
                  <a:t>In the general formulation we may not be concerned with estimating </a:t>
                </a:r>
                <a14:m>
                  <m:oMath xmlns:m="http://schemas.openxmlformats.org/officeDocument/2006/math">
                    <m:r>
                      <a:rPr lang="en-US" b="0" i="1" dirty="0" smtClean="0">
                        <a:latin typeface="Cambria Math" panose="02040503050406030204" pitchFamily="18" charset="0"/>
                      </a:rPr>
                      <m:t>𝜃</m:t>
                    </m:r>
                  </m:oMath>
                </a14:m>
                <a:r>
                  <a:rPr lang="en-US" dirty="0"/>
                  <a:t>, we may only want to know a function of the parameter </a:t>
                </a:r>
                <a14:m>
                  <m:oMath xmlns:m="http://schemas.openxmlformats.org/officeDocument/2006/math">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b="0" i="1" dirty="0" smtClean="0">
                        <a:latin typeface="Cambria Math" panose="02040503050406030204" pitchFamily="18" charset="0"/>
                      </a:rPr>
                      <m:t>𝜃</m:t>
                    </m:r>
                    <m:r>
                      <a:rPr lang="en-US" b="0" i="1" dirty="0" smtClean="0">
                        <a:latin typeface="Cambria Math" panose="02040503050406030204" pitchFamily="18" charset="0"/>
                      </a:rPr>
                      <m:t>)</m:t>
                    </m:r>
                  </m:oMath>
                </a14:m>
                <a:r>
                  <a:rPr lang="en-US" dirty="0"/>
                  <a:t> – we see this later for neural networks</a:t>
                </a:r>
              </a:p>
              <a:p>
                <a:r>
                  <a:rPr lang="en-US" dirty="0"/>
                  <a:t>Suppose we know the loss that is incurred given an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oMath>
                </a14:m>
                <a:r>
                  <a:rPr lang="en-US" dirty="0"/>
                  <a:t> of </a:t>
                </a:r>
                <a14:m>
                  <m:oMath xmlns:m="http://schemas.openxmlformats.org/officeDocument/2006/math">
                    <m:r>
                      <a:rPr lang="en-US" b="0" i="1" smtClean="0">
                        <a:latin typeface="Cambria Math" panose="02040503050406030204" pitchFamily="18" charset="0"/>
                      </a:rPr>
                      <m:t>𝑔</m:t>
                    </m:r>
                  </m:oMath>
                </a14:m>
                <a:r>
                  <a:rPr lang="en-US" dirty="0"/>
                  <a:t> is given by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r>
                      <a:rPr lang="en-US" b="0" i="1" smtClean="0">
                        <a:latin typeface="Cambria Math" panose="02040503050406030204" pitchFamily="18" charset="0"/>
                      </a:rPr>
                      <m:t>)</m:t>
                    </m:r>
                  </m:oMath>
                </a14:m>
                <a:endParaRPr lang="en-US" dirty="0"/>
              </a:p>
              <a:p>
                <a:r>
                  <a:rPr lang="en-US" dirty="0"/>
                  <a:t>The problem is to minimize the expected loss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r>
                      <a:rPr lang="en-US" b="0" i="1" smtClean="0">
                        <a:latin typeface="Cambria Math" panose="02040503050406030204" pitchFamily="18" charset="0"/>
                      </a:rPr>
                      <m:t>)</m:t>
                    </m:r>
                  </m:oMath>
                </a14:m>
                <a:r>
                  <a:rPr lang="en-US" dirty="0"/>
                  <a:t> given that the dataset </a:t>
                </a:r>
                <a14:m>
                  <m:oMath xmlns:m="http://schemas.openxmlformats.org/officeDocument/2006/math">
                    <m:r>
                      <a:rPr lang="en-US" b="0" i="1" smtClean="0">
                        <a:latin typeface="Cambria Math" panose="02040503050406030204" pitchFamily="18" charset="0"/>
                      </a:rPr>
                      <m:t>𝐷</m:t>
                    </m:r>
                  </m:oMath>
                </a14:m>
                <a:r>
                  <a:rPr lang="en-US" dirty="0"/>
                  <a:t> is a random vector (of 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dirty="0"/>
                  <a:t>)</a:t>
                </a:r>
              </a:p>
              <a:p>
                <a:r>
                  <a:rPr lang="en-US" dirty="0"/>
                  <a:t>We wish to minimize risk, meaning to find an estimator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that minimizes the risk given as </a:t>
                </a:r>
                <a14:m>
                  <m:oMath xmlns:m="http://schemas.openxmlformats.org/officeDocument/2006/math">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e>
                    </m:d>
                    <m:r>
                      <a:rPr lang="en-US" b="0" i="1" smtClean="0">
                        <a:latin typeface="Cambria Math" panose="02040503050406030204" pitchFamily="18" charset="0"/>
                      </a:rPr>
                      <m:t>]</m:t>
                    </m:r>
                  </m:oMath>
                </a14:m>
                <a:endParaRPr lang="en-US" dirty="0"/>
              </a:p>
              <a:p>
                <a:r>
                  <a:rPr lang="en-US" dirty="0"/>
                  <a:t>“As stated, this problem has no solution” [1]</a:t>
                </a:r>
              </a:p>
              <a:p>
                <a:pPr lvl="1"/>
                <a:r>
                  <a:rPr lang="en-US" dirty="0"/>
                  <a:t>For each ground truth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0" smtClean="0">
                        <a:latin typeface="Cambria Math" panose="02040503050406030204" pitchFamily="18" charset="0"/>
                      </a:rPr>
                      <m:t> </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has a different solution</a:t>
                </a:r>
              </a:p>
            </p:txBody>
          </p:sp>
        </mc:Choice>
        <mc:Fallback xmlns="">
          <p:sp>
            <p:nvSpPr>
              <p:cNvPr id="3" name="Content Placeholder 2">
                <a:extLst>
                  <a:ext uri="{FF2B5EF4-FFF2-40B4-BE49-F238E27FC236}">
                    <a16:creationId xmlns:a16="http://schemas.microsoft.com/office/drawing/2014/main" id="{7CB3AD97-A5E9-80C8-C56A-7A3FFD6C8BB6}"/>
                  </a:ext>
                </a:extLst>
              </p:cNvPr>
              <p:cNvSpPr>
                <a:spLocks noGrp="1" noRot="1" noChangeAspect="1" noMove="1" noResize="1" noEditPoints="1" noAdjustHandles="1" noChangeArrowheads="1" noChangeShapeType="1" noTextEdit="1"/>
              </p:cNvSpPr>
              <p:nvPr>
                <p:ph idx="1"/>
              </p:nvPr>
            </p:nvSpPr>
            <p:spPr>
              <a:blipFill>
                <a:blip r:embed="rId2"/>
                <a:stretch>
                  <a:fillRect l="-928" t="-2801" r="-348"/>
                </a:stretch>
              </a:blipFill>
            </p:spPr>
            <p:txBody>
              <a:bodyPr/>
              <a:lstStyle/>
              <a:p>
                <a:r>
                  <a:rPr lang="en-US">
                    <a:noFill/>
                  </a:rPr>
                  <a:t> </a:t>
                </a:r>
              </a:p>
            </p:txBody>
          </p:sp>
        </mc:Fallback>
      </mc:AlternateContent>
    </p:spTree>
    <p:extLst>
      <p:ext uri="{BB962C8B-B14F-4D97-AF65-F5344CB8AC3E}">
        <p14:creationId xmlns:p14="http://schemas.microsoft.com/office/powerpoint/2010/main" val="404764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D9D8-4B33-B987-8210-B83B00FAD848}"/>
              </a:ext>
            </a:extLst>
          </p:cNvPr>
          <p:cNvSpPr>
            <a:spLocks noGrp="1"/>
          </p:cNvSpPr>
          <p:nvPr>
            <p:ph type="title"/>
          </p:nvPr>
        </p:nvSpPr>
        <p:spPr/>
        <p:txBody>
          <a:bodyPr/>
          <a:lstStyle/>
          <a:p>
            <a:r>
              <a:rPr lang="en-US" dirty="0"/>
              <a:t>Constraining the Point Estimation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AE2842-CE0B-FD44-F231-D4F04217D171}"/>
                  </a:ext>
                </a:extLst>
              </p:cNvPr>
              <p:cNvSpPr>
                <a:spLocks noGrp="1"/>
              </p:cNvSpPr>
              <p:nvPr>
                <p:ph idx="1"/>
              </p:nvPr>
            </p:nvSpPr>
            <p:spPr/>
            <p:txBody>
              <a:bodyPr>
                <a:normAutofit fontScale="70000" lnSpcReduction="20000"/>
              </a:bodyPr>
              <a:lstStyle/>
              <a:p>
                <a:r>
                  <a:rPr lang="en-US" dirty="0"/>
                  <a:t>To solve the point estimation problem of designing an estimator to minimize risk, we must limit our problem to a constrained space of estimators [1]</a:t>
                </a:r>
              </a:p>
              <a:p>
                <a:r>
                  <a:rPr lang="en-US" dirty="0"/>
                  <a:t>Examples include:</a:t>
                </a:r>
              </a:p>
              <a:p>
                <a:pPr lvl="1"/>
                <a:r>
                  <a:rPr lang="en-US" dirty="0"/>
                  <a:t>Unbiasedness </a:t>
                </a:r>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e>
                    </m:d>
                    <m:r>
                      <a:rPr lang="en-US" b="0" i="1" smtClean="0">
                        <a:latin typeface="Cambria Math" panose="02040503050406030204" pitchFamily="18" charset="0"/>
                      </a:rPr>
                      <m:t>=</m:t>
                    </m:r>
                    <m:r>
                      <a:rPr lang="en-US" b="0" i="1" smtClean="0">
                        <a:latin typeface="Cambria Math" panose="02040503050406030204" pitchFamily="18" charset="0"/>
                      </a:rPr>
                      <m:t>𝜃</m:t>
                    </m:r>
                  </m:oMath>
                </a14:m>
                <a:endParaRPr lang="en-US" b="0" dirty="0"/>
              </a:p>
              <a:p>
                <a:pPr lvl="1"/>
                <a:r>
                  <a:rPr lang="en-US" dirty="0"/>
                  <a:t>For example, sample mean is unbiased because </a:t>
                </a:r>
                <a14:m>
                  <m:oMath xmlns:m="http://schemas.openxmlformats.org/officeDocument/2006/math">
                    <m:r>
                      <m:rPr>
                        <m:sty m:val="p"/>
                      </m:rPr>
                      <a:rPr lang="en-US">
                        <a:latin typeface="Cambria Math" panose="02040503050406030204" pitchFamily="18" charset="0"/>
                      </a:rPr>
                      <m:t>E</m:t>
                    </m:r>
                    <m:d>
                      <m:dPr>
                        <m:begChr m:val="["/>
                        <m:endChr m:val="]"/>
                        <m:ctrlPr>
                          <a:rPr lang="en-US" i="1">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ctrlPr>
                              <a:rPr lang="en-US"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e>
                    </m:nary>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𝑥</m:t>
                            </m:r>
                          </m:sub>
                        </m:sSub>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𝑥</m:t>
                        </m:r>
                      </m:sub>
                    </m:sSub>
                  </m:oMath>
                </a14:m>
                <a:endParaRPr lang="en-US" dirty="0"/>
              </a:p>
              <a:p>
                <a:pPr lvl="1"/>
                <a:endParaRPr lang="en-US" dirty="0"/>
              </a:p>
              <a:p>
                <a:pPr lvl="1"/>
                <a:r>
                  <a:rPr lang="en-US" dirty="0"/>
                  <a:t>Equivariance</a:t>
                </a:r>
              </a:p>
              <a:p>
                <a:pPr lvl="2"/>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r>
                              <a:rPr lang="en-US" i="1">
                                <a:latin typeface="Cambria Math" panose="02040503050406030204" pitchFamily="18" charset="0"/>
                              </a:rPr>
                              <m:t>𝑥</m:t>
                            </m:r>
                          </m:e>
                        </m:d>
                        <m:r>
                          <a:rPr lang="en-US" b="0" i="1" smtClean="0">
                            <a:latin typeface="Cambria Math" panose="02040503050406030204" pitchFamily="18" charset="0"/>
                          </a:rPr>
                          <m:t>]=</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e>
                    </m:d>
                  </m:oMath>
                </a14:m>
                <a:r>
                  <a:rPr lang="en-US" dirty="0"/>
                  <a:t> used in location families, for example estimating mean of a normal distribution</a:t>
                </a:r>
              </a:p>
              <a:p>
                <a:pPr lvl="2"/>
                <a:endParaRPr lang="en-US" dirty="0"/>
              </a:p>
              <a:p>
                <a:pPr lvl="2"/>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i="1">
                                <a:latin typeface="Cambria Math" panose="02040503050406030204" pitchFamily="18" charset="0"/>
                              </a:rPr>
                              <m:t>𝑐</m:t>
                            </m:r>
                            <m:r>
                              <a:rPr lang="en-US" i="1">
                                <a:latin typeface="Cambria Math" panose="02040503050406030204" pitchFamily="18" charset="0"/>
                              </a:rPr>
                              <m:t>𝜃</m:t>
                            </m:r>
                            <m:r>
                              <a:rPr lang="en-US" b="0" i="1" smtClean="0">
                                <a:latin typeface="Cambria Math" panose="02040503050406030204" pitchFamily="18" charset="0"/>
                              </a:rPr>
                              <m:t>,</m:t>
                            </m:r>
                            <m:r>
                              <a:rPr lang="en-US" i="1">
                                <a:latin typeface="Cambria Math" panose="02040503050406030204" pitchFamily="18" charset="0"/>
                              </a:rPr>
                              <m:t>𝑐</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r>
                          <a:rPr lang="en-US" b="0" i="1" smtClean="0">
                            <a:latin typeface="Cambria Math" panose="02040503050406030204" pitchFamily="18" charset="0"/>
                          </a:rPr>
                          <m:t>]=</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e>
                    </m:d>
                  </m:oMath>
                </a14:m>
                <a:r>
                  <a:rPr lang="en-US" dirty="0"/>
                  <a:t> used in scale families, for example estimating the variance of a normal distribution</a:t>
                </a:r>
              </a:p>
              <a:p>
                <a:pPr lvl="2"/>
                <a:endParaRPr lang="en-US" dirty="0"/>
              </a:p>
              <a:p>
                <a:pPr lvl="1"/>
                <a:r>
                  <a:rPr lang="en-US" dirty="0"/>
                  <a:t>Assume a prior over </a:t>
                </a:r>
                <a14:m>
                  <m:oMath xmlns:m="http://schemas.openxmlformats.org/officeDocument/2006/math">
                    <m:r>
                      <a:rPr lang="en-US" b="0" i="1" smtClean="0">
                        <a:latin typeface="Cambria Math" panose="02040503050406030204" pitchFamily="18" charset="0"/>
                      </a:rPr>
                      <m:t>𝜃</m:t>
                    </m:r>
                  </m:oMath>
                </a14:m>
                <a:r>
                  <a:rPr lang="en-US" dirty="0"/>
                  <a:t> (Bayesian formulation)</a:t>
                </a:r>
              </a:p>
              <a:p>
                <a:pPr lvl="2"/>
                <a:r>
                  <a:rPr lang="en-US" dirty="0"/>
                  <a:t>Find the estimator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that minimize </a:t>
                </a:r>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e>
                    </m:d>
                  </m:oMath>
                </a14:m>
                <a:r>
                  <a:rPr lang="en-US" dirty="0"/>
                  <a:t> where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is a prior distribution of parameters</a:t>
                </a:r>
              </a:p>
              <a:p>
                <a:pPr lvl="2"/>
                <a:endParaRPr lang="en-US" dirty="0"/>
              </a:p>
              <a:p>
                <a:pPr lvl="1"/>
                <a:r>
                  <a:rPr lang="en-US" dirty="0"/>
                  <a:t>Minimax</a:t>
                </a:r>
              </a:p>
              <a:p>
                <a:pPr lvl="2"/>
                <a:r>
                  <a:rPr lang="en-US" dirty="0"/>
                  <a:t>Find the estimator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that minimizes the worst-case risk for possible parameter values</a:t>
                </a:r>
                <a:r>
                  <a:rPr lang="en-US" b="0" dirty="0"/>
                  <a:t> </a:t>
                </a:r>
                <a14:m>
                  <m:oMath xmlns:m="http://schemas.openxmlformats.org/officeDocument/2006/math">
                    <m:r>
                      <a:rPr lang="en-US" b="0" i="1" smtClean="0">
                        <a:latin typeface="Cambria Math" panose="02040503050406030204" pitchFamily="18" charset="0"/>
                      </a:rPr>
                      <m:t>𝜃</m:t>
                    </m:r>
                  </m:oMath>
                </a14:m>
                <a:r>
                  <a:rPr lang="en-US" dirty="0"/>
                  <a:t> given our particular loss function</a:t>
                </a:r>
              </a:p>
              <a:p>
                <a:pPr lvl="2"/>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𝑖𝑛𝑓</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1" smtClean="0">
                            <a:latin typeface="Cambria Math" panose="02040503050406030204" pitchFamily="18" charset="0"/>
                          </a:rPr>
                          <m:t> </m:t>
                        </m:r>
                        <m:r>
                          <a:rPr lang="en-US" b="0" i="1" smtClean="0">
                            <a:latin typeface="Cambria Math" panose="02040503050406030204" pitchFamily="18" charset="0"/>
                          </a:rPr>
                          <m:t>𝑠𝑢𝑝</m:t>
                        </m:r>
                      </m:e>
                      <m:sub>
                        <m:r>
                          <a:rPr lang="en-US" b="0" i="1" smtClean="0">
                            <a:latin typeface="Cambria Math" panose="02040503050406030204" pitchFamily="18" charset="0"/>
                          </a:rPr>
                          <m:t>𝜃</m:t>
                        </m:r>
                      </m:sub>
                    </m:sSub>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i="1">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10AE2842-CE0B-FD44-F231-D4F04217D171}"/>
                  </a:ext>
                </a:extLst>
              </p:cNvPr>
              <p:cNvSpPr>
                <a:spLocks noGrp="1" noRot="1" noChangeAspect="1" noMove="1" noResize="1" noEditPoints="1" noAdjustHandles="1" noChangeArrowheads="1" noChangeShapeType="1" noTextEdit="1"/>
              </p:cNvSpPr>
              <p:nvPr>
                <p:ph idx="1"/>
              </p:nvPr>
            </p:nvSpPr>
            <p:spPr>
              <a:blipFill>
                <a:blip r:embed="rId3"/>
                <a:stretch>
                  <a:fillRect l="-522" t="-2381"/>
                </a:stretch>
              </a:blipFill>
            </p:spPr>
            <p:txBody>
              <a:bodyPr/>
              <a:lstStyle/>
              <a:p>
                <a:r>
                  <a:rPr lang="en-US">
                    <a:noFill/>
                  </a:rPr>
                  <a:t> </a:t>
                </a:r>
              </a:p>
            </p:txBody>
          </p:sp>
        </mc:Fallback>
      </mc:AlternateContent>
    </p:spTree>
    <p:extLst>
      <p:ext uri="{BB962C8B-B14F-4D97-AF65-F5344CB8AC3E}">
        <p14:creationId xmlns:p14="http://schemas.microsoft.com/office/powerpoint/2010/main" val="2720003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AE262-4956-0584-5CBF-C4F4CF4E77E8}"/>
              </a:ext>
            </a:extLst>
          </p:cNvPr>
          <p:cNvSpPr>
            <a:spLocks noGrp="1"/>
          </p:cNvSpPr>
          <p:nvPr>
            <p:ph type="title"/>
          </p:nvPr>
        </p:nvSpPr>
        <p:spPr/>
        <p:txBody>
          <a:bodyPr>
            <a:normAutofit/>
          </a:bodyPr>
          <a:lstStyle/>
          <a:p>
            <a:r>
              <a:rPr lang="en-US" dirty="0"/>
              <a:t>Example of Constrained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F2C462-6421-DD0B-17CF-7B55133F2EC1}"/>
                  </a:ext>
                </a:extLst>
              </p:cNvPr>
              <p:cNvSpPr>
                <a:spLocks noGrp="1"/>
              </p:cNvSpPr>
              <p:nvPr>
                <p:ph idx="1"/>
              </p:nvPr>
            </p:nvSpPr>
            <p:spPr/>
            <p:txBody>
              <a:bodyPr>
                <a:normAutofit lnSpcReduction="10000"/>
              </a:bodyPr>
              <a:lstStyle/>
              <a:p>
                <a:r>
                  <a:rPr lang="en-US" dirty="0"/>
                  <a:t>Consider drawing a ball from an urn, where there are </a:t>
                </a:r>
                <a14:m>
                  <m:oMath xmlns:m="http://schemas.openxmlformats.org/officeDocument/2006/math">
                    <m:r>
                      <a:rPr lang="en-US" b="0" i="1" smtClean="0">
                        <a:latin typeface="Cambria Math" panose="02040503050406030204" pitchFamily="18" charset="0"/>
                      </a:rPr>
                      <m:t>𝑛</m:t>
                    </m:r>
                  </m:oMath>
                </a14:m>
                <a:r>
                  <a:rPr lang="en-US" dirty="0"/>
                  <a:t> balls labeled with the numbers </a:t>
                </a:r>
                <a14:m>
                  <m:oMath xmlns:m="http://schemas.openxmlformats.org/officeDocument/2006/math">
                    <m:r>
                      <a:rPr lang="en-US" b="0" i="0" dirty="0" smtClean="0">
                        <a:latin typeface="Cambria Math" panose="02040503050406030204" pitchFamily="18" charset="0"/>
                      </a:rPr>
                      <m:t>1,2,</m:t>
                    </m:r>
                    <m:r>
                      <a:rPr lang="en-US" b="0" i="1" dirty="0" smtClean="0">
                        <a:latin typeface="Cambria Math" panose="02040503050406030204" pitchFamily="18" charset="0"/>
                      </a:rPr>
                      <m:t>…,</m:t>
                    </m:r>
                    <m:r>
                      <a:rPr lang="en-US" b="0" i="1" dirty="0" smtClean="0">
                        <a:latin typeface="Cambria Math" panose="02040503050406030204" pitchFamily="18" charset="0"/>
                      </a:rPr>
                      <m:t>𝑛</m:t>
                    </m:r>
                  </m:oMath>
                </a14:m>
                <a:endParaRPr lang="en-US" dirty="0"/>
              </a:p>
              <a:p>
                <a:r>
                  <a:rPr lang="en-US" dirty="0"/>
                  <a:t>Suppose we take a ball from the urn, read the number on the ball, and then want to estimate the number of balls </a:t>
                </a:r>
                <a14:m>
                  <m:oMath xmlns:m="http://schemas.openxmlformats.org/officeDocument/2006/math">
                    <m:r>
                      <a:rPr lang="en-US" b="0" i="1" smtClean="0">
                        <a:latin typeface="Cambria Math" panose="02040503050406030204" pitchFamily="18" charset="0"/>
                      </a:rPr>
                      <m:t>𝑛</m:t>
                    </m:r>
                  </m:oMath>
                </a14:m>
                <a:r>
                  <a:rPr lang="en-US" dirty="0"/>
                  <a:t> in the urn</a:t>
                </a:r>
              </a:p>
              <a:p>
                <a:r>
                  <a:rPr lang="en-US" dirty="0"/>
                  <a:t>If </a:t>
                </a:r>
                <a14:m>
                  <m:oMath xmlns:m="http://schemas.openxmlformats.org/officeDocument/2006/math">
                    <m:r>
                      <a:rPr lang="en-US" b="0" i="1" dirty="0" smtClean="0">
                        <a:latin typeface="Cambria Math" panose="02040503050406030204" pitchFamily="18" charset="0"/>
                      </a:rPr>
                      <m:t>𝑘</m:t>
                    </m:r>
                  </m:oMath>
                </a14:m>
                <a:r>
                  <a:rPr lang="en-US" dirty="0"/>
                  <a:t> is the number on the ball we draw, then the random variable </a:t>
                </a:r>
                <a14:m>
                  <m:oMath xmlns:m="http://schemas.openxmlformats.org/officeDocument/2006/math">
                    <m:r>
                      <a:rPr lang="en-US" b="0" i="1" dirty="0" smtClean="0">
                        <a:latin typeface="Cambria Math" panose="02040503050406030204" pitchFamily="18" charset="0"/>
                      </a:rPr>
                      <m:t>𝐾</m:t>
                    </m:r>
                  </m:oMath>
                </a14:m>
                <a:r>
                  <a:rPr lang="en-US" dirty="0"/>
                  <a:t> is represented by a distribution parameterized by </a:t>
                </a:r>
                <a14:m>
                  <m:oMath xmlns:m="http://schemas.openxmlformats.org/officeDocument/2006/math">
                    <m:r>
                      <a:rPr lang="en-US" b="0" i="1" smtClean="0">
                        <a:latin typeface="Cambria Math" panose="02040503050406030204" pitchFamily="18" charset="0"/>
                      </a:rPr>
                      <m:t>𝑛</m:t>
                    </m:r>
                  </m:oMath>
                </a14:m>
                <a:endParaRPr lang="en-US" dirty="0"/>
              </a:p>
              <a:p>
                <a14:m>
                  <m:oMath xmlns:m="http://schemas.openxmlformats.org/officeDocument/2006/math">
                    <m:r>
                      <a:rPr lang="en-US" b="0" i="1" smtClean="0">
                        <a:latin typeface="Cambria Math" panose="02040503050406030204" pitchFamily="18" charset="0"/>
                      </a:rPr>
                      <m:t>𝐾</m:t>
                    </m:r>
                  </m:oMath>
                </a14:m>
                <a:r>
                  <a:rPr lang="en-US" dirty="0"/>
                  <a:t> is a categorical distribution (maximum entropy)</a:t>
                </a:r>
              </a:p>
              <a:p>
                <a:r>
                  <a:rPr lang="en-US" dirty="0"/>
                  <a:t>See previous seminar for categorical distribution as </a:t>
                </a:r>
                <a:r>
                  <a:rPr lang="en-US"/>
                  <a:t>neural network classifier</a:t>
                </a:r>
                <a:endParaRPr lang="en-US" dirty="0"/>
              </a:p>
              <a:p>
                <a:r>
                  <a:rPr lang="en-US" dirty="0"/>
                  <a:t>If we take </a:t>
                </a:r>
                <a14:m>
                  <m:oMath xmlns:m="http://schemas.openxmlformats.org/officeDocument/2006/math">
                    <m:r>
                      <a:rPr lang="en-US" b="0" i="1" dirty="0" smtClean="0">
                        <a:latin typeface="Cambria Math" panose="02040503050406030204" pitchFamily="18" charset="0"/>
                      </a:rPr>
                      <m:t>𝑚</m:t>
                    </m:r>
                  </m:oMath>
                </a14:m>
                <a:r>
                  <a:rPr lang="en-US" dirty="0"/>
                  <a:t> samples, then we have a multinomial distribution</a:t>
                </a:r>
              </a:p>
            </p:txBody>
          </p:sp>
        </mc:Choice>
        <mc:Fallback xmlns="">
          <p:sp>
            <p:nvSpPr>
              <p:cNvPr id="3" name="Content Placeholder 2">
                <a:extLst>
                  <a:ext uri="{FF2B5EF4-FFF2-40B4-BE49-F238E27FC236}">
                    <a16:creationId xmlns:a16="http://schemas.microsoft.com/office/drawing/2014/main" id="{8FF2C462-6421-DD0B-17CF-7B55133F2EC1}"/>
                  </a:ext>
                </a:extLst>
              </p:cNvPr>
              <p:cNvSpPr>
                <a:spLocks noGrp="1" noRot="1" noChangeAspect="1" noMove="1" noResize="1" noEditPoints="1" noAdjustHandles="1" noChangeArrowheads="1" noChangeShapeType="1" noTextEdit="1"/>
              </p:cNvSpPr>
              <p:nvPr>
                <p:ph idx="1"/>
              </p:nvPr>
            </p:nvSpPr>
            <p:spPr>
              <a:blipFill>
                <a:blip r:embed="rId2"/>
                <a:stretch>
                  <a:fillRect l="-1043" t="-3081" r="-406"/>
                </a:stretch>
              </a:blipFill>
            </p:spPr>
            <p:txBody>
              <a:bodyPr/>
              <a:lstStyle/>
              <a:p>
                <a:r>
                  <a:rPr lang="en-US">
                    <a:noFill/>
                  </a:rPr>
                  <a:t> </a:t>
                </a:r>
              </a:p>
            </p:txBody>
          </p:sp>
        </mc:Fallback>
      </mc:AlternateContent>
    </p:spTree>
    <p:extLst>
      <p:ext uri="{BB962C8B-B14F-4D97-AF65-F5344CB8AC3E}">
        <p14:creationId xmlns:p14="http://schemas.microsoft.com/office/powerpoint/2010/main" val="1008217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677D-F360-F2F9-A53D-48F38E05E58D}"/>
              </a:ext>
            </a:extLst>
          </p:cNvPr>
          <p:cNvSpPr>
            <a:spLocks noGrp="1"/>
          </p:cNvSpPr>
          <p:nvPr>
            <p:ph type="title"/>
          </p:nvPr>
        </p:nvSpPr>
        <p:spPr/>
        <p:txBody>
          <a:bodyPr/>
          <a:lstStyle/>
          <a:p>
            <a:r>
              <a:rPr lang="en-US" dirty="0"/>
              <a:t>Bayesian solution for urn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142FE9-A16D-6388-AE1F-61B6BBC59791}"/>
                  </a:ext>
                </a:extLst>
              </p:cNvPr>
              <p:cNvSpPr>
                <a:spLocks noGrp="1"/>
              </p:cNvSpPr>
              <p:nvPr>
                <p:ph idx="1"/>
              </p:nvPr>
            </p:nvSpPr>
            <p:spPr/>
            <p:txBody>
              <a:bodyPr/>
              <a:lstStyle/>
              <a:p>
                <a:r>
                  <a:rPr lang="en-US" dirty="0"/>
                  <a:t>Consider a prior distribution of the number balls in the urn of the form</a:t>
                </a:r>
              </a:p>
              <a:p>
                <a14:m>
                  <m:oMath xmlns:m="http://schemas.openxmlformats.org/officeDocument/2006/math">
                    <m:r>
                      <a:rPr lang="en-US" b="0" i="1" dirty="0" smtClean="0">
                        <a:latin typeface="Cambria Math" panose="02040503050406030204" pitchFamily="18" charset="0"/>
                      </a:rPr>
                      <m:t>𝑃</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𝑛</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r>
                              <a:rPr lang="en-US" b="0" i="1" dirty="0" smtClean="0">
                                <a:latin typeface="Cambria Math" panose="02040503050406030204" pitchFamily="18" charset="0"/>
                              </a:rPr>
                              <m:t>𝑝</m:t>
                            </m:r>
                          </m:e>
                        </m:d>
                      </m:e>
                      <m:sup>
                        <m:r>
                          <a:rPr lang="en-US" b="0" i="1" dirty="0" smtClean="0">
                            <a:latin typeface="Cambria Math" panose="02040503050406030204" pitchFamily="18" charset="0"/>
                          </a:rPr>
                          <m:t>𝑛</m:t>
                        </m:r>
                        <m:r>
                          <a:rPr lang="en-US" b="0" i="1" dirty="0" smtClean="0">
                            <a:latin typeface="Cambria Math" panose="02040503050406030204" pitchFamily="18" charset="0"/>
                          </a:rPr>
                          <m:t>−1</m:t>
                        </m:r>
                      </m:sup>
                    </m:sSup>
                    <m:r>
                      <a:rPr lang="en-US" b="0" i="1" dirty="0" smtClean="0">
                        <a:latin typeface="Cambria Math" panose="02040503050406030204" pitchFamily="18" charset="0"/>
                      </a:rPr>
                      <m:t>𝑝</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n</m:t>
                    </m:r>
                    <m:r>
                      <a:rPr lang="en-US" b="0" i="0" dirty="0" smtClean="0">
                        <a:latin typeface="Cambria Math" panose="02040503050406030204" pitchFamily="18" charset="0"/>
                      </a:rPr>
                      <m:t>=1,2,3,…    (0&lt;</m:t>
                    </m:r>
                    <m:r>
                      <a:rPr lang="en-US" i="1" dirty="0">
                        <a:latin typeface="Cambria Math" panose="02040503050406030204" pitchFamily="18" charset="0"/>
                      </a:rPr>
                      <m:t>𝑝</m:t>
                    </m:r>
                    <m:r>
                      <a:rPr lang="en-US" dirty="0">
                        <a:latin typeface="Cambria Math" panose="02040503050406030204" pitchFamily="18" charset="0"/>
                      </a:rPr>
                      <m:t>≤1</m:t>
                    </m:r>
                  </m:oMath>
                </a14:m>
                <a:r>
                  <a:rPr lang="en-US" b="0" dirty="0"/>
                  <a:t>)</a:t>
                </a:r>
              </a:p>
              <a:p>
                <a:r>
                  <a:rPr lang="en-US" dirty="0"/>
                  <a:t>This is a geometric distribution and is useful because we want a prior where the likelihood of </a:t>
                </a:r>
                <a:r>
                  <a:rPr lang="en-US" i="1" dirty="0"/>
                  <a:t>N=n</a:t>
                </a:r>
                <a:r>
                  <a:rPr lang="en-US" dirty="0"/>
                  <a:t> decays as n becomes larger (in other words we believe our urn becomes less likely as the number of balls approaches extremely large numbers)</a:t>
                </a:r>
              </a:p>
            </p:txBody>
          </p:sp>
        </mc:Choice>
        <mc:Fallback xmlns="">
          <p:sp>
            <p:nvSpPr>
              <p:cNvPr id="3" name="Content Placeholder 2">
                <a:extLst>
                  <a:ext uri="{FF2B5EF4-FFF2-40B4-BE49-F238E27FC236}">
                    <a16:creationId xmlns:a16="http://schemas.microsoft.com/office/drawing/2014/main" id="{A9142FE9-A16D-6388-AE1F-61B6BBC59791}"/>
                  </a:ext>
                </a:extLst>
              </p:cNvPr>
              <p:cNvSpPr>
                <a:spLocks noGrp="1" noRot="1" noChangeAspect="1" noMove="1" noResize="1" noEditPoints="1" noAdjustHandles="1" noChangeArrowheads="1" noChangeShapeType="1" noTextEdit="1"/>
              </p:cNvSpPr>
              <p:nvPr>
                <p:ph idx="1"/>
              </p:nvPr>
            </p:nvSpPr>
            <p:spPr>
              <a:blipFill>
                <a:blip r:embed="rId2"/>
                <a:stretch>
                  <a:fillRect l="-1043" t="-2381" r="-1043"/>
                </a:stretch>
              </a:blipFill>
            </p:spPr>
            <p:txBody>
              <a:bodyPr/>
              <a:lstStyle/>
              <a:p>
                <a:r>
                  <a:rPr lang="en-US">
                    <a:noFill/>
                  </a:rPr>
                  <a:t> </a:t>
                </a:r>
              </a:p>
            </p:txBody>
          </p:sp>
        </mc:Fallback>
      </mc:AlternateContent>
    </p:spTree>
    <p:extLst>
      <p:ext uri="{BB962C8B-B14F-4D97-AF65-F5344CB8AC3E}">
        <p14:creationId xmlns:p14="http://schemas.microsoft.com/office/powerpoint/2010/main" val="217784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1A12-303B-2FA7-7178-DE3BD6328FB2}"/>
              </a:ext>
            </a:extLst>
          </p:cNvPr>
          <p:cNvSpPr>
            <a:spLocks noGrp="1"/>
          </p:cNvSpPr>
          <p:nvPr>
            <p:ph type="title"/>
          </p:nvPr>
        </p:nvSpPr>
        <p:spPr/>
        <p:txBody>
          <a:bodyPr>
            <a:normAutofit fontScale="90000"/>
          </a:bodyPr>
          <a:lstStyle/>
          <a:p>
            <a:r>
              <a:rPr lang="en-US" dirty="0"/>
              <a:t>Bayesian solution for urn size</a:t>
            </a:r>
            <a:br>
              <a:rPr lang="en-US" dirty="0"/>
            </a:br>
            <a:r>
              <a:rPr lang="en-US" dirty="0"/>
              <a:t>(see related MAP notes from previous lab seminar)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C12599-CC8C-1E66-4042-F166819C5CA3}"/>
                  </a:ext>
                </a:extLst>
              </p:cNvPr>
              <p:cNvSpPr>
                <a:spLocks noGrp="1"/>
              </p:cNvSpPr>
              <p:nvPr>
                <p:ph idx="1"/>
              </p:nvPr>
            </p:nvSpPr>
            <p:spPr/>
            <p:txBody>
              <a:bodyPr>
                <a:normAutofit fontScale="85000" lnSpcReduction="10000"/>
              </a:bodyPr>
              <a:lstStyle/>
              <a:p>
                <a:r>
                  <a:rPr lang="en-US" dirty="0"/>
                  <a:t>Bayesian MAP solution</a:t>
                </a:r>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𝑛</m:t>
                        </m:r>
                      </m:e>
                      <m:e>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oMath>
                </a14:m>
                <a:endParaRPr lang="en-US" dirty="0"/>
              </a:p>
              <a:p>
                <a:pPr marL="0" indent="0">
                  <a:buNone/>
                </a:pPr>
                <a:endParaRPr lang="en-US" dirty="0"/>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𝑛</m:t>
                        </m:r>
                      </m:e>
                      <m:e>
                        <m:r>
                          <a:rPr lang="en-US" b="0" i="1" smtClean="0">
                            <a:latin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oMath>
                </a14:m>
                <a:endParaRPr lang="en-US" b="0" dirty="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𝑛</m:t>
                        </m:r>
                      </m:e>
                    </m:d>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𝑛</m:t>
                            </m:r>
                          </m:e>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𝑜𝑡h𝑒𝑟𝑤𝑖𝑠𝑒</m:t>
                            </m:r>
                          </m:e>
                        </m:eqArr>
                      </m:e>
                    </m:d>
                  </m:oMath>
                </a14:m>
                <a:endParaRPr lang="en-US" b="0" dirty="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r>
                  <a:rPr lang="en-US" b="0" dirty="0">
                    <a:ea typeface="Cambria Math" panose="02040503050406030204" pitchFamily="18" charset="0"/>
                  </a:rPr>
                  <a:t>MAP solution, find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oMath>
                </a14:m>
                <a:endParaRPr lang="en-US" b="0" dirty="0">
                  <a:ea typeface="Cambria Math" panose="02040503050406030204" pitchFamily="18" charset="0"/>
                </a:endParaRPr>
              </a:p>
              <a:p>
                <a:r>
                  <a:rPr lang="en-US" b="0" dirty="0">
                    <a:ea typeface="Cambria Math" panose="02040503050406030204" pitchFamily="18" charset="0"/>
                  </a:rPr>
                  <a:t>nonzero where </a:t>
                </a:r>
                <a14:m>
                  <m:oMath xmlns:m="http://schemas.openxmlformats.org/officeDocument/2006/math">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endParaRPr lang="en-US" b="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DC12599-CC8C-1E66-4042-F166819C5CA3}"/>
                  </a:ext>
                </a:extLst>
              </p:cNvPr>
              <p:cNvSpPr>
                <a:spLocks noGrp="1" noRot="1" noChangeAspect="1" noMove="1" noResize="1" noEditPoints="1" noAdjustHandles="1" noChangeArrowheads="1" noChangeShapeType="1" noTextEdit="1"/>
              </p:cNvSpPr>
              <p:nvPr>
                <p:ph idx="1"/>
              </p:nvPr>
            </p:nvSpPr>
            <p:spPr>
              <a:blipFill>
                <a:blip r:embed="rId2"/>
                <a:stretch>
                  <a:fillRect l="-812" t="-2521" b="-2521"/>
                </a:stretch>
              </a:blipFill>
            </p:spPr>
            <p:txBody>
              <a:bodyPr/>
              <a:lstStyle/>
              <a:p>
                <a:r>
                  <a:rPr lang="en-US">
                    <a:noFill/>
                  </a:rPr>
                  <a:t> </a:t>
                </a:r>
              </a:p>
            </p:txBody>
          </p:sp>
        </mc:Fallback>
      </mc:AlternateContent>
    </p:spTree>
    <p:extLst>
      <p:ext uri="{BB962C8B-B14F-4D97-AF65-F5344CB8AC3E}">
        <p14:creationId xmlns:p14="http://schemas.microsoft.com/office/powerpoint/2010/main" val="3011904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8E459-11B3-06AB-517A-8D079CEEDBAE}"/>
              </a:ext>
            </a:extLst>
          </p:cNvPr>
          <p:cNvSpPr>
            <a:spLocks noGrp="1"/>
          </p:cNvSpPr>
          <p:nvPr>
            <p:ph type="title"/>
          </p:nvPr>
        </p:nvSpPr>
        <p:spPr/>
        <p:txBody>
          <a:bodyPr>
            <a:normAutofit fontScale="90000"/>
          </a:bodyPr>
          <a:lstStyle/>
          <a:p>
            <a:r>
              <a:rPr lang="en-US" dirty="0"/>
              <a:t>Bayesian solution for urn size</a:t>
            </a:r>
            <a:br>
              <a:rPr lang="en-US" dirty="0"/>
            </a:br>
            <a:r>
              <a:rPr lang="en-US" dirty="0"/>
              <a:t>(see related notes from my previous lab seminar)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1FCD39-9CA4-CD15-1F06-3F8A6CFC68B0}"/>
                  </a:ext>
                </a:extLst>
              </p:cNvPr>
              <p:cNvSpPr>
                <a:spLocks noGrp="1"/>
              </p:cNvSpPr>
              <p:nvPr>
                <p:ph idx="1"/>
              </p:nvPr>
            </p:nvSpPr>
            <p:spPr/>
            <p:txBody>
              <a:bodyPr>
                <a:normAutofit fontScale="77500" lnSpcReduction="20000"/>
              </a:bodyPr>
              <a:lstStyle/>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e>
                        </m:d>
                      </m:e>
                    </m:func>
                  </m:oMath>
                </a14:m>
                <a:endParaRPr lang="en-US" dirty="0">
                  <a:ea typeface="Cambria Math" panose="02040503050406030204" pitchFamily="18" charset="0"/>
                </a:endParaRPr>
              </a:p>
              <a:p>
                <a:r>
                  <a:rPr lang="en-US" b="0" dirty="0">
                    <a:ea typeface="Cambria Math" panose="02040503050406030204" pitchFamily="18" charset="0"/>
                  </a:rPr>
                  <a:t>Consider that </a:t>
                </a:r>
                <a14:m>
                  <m:oMath xmlns:m="http://schemas.openxmlformats.org/officeDocument/2006/math">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e>
                        </m:d>
                      </m:e>
                    </m:func>
                  </m:oMath>
                </a14:m>
                <a:r>
                  <a:rPr lang="en-US" b="0" dirty="0">
                    <a:ea typeface="Cambria Math" panose="02040503050406030204" pitchFamily="18" charset="0"/>
                  </a:rPr>
                  <a:t> decreases as n increases</a:t>
                </a:r>
              </a:p>
              <a:p>
                <a:r>
                  <a:rPr lang="en-US" b="0" dirty="0">
                    <a:ea typeface="Cambria Math" panose="02040503050406030204" pitchFamily="18" charset="0"/>
                  </a:rPr>
                  <a:t>So we are looking for the smallest possible n to maximize </a:t>
                </a:r>
                <a14:m>
                  <m:oMath xmlns:m="http://schemas.openxmlformats.org/officeDocument/2006/math">
                    <m:r>
                      <m:rPr>
                        <m:sty m:val="p"/>
                      </m:rPr>
                      <a:rPr lang="en-US" dirty="0" smtClean="0">
                        <a:latin typeface="Cambria Math" panose="02040503050406030204" pitchFamily="18" charset="0"/>
                        <a:ea typeface="Cambria Math" panose="02040503050406030204" pitchFamily="18" charset="0"/>
                      </a:rPr>
                      <m:t>P</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𝑁</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𝑛</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𝑘</m:t>
                    </m:r>
                    <m:r>
                      <a:rPr lang="en-US" b="0" i="1" dirty="0"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r>
                  <a:rPr lang="en-US" b="0" dirty="0">
                    <a:ea typeface="Cambria Math" panose="02040503050406030204" pitchFamily="18" charset="0"/>
                  </a:rPr>
                  <a:t>The domain of </a:t>
                </a:r>
                <a14:m>
                  <m:oMath xmlns:m="http://schemas.openxmlformats.org/officeDocument/2006/math">
                    <m:r>
                      <a:rPr lang="en-US" b="0" i="1" smtClean="0">
                        <a:latin typeface="Cambria Math" panose="02040503050406030204" pitchFamily="18" charset="0"/>
                        <a:ea typeface="Cambria Math" panose="02040503050406030204" pitchFamily="18" charset="0"/>
                      </a:rPr>
                      <m:t>𝑛</m:t>
                    </m:r>
                  </m:oMath>
                </a14:m>
                <a:r>
                  <a:rPr lang="en-US" b="0" dirty="0">
                    <a:ea typeface="Cambria Math" panose="02040503050406030204" pitchFamily="18" charset="0"/>
                  </a:rPr>
                  <a:t> given by the prior geometric distribution is </a:t>
                </a:r>
                <a14:m>
                  <m:oMath xmlns:m="http://schemas.openxmlformats.org/officeDocument/2006/math">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∈1,2,3,…</m:t>
                    </m:r>
                  </m:oMath>
                </a14:m>
                <a:r>
                  <a:rPr lang="en-US" b="0" dirty="0">
                    <a:ea typeface="Cambria Math" panose="02040503050406030204" pitchFamily="18" charset="0"/>
                  </a:rPr>
                  <a:t>, but       </a:t>
                </a:r>
                <a14:m>
                  <m:oMath xmlns:m="http://schemas.openxmlformats.org/officeDocument/2006/math">
                    <m:r>
                      <m:rPr>
                        <m:sty m:val="p"/>
                      </m:rPr>
                      <a:rPr lang="en-US" dirty="0" smtClean="0">
                        <a:latin typeface="Cambria Math" panose="02040503050406030204" pitchFamily="18" charset="0"/>
                        <a:ea typeface="Cambria Math" panose="02040503050406030204" pitchFamily="18" charset="0"/>
                      </a:rPr>
                      <m:t>P</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𝑁</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𝑛</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𝑘</m:t>
                    </m:r>
                    <m:r>
                      <a:rPr lang="en-US" b="0" i="1" dirty="0"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is only nonzero where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k</m:t>
                    </m:r>
                  </m:oMath>
                </a14:m>
                <a:r>
                  <a:rPr lang="en-US" b="0" dirty="0">
                    <a:ea typeface="Cambria Math" panose="02040503050406030204" pitchFamily="18" charset="0"/>
                  </a:rPr>
                  <a:t>, therefore:</a:t>
                </a: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oMath>
                </a14:m>
                <a:endParaRPr lang="en-US" b="0" dirty="0">
                  <a:ea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6A1FCD39-9CA4-CD15-1F06-3F8A6CFC68B0}"/>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Tree>
    <p:extLst>
      <p:ext uri="{BB962C8B-B14F-4D97-AF65-F5344CB8AC3E}">
        <p14:creationId xmlns:p14="http://schemas.microsoft.com/office/powerpoint/2010/main" val="1466699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A8ED-48C2-831A-1274-2D9C77118A2A}"/>
              </a:ext>
            </a:extLst>
          </p:cNvPr>
          <p:cNvSpPr>
            <a:spLocks noGrp="1"/>
          </p:cNvSpPr>
          <p:nvPr>
            <p:ph type="title"/>
          </p:nvPr>
        </p:nvSpPr>
        <p:spPr/>
        <p:txBody>
          <a:bodyPr/>
          <a:lstStyle/>
          <a:p>
            <a:r>
              <a:rPr lang="en-US" dirty="0"/>
              <a:t>Bayesian solution is biased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295283-E671-F554-1D4C-102635CEE081}"/>
                  </a:ext>
                </a:extLst>
              </p:cNvPr>
              <p:cNvSpPr>
                <a:spLocks noGrp="1"/>
              </p:cNvSpPr>
              <p:nvPr>
                <p:ph idx="1"/>
              </p:nvPr>
            </p:nvSpPr>
            <p:spPr/>
            <p:txBody>
              <a:bodyPr>
                <a:normAutofit fontScale="92500" lnSpcReduction="20000"/>
              </a:bodyPr>
              <a:lstStyle/>
              <a:p>
                <a:r>
                  <a:rPr lang="en-US" dirty="0">
                    <a:ea typeface="Cambria Math" panose="02040503050406030204" pitchFamily="18" charset="0"/>
                  </a:rPr>
                  <a:t>Our estimator is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oMath>
                </a14:m>
                <a:endParaRPr lang="en-US" b="0" dirty="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𝑛</m:t>
                        </m:r>
                      </m:e>
                    </m:d>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𝑛</m:t>
                            </m:r>
                          </m:e>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𝑜𝑡h𝑒𝑟𝑤𝑖𝑠𝑒</m:t>
                            </m:r>
                          </m:e>
                        </m:eqArr>
                      </m:e>
                    </m:d>
                  </m:oMath>
                </a14:m>
                <a:endParaRPr lang="en-US" b="0" dirty="0">
                  <a:ea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e>
                    </m:d>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m:t>
                    </m:r>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m:t>
                        </m:r>
                      </m:e>
                    </m:nary>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e>
                    </m:d>
                    <m:r>
                      <a:rPr lang="en-US" b="0" i="1" smtClean="0">
                        <a:latin typeface="Cambria Math" panose="02040503050406030204" pitchFamily="18" charset="0"/>
                        <a:ea typeface="Cambria Math" panose="02040503050406030204" pitchFamily="18" charset="0"/>
                      </a:rPr>
                      <m:t>= </m:t>
                    </m:r>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US" b="0" i="1" smtClean="0">
                                <a:latin typeface="Cambria Math" panose="02040503050406030204" pitchFamily="18" charset="0"/>
                                <a:ea typeface="Cambria Math" panose="02040503050406030204" pitchFamily="18" charset="0"/>
                              </a:rPr>
                              <m:t>𝑁</m:t>
                            </m:r>
                          </m:den>
                        </m:f>
                        <m:r>
                          <a:rPr lang="en-US" b="0" i="1" smtClean="0">
                            <a:latin typeface="Cambria Math" panose="02040503050406030204" pitchFamily="18" charset="0"/>
                            <a:ea typeface="Cambria Math" panose="02040503050406030204" pitchFamily="18" charset="0"/>
                          </a:rPr>
                          <m:t>=</m:t>
                        </m:r>
                      </m:e>
                    </m:nary>
                  </m:oMath>
                </a14:m>
                <a:r>
                  <a:rPr lang="en-US" b="0" dirty="0">
                    <a:ea typeface="Cambria Math" panose="02040503050406030204" pitchFamily="18" charset="0"/>
                  </a:rPr>
                  <a:t>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1</m:t>
                        </m:r>
                      </m:num>
                      <m:den>
                        <m:r>
                          <m:rPr>
                            <m:sty m:val="p"/>
                          </m:rPr>
                          <a:rPr lang="en-US" b="0" i="0" smtClean="0">
                            <a:latin typeface="Cambria Math" panose="02040503050406030204" pitchFamily="18" charset="0"/>
                            <a:ea typeface="Cambria Math" panose="02040503050406030204" pitchFamily="18" charset="0"/>
                          </a:rPr>
                          <m:t>N</m:t>
                        </m:r>
                      </m:den>
                    </m:f>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e>
                    </m:nary>
                  </m:oMath>
                </a14:m>
                <a:r>
                  <a:rPr lang="en-US" b="0" dirty="0">
                    <a:ea typeface="Cambria Math" panose="02040503050406030204" pitchFamily="18" charset="0"/>
                  </a:rPr>
                  <a:t>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1</m:t>
                        </m:r>
                      </m:num>
                      <m:den>
                        <m:r>
                          <m:rPr>
                            <m:sty m:val="p"/>
                          </m:rPr>
                          <a:rPr lang="en-US" b="0" i="0" smtClean="0">
                            <a:latin typeface="Cambria Math" panose="02040503050406030204" pitchFamily="18" charset="0"/>
                            <a:ea typeface="Cambria Math" panose="02040503050406030204" pitchFamily="18" charset="0"/>
                          </a:rPr>
                          <m:t>N</m:t>
                        </m:r>
                      </m:den>
                    </m:f>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oMath>
                </a14:m>
                <a:endParaRPr lang="en-US" b="0" dirty="0">
                  <a:ea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e>
                    </m:d>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+1</m:t>
                        </m:r>
                      </m:num>
                      <m:den>
                        <m:r>
                          <a:rPr lang="en-US" b="0" i="0" smtClean="0">
                            <a:latin typeface="Cambria Math" panose="02040503050406030204" pitchFamily="18" charset="0"/>
                            <a:ea typeface="Cambria Math" panose="02040503050406030204" pitchFamily="18" charset="0"/>
                          </a:rPr>
                          <m:t>2</m:t>
                        </m:r>
                      </m:den>
                    </m:f>
                  </m:oMath>
                </a14:m>
                <a:endParaRPr lang="en-US" b="0" dirty="0">
                  <a:ea typeface="Cambria Math" panose="02040503050406030204" pitchFamily="18" charset="0"/>
                </a:endParaRPr>
              </a:p>
              <a:p>
                <a:r>
                  <a:rPr lang="en-US" b="0" dirty="0">
                    <a:ea typeface="Cambria Math" panose="02040503050406030204" pitchFamily="18" charset="0"/>
                  </a:rPr>
                  <a:t>Biased: our Bayesian estimate of the number of balls in the urn is expected to be an underestimate. If there are 11 balls in the urn, our estimator is expected to on average estimate that there are 6 balls.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49295283-E671-F554-1D4C-102635CEE081}"/>
                  </a:ext>
                </a:extLst>
              </p:cNvPr>
              <p:cNvSpPr>
                <a:spLocks noGrp="1" noRot="1" noChangeAspect="1" noMove="1" noResize="1" noEditPoints="1" noAdjustHandles="1" noChangeArrowheads="1" noChangeShapeType="1" noTextEdit="1"/>
              </p:cNvSpPr>
              <p:nvPr>
                <p:ph idx="1"/>
              </p:nvPr>
            </p:nvSpPr>
            <p:spPr>
              <a:blipFill>
                <a:blip r:embed="rId2"/>
                <a:stretch>
                  <a:fillRect l="-928" t="-3361" b="-2941"/>
                </a:stretch>
              </a:blipFill>
            </p:spPr>
            <p:txBody>
              <a:bodyPr/>
              <a:lstStyle/>
              <a:p>
                <a:r>
                  <a:rPr lang="en-US">
                    <a:noFill/>
                  </a:rPr>
                  <a:t> </a:t>
                </a:r>
              </a:p>
            </p:txBody>
          </p:sp>
        </mc:Fallback>
      </mc:AlternateContent>
    </p:spTree>
    <p:extLst>
      <p:ext uri="{BB962C8B-B14F-4D97-AF65-F5344CB8AC3E}">
        <p14:creationId xmlns:p14="http://schemas.microsoft.com/office/powerpoint/2010/main" val="639188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B871C-1135-1066-147D-E19B5E9E7204}"/>
              </a:ext>
            </a:extLst>
          </p:cNvPr>
          <p:cNvSpPr>
            <a:spLocks noGrp="1"/>
          </p:cNvSpPr>
          <p:nvPr>
            <p:ph type="title"/>
          </p:nvPr>
        </p:nvSpPr>
        <p:spPr/>
        <p:txBody>
          <a:bodyPr/>
          <a:lstStyle/>
          <a:p>
            <a:r>
              <a:rPr lang="en-US" dirty="0"/>
              <a:t>Example Unbiased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110676-44AD-32B9-26CF-CB62F5E130A6}"/>
                  </a:ext>
                </a:extLst>
              </p:cNvPr>
              <p:cNvSpPr>
                <a:spLocks noGrp="1"/>
              </p:cNvSpPr>
              <p:nvPr>
                <p:ph idx="1"/>
              </p:nvPr>
            </p:nvSpPr>
            <p:spPr/>
            <p:txBody>
              <a:bodyPr>
                <a:normAutofit fontScale="92500" lnSpcReduction="20000"/>
              </a:bodyPr>
              <a:lstStyle/>
              <a:p>
                <a:r>
                  <a:rPr lang="en-US" b="0" dirty="0">
                    <a:ea typeface="Cambria Math" panose="02040503050406030204" pitchFamily="18" charset="0"/>
                  </a:rPr>
                  <a:t>Let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oMath>
                </a14:m>
                <a:endParaRPr lang="en-US" b="0" dirty="0">
                  <a:ea typeface="Cambria Math" panose="02040503050406030204" pitchFamily="18" charset="0"/>
                </a:endParaRPr>
              </a:p>
              <a:p>
                <a:r>
                  <a:rPr lang="en-US" b="0" dirty="0">
                    <a:ea typeface="Cambria Math" panose="02040503050406030204" pitchFamily="18" charset="0"/>
                  </a:rPr>
                  <a:t>We want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oMath>
                </a14:m>
                <a:endParaRPr lang="en-US" dirty="0"/>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e>
                    </m:d>
                  </m:oMath>
                </a14:m>
                <a:r>
                  <a:rPr lang="en-US" dirty="0"/>
                  <a:t>=</a:t>
                </a:r>
                <a:r>
                  <a:rPr lang="en-US" b="0" dirty="0">
                    <a:ea typeface="Cambria Math" panose="02040503050406030204" pitchFamily="18" charset="0"/>
                  </a:rPr>
                  <a:t>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oMath>
                </a14:m>
                <a:endParaRPr lang="en-US" dirty="0"/>
              </a:p>
              <a:p>
                <a:r>
                  <a:rPr lang="en-US" dirty="0"/>
                  <a:t>For our estimator to be unbiased, let </a:t>
                </a:r>
                <a14:m>
                  <m:oMath xmlns:m="http://schemas.openxmlformats.org/officeDocument/2006/math">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=2,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endParaRPr lang="en-US" dirty="0"/>
              </a:p>
              <a:p>
                <a:r>
                  <a:rPr lang="en-US" dirty="0"/>
                  <a:t>Then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oMath>
                </a14:m>
                <a:endParaRPr lang="en-US" dirty="0"/>
              </a:p>
              <a:p>
                <a:r>
                  <a:rPr lang="en-US" dirty="0"/>
                  <a:t>We have an unbiased estimator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oMath>
                </a14:m>
                <a:endParaRPr lang="en-US" dirty="0"/>
              </a:p>
              <a:p>
                <a:r>
                  <a:rPr lang="en-US" b="0" dirty="0">
                    <a:ea typeface="Cambria Math" panose="02040503050406030204" pitchFamily="18" charset="0"/>
                  </a:rPr>
                  <a:t>If there are 11 balls in the urn, our estimator is expected to on average estimate that there are 11 balls</a:t>
                </a:r>
              </a:p>
              <a:p>
                <a:r>
                  <a:rPr lang="en-US" dirty="0">
                    <a:ea typeface="Cambria Math" panose="02040503050406030204" pitchFamily="18" charset="0"/>
                  </a:rPr>
                  <a:t>The tradeoff is that our estimator can overestimate for a given sample. Bayesian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 </m:t>
                    </m:r>
                  </m:oMath>
                </a14:m>
                <a:r>
                  <a:rPr lang="en-US" dirty="0">
                    <a:ea typeface="Cambria Math" panose="02040503050406030204" pitchFamily="18" charset="0"/>
                  </a:rPr>
                  <a:t>cannot overestimate since </a:t>
                </a:r>
                <a:r>
                  <a:rPr lang="en-US" b="0" dirty="0">
                    <a:ea typeface="Cambria Math" panose="02040503050406030204" pitchFamily="18" charset="0"/>
                  </a:rPr>
                  <a:t>we know </a:t>
                </a:r>
                <a:r>
                  <a:rPr lang="en-US" b="0" i="1" dirty="0">
                    <a:ea typeface="Cambria Math" panose="02040503050406030204" pitchFamily="18" charset="0"/>
                  </a:rPr>
                  <a:t>N</a:t>
                </a:r>
                <a:r>
                  <a:rPr lang="en-US" b="0" dirty="0">
                    <a:ea typeface="Cambria Math" panose="02040503050406030204" pitchFamily="18" charset="0"/>
                  </a:rPr>
                  <a:t> is at least </a:t>
                </a:r>
                <a:r>
                  <a:rPr lang="en-US" b="0" i="1" dirty="0">
                    <a:ea typeface="Cambria Math" panose="02040503050406030204" pitchFamily="18" charset="0"/>
                  </a:rPr>
                  <a:t>K</a:t>
                </a:r>
              </a:p>
              <a:p>
                <a:endParaRPr lang="en-US" b="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41110676-44AD-32B9-26CF-CB62F5E130A6}"/>
                  </a:ext>
                </a:extLst>
              </p:cNvPr>
              <p:cNvSpPr>
                <a:spLocks noGrp="1" noRot="1" noChangeAspect="1" noMove="1" noResize="1" noEditPoints="1" noAdjustHandles="1" noChangeArrowheads="1" noChangeShapeType="1" noTextEdit="1"/>
              </p:cNvSpPr>
              <p:nvPr>
                <p:ph idx="1"/>
              </p:nvPr>
            </p:nvSpPr>
            <p:spPr>
              <a:blipFill>
                <a:blip r:embed="rId2"/>
                <a:stretch>
                  <a:fillRect l="-928" t="-3361"/>
                </a:stretch>
              </a:blipFill>
            </p:spPr>
            <p:txBody>
              <a:bodyPr/>
              <a:lstStyle/>
              <a:p>
                <a:r>
                  <a:rPr lang="en-US">
                    <a:noFill/>
                  </a:rPr>
                  <a:t> </a:t>
                </a:r>
              </a:p>
            </p:txBody>
          </p:sp>
        </mc:Fallback>
      </mc:AlternateContent>
    </p:spTree>
    <p:extLst>
      <p:ext uri="{BB962C8B-B14F-4D97-AF65-F5344CB8AC3E}">
        <p14:creationId xmlns:p14="http://schemas.microsoft.com/office/powerpoint/2010/main" val="1249255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fontScale="47500" lnSpcReduction="20000"/>
              </a:bodyPr>
              <a:lstStyle/>
              <a:p>
                <a:r>
                  <a:rPr lang="en-US" dirty="0"/>
                  <a:t>Uniform Minimum Variance Unbiased Estimators</a:t>
                </a:r>
              </a:p>
              <a:p>
                <a:r>
                  <a:rPr lang="en-US" dirty="0"/>
                  <a:t>A family of unbiased solutions exists [1]</a:t>
                </a:r>
              </a:p>
              <a:p>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oMath>
                </a14:m>
                <a:r>
                  <a:rPr lang="en-US" dirty="0"/>
                  <a:t>, where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1" smtClean="0">
                        <a:latin typeface="Cambria Math" panose="02040503050406030204" pitchFamily="18" charset="0"/>
                        <a:ea typeface="Cambria Math" panose="02040503050406030204" pitchFamily="18" charset="0"/>
                      </a:rPr>
                      <m:t>=0</m:t>
                    </m:r>
                  </m:oMath>
                </a14:m>
                <a:endParaRPr lang="en-US" dirty="0"/>
              </a:p>
              <a:p>
                <a:r>
                  <a:rPr lang="en-US" dirty="0"/>
                  <a:t>In our example, minimum variance estimator depends on n</a:t>
                </a:r>
              </a:p>
              <a:p>
                <a:r>
                  <a:rPr lang="en-US" dirty="0"/>
                  <a:t>Goal is to minimize risk</a:t>
                </a: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d>
                          <m:dPr>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e>
                    </m:d>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d>
                                  <m:dPr>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e>
                          <m:sup>
                            <m:r>
                              <a:rPr lang="en-US" i="1">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bias</m:t>
                    </m:r>
                    <m:d>
                      <m:dPr>
                        <m:begChr m:val="["/>
                        <m:endChr m:val="]"/>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0"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var</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oMath>
                </a14:m>
                <a:r>
                  <a:rPr lang="en-US" b="0" dirty="0">
                    <a:ea typeface="Cambria Math" panose="02040503050406030204" pitchFamily="18" charset="0"/>
                  </a:rPr>
                  <a:t> (see bias-variance decomposition of mean squared error loss)</a:t>
                </a: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0"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var</m:t>
                    </m:r>
                    <m:d>
                      <m:dPr>
                        <m:begChr m:val="["/>
                        <m:endChr m:val="]"/>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oMath>
                </a14:m>
                <a:r>
                  <a:rPr lang="en-US" b="0" dirty="0">
                    <a:ea typeface="Cambria Math" panose="02040503050406030204" pitchFamily="18" charset="0"/>
                  </a:rPr>
                  <a:t> (because bias is 0)</a:t>
                </a: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E</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E</m:t>
                    </m:r>
                    <m:r>
                      <a:rPr lang="en-US" b="0" i="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b="0" i="0"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(because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e>
                    </m:d>
                    <m:r>
                      <a:rPr lang="en-US" b="0" i="0"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r>
                  <a:rPr lang="en-US" b="0" i="1" dirty="0">
                    <a:ea typeface="Cambria Math" panose="02040503050406030204" pitchFamily="18" charset="0"/>
                  </a:rPr>
                  <a:t> </a:t>
                </a:r>
                <a:r>
                  <a:rPr lang="en-US" b="0" dirty="0">
                    <a:ea typeface="Cambria Math" panose="02040503050406030204" pitchFamily="18" charset="0"/>
                  </a:rPr>
                  <a:t>(because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oMath>
                </a14:m>
                <a:r>
                  <a:rPr lang="en-US" b="0" i="1" dirty="0">
                    <a:ea typeface="Cambria Math" panose="02040503050406030204" pitchFamily="18" charset="0"/>
                  </a:rPr>
                  <a:t> </a:t>
                </a:r>
                <a:r>
                  <a:rPr lang="en-US" dirty="0">
                    <a:ea typeface="Cambria Math" panose="02040503050406030204" pitchFamily="18" charset="0"/>
                  </a:rPr>
                  <a:t>is unbiased)</a:t>
                </a:r>
                <a:endParaRPr lang="en-US" b="0" i="1"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oMath>
                </a14:m>
                <a:r>
                  <a:rPr lang="en-US" dirty="0">
                    <a:ea typeface="Cambria Math" panose="02040503050406030204" pitchFamily="18" charset="0"/>
                  </a:rPr>
                  <a:t> (because </a:t>
                </a:r>
                <a14:m>
                  <m:oMath xmlns:m="http://schemas.openxmlformats.org/officeDocument/2006/math">
                    <m:r>
                      <a:rPr lang="en-US" i="1">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oMath>
                </a14:m>
                <a:r>
                  <a:rPr lang="en-US" dirty="0">
                    <a:ea typeface="Cambria Math" panose="02040503050406030204" pitchFamily="18" charset="0"/>
                  </a:rPr>
                  <a:t> is independent of isolated </a:t>
                </a:r>
                <a14:m>
                  <m:oMath xmlns:m="http://schemas.openxmlformats.org/officeDocument/2006/math">
                    <m:r>
                      <a:rPr lang="en-US" i="1">
                        <a:latin typeface="Cambria Math" panose="02040503050406030204" pitchFamily="18" charset="0"/>
                        <a:ea typeface="Cambria Math" panose="02040503050406030204" pitchFamily="18" charset="0"/>
                      </a:rPr>
                      <m:t>𝑛</m:t>
                    </m:r>
                  </m:oMath>
                </a14:m>
                <a:r>
                  <a:rPr lang="en-US" dirty="0">
                    <a:ea typeface="Cambria Math" panose="02040503050406030204" pitchFamily="18" charset="0"/>
                  </a:rPr>
                  <a:t> term)</a:t>
                </a:r>
              </a:p>
              <a:p>
                <a:endParaRPr lang="en-US" b="0" dirty="0">
                  <a:ea typeface="Cambria Math" panose="02040503050406030204" pitchFamily="18" charset="0"/>
                </a:endParaRPr>
              </a:p>
              <a:p>
                <a:endParaRPr lang="en-US" b="0" dirty="0">
                  <a:ea typeface="Cambria Math" panose="02040503050406030204" pitchFamily="18" charset="0"/>
                </a:endParaRPr>
              </a:p>
              <a:p>
                <a:endParaRPr lang="en-US" b="0" dirty="0">
                  <a:ea typeface="Cambria Math" panose="02040503050406030204" pitchFamily="18" charset="0"/>
                </a:endParaRPr>
              </a:p>
              <a:p>
                <a:endParaRPr lang="en-US" dirty="0"/>
              </a:p>
              <a:p>
                <a:endParaRPr lang="en-US" b="0" i="0" dirty="0">
                  <a:latin typeface="Cambria Math" panose="02040503050406030204" pitchFamily="18" charset="0"/>
                  <a:ea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58" t="-1120"/>
                </a:stretch>
              </a:blipFill>
            </p:spPr>
            <p:txBody>
              <a:bodyPr/>
              <a:lstStyle/>
              <a:p>
                <a:r>
                  <a:rPr lang="en-US">
                    <a:noFill/>
                  </a:rPr>
                  <a:t> </a:t>
                </a:r>
              </a:p>
            </p:txBody>
          </p:sp>
        </mc:Fallback>
      </mc:AlternateContent>
    </p:spTree>
    <p:extLst>
      <p:ext uri="{BB962C8B-B14F-4D97-AF65-F5344CB8AC3E}">
        <p14:creationId xmlns:p14="http://schemas.microsoft.com/office/powerpoint/2010/main" val="2892436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a:bodyPr>
              <a:lstStyle/>
              <a:p>
                <a:r>
                  <a:rPr lang="en-US" dirty="0"/>
                  <a:t>For example n=1</a:t>
                </a: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E</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e>
                    </m:nary>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1⋅</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e>
                        </m:d>
                      </m:e>
                      <m:sup>
                        <m:r>
                          <a:rPr lang="en-US" b="0" i="1" smtClean="0">
                            <a:latin typeface="Cambria Math" panose="02040503050406030204" pitchFamily="18" charset="0"/>
                            <a:ea typeface="Cambria Math" panose="02040503050406030204" pitchFamily="18" charset="0"/>
                          </a:rPr>
                          <m:t>2</m:t>
                        </m:r>
                      </m:sup>
                    </m:sSup>
                  </m:oMath>
                </a14:m>
                <a:endParaRPr lang="en-US" b="0" dirty="0">
                  <a:ea typeface="Cambria Math" panose="02040503050406030204" pitchFamily="18" charset="0"/>
                </a:endParaRPr>
              </a:p>
              <a:p>
                <a:r>
                  <a:rPr lang="en-US" dirty="0">
                    <a:ea typeface="Cambria Math" panose="02040503050406030204" pitchFamily="18" charset="0"/>
                  </a:rPr>
                  <a:t>The condition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1" smtClean="0">
                        <a:latin typeface="Cambria Math" panose="02040503050406030204" pitchFamily="18" charset="0"/>
                        <a:ea typeface="Cambria Math" panose="02040503050406030204" pitchFamily="18" charset="0"/>
                      </a:rPr>
                      <m:t>=0</m:t>
                    </m:r>
                  </m:oMath>
                </a14:m>
                <a:r>
                  <a:rPr lang="en-US" b="0" dirty="0">
                    <a:ea typeface="Cambria Math" panose="02040503050406030204" pitchFamily="18" charset="0"/>
                  </a:rPr>
                  <a:t> means                                            </a:t>
                </a:r>
                <a14:m>
                  <m:oMath xmlns:m="http://schemas.openxmlformats.org/officeDocument/2006/math">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=0</m:t>
                        </m:r>
                      </m:e>
                    </m:nary>
                  </m:oMath>
                </a14:m>
                <a:r>
                  <a:rPr lang="en-US" b="0" dirty="0">
                    <a:ea typeface="Cambria Math" panose="02040503050406030204" pitchFamily="18" charset="0"/>
                  </a:rPr>
                  <a:t>, implies U(1)=0</a:t>
                </a:r>
              </a:p>
              <a:p>
                <a:r>
                  <a:rPr lang="en-US" dirty="0">
                    <a:ea typeface="Cambria Math" panose="02040503050406030204" pitchFamily="18" charset="0"/>
                  </a:rPr>
                  <a:t>The minimum variance estimator is </a:t>
                </a:r>
                <a14:m>
                  <m:oMath xmlns:m="http://schemas.openxmlformats.org/officeDocument/2006/math">
                    <m:r>
                      <a:rPr lang="en-US" b="0" i="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U</m:t>
                    </m:r>
                    <m:d>
                      <m:dPr>
                        <m:ctrlPr>
                          <a:rPr lang="en-US" b="0" i="1"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K</m:t>
                        </m:r>
                      </m:e>
                    </m:d>
                    <m:r>
                      <a:rPr lang="en-US" b="0" i="0" smtClean="0">
                        <a:latin typeface="Cambria Math" panose="02040503050406030204" pitchFamily="18" charset="0"/>
                        <a:ea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K</m:t>
                    </m:r>
                    <m:r>
                      <a:rPr lang="en-US" b="0" i="0"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r>
                  <a:rPr lang="en-US" b="0" dirty="0">
                    <a:ea typeface="Cambria Math" panose="02040503050406030204" pitchFamily="18" charset="0"/>
                  </a:rPr>
                  <a:t>If </a:t>
                </a:r>
                <a:r>
                  <a:rPr lang="en-US" b="0" i="1" dirty="0">
                    <a:ea typeface="Cambria Math" panose="02040503050406030204" pitchFamily="18" charset="0"/>
                  </a:rPr>
                  <a:t>n</a:t>
                </a:r>
                <a:r>
                  <a:rPr lang="en-US" b="0" dirty="0">
                    <a:ea typeface="Cambria Math" panose="02040503050406030204" pitchFamily="18" charset="0"/>
                  </a:rPr>
                  <a:t>=1,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oMath>
                </a14:m>
                <a:r>
                  <a:rPr lang="en-US" b="0" dirty="0">
                    <a:ea typeface="Cambria Math" panose="02040503050406030204" pitchFamily="18" charset="0"/>
                  </a:rPr>
                  <a:t> is minimum variance</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71257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fontScale="77500" lnSpcReduction="20000"/>
              </a:bodyPr>
              <a:lstStyle/>
              <a:p>
                <a:r>
                  <a:rPr lang="en-US" dirty="0"/>
                  <a:t>For example n=2</a:t>
                </a: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E</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e>
                    </m:nary>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e>
                        </m:d>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e>
                        </m:d>
                      </m:e>
                      <m:sup>
                        <m:r>
                          <a:rPr lang="en-US" i="1">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r>
                  <a:rPr lang="en-US" dirty="0">
                    <a:ea typeface="Cambria Math" panose="02040503050406030204" pitchFamily="18" charset="0"/>
                  </a:rPr>
                  <a:t>The condition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1" smtClean="0">
                        <a:latin typeface="Cambria Math" panose="02040503050406030204" pitchFamily="18" charset="0"/>
                        <a:ea typeface="Cambria Math" panose="02040503050406030204" pitchFamily="18" charset="0"/>
                      </a:rPr>
                      <m:t>=0</m:t>
                    </m:r>
                  </m:oMath>
                </a14:m>
                <a:r>
                  <a:rPr lang="en-US" b="0" dirty="0">
                    <a:ea typeface="Cambria Math" panose="02040503050406030204" pitchFamily="18" charset="0"/>
                  </a:rPr>
                  <a:t> means </a:t>
                </a:r>
                <a14:m>
                  <m:oMath xmlns:m="http://schemas.openxmlformats.org/officeDocument/2006/math">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=0</m:t>
                        </m:r>
                      </m:e>
                    </m:nary>
                  </m:oMath>
                </a14:m>
                <a:endParaRPr lang="en-US" b="0" dirty="0">
                  <a:ea typeface="Cambria Math" panose="02040503050406030204" pitchFamily="18" charset="0"/>
                </a:endParaRPr>
              </a:p>
              <a:p>
                <a:r>
                  <a:rPr lang="en-US" dirty="0">
                    <a:ea typeface="Cambria Math" panose="02040503050406030204" pitchFamily="18" charset="0"/>
                  </a:rPr>
                  <a:t>Using the condition </a:t>
                </a:r>
                <a14:m>
                  <m:oMath xmlns:m="http://schemas.openxmlformats.org/officeDocument/2006/math">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oMath>
                </a14:m>
                <a:endParaRPr lang="en-US" b="0" dirty="0">
                  <a:ea typeface="Cambria Math" panose="02040503050406030204" pitchFamily="18" charset="0"/>
                </a:endParaRPr>
              </a:p>
              <a:p>
                <a14:m>
                  <m:oMath xmlns:m="http://schemas.openxmlformats.org/officeDocument/2006/math">
                    <m:r>
                      <a:rPr lang="en-US" i="1">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e>
                        </m:d>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2</m:t>
                                </m:r>
                              </m:e>
                            </m:d>
                          </m:e>
                        </m:d>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oMath>
                </a14:m>
                <a:endParaRPr lang="en-US" dirty="0">
                  <a:ea typeface="Cambria Math" panose="02040503050406030204" pitchFamily="18" charset="0"/>
                </a:endParaRPr>
              </a:p>
              <a:p>
                <a:r>
                  <a:rPr lang="en-US" b="0" dirty="0">
                    <a:ea typeface="Cambria Math" panose="02040503050406030204" pitchFamily="18" charset="0"/>
                  </a:rPr>
                  <a:t>Using derivative </a:t>
                </a:r>
                <a14:m>
                  <m:oMath xmlns:m="http://schemas.openxmlformats.org/officeDocument/2006/math">
                    <m:r>
                      <a:rPr lang="en-US" b="0" i="0" smtClean="0">
                        <a:latin typeface="Cambria Math" panose="02040503050406030204" pitchFamily="18" charset="0"/>
                        <a:ea typeface="Cambria Math" panose="02040503050406030204" pitchFamily="18" charset="0"/>
                      </a:rPr>
                      <m:t>(1+</m:t>
                    </m:r>
                    <m:r>
                      <m:rPr>
                        <m:sty m:val="p"/>
                      </m:rPr>
                      <a:rPr lang="en-US" b="0" i="0" smtClean="0">
                        <a:latin typeface="Cambria Math" panose="02040503050406030204" pitchFamily="18" charset="0"/>
                        <a:ea typeface="Cambria Math" panose="02040503050406030204" pitchFamily="18" charset="0"/>
                      </a:rPr>
                      <m:t>U</m:t>
                    </m:r>
                    <m:d>
                      <m:dPr>
                        <m:ctrlPr>
                          <a:rPr lang="en-US" b="0" i="1" smtClean="0">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2</m:t>
                        </m:r>
                      </m:e>
                    </m:d>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a:p>
                <a:r>
                  <a:rPr lang="en-US" b="0" dirty="0">
                    <a:ea typeface="Cambria Math" panose="02040503050406030204" pitchFamily="18" charset="0"/>
                  </a:rPr>
                  <a:t>Meaning </a:t>
                </a:r>
                <a14:m>
                  <m:oMath xmlns:m="http://schemas.openxmlformats.org/officeDocument/2006/math">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=1</m:t>
                    </m:r>
                  </m:oMath>
                </a14:m>
                <a:r>
                  <a:rPr lang="en-US" b="0"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r>
                  <a:rPr lang="en-US" b="0" dirty="0">
                    <a:ea typeface="Cambria Math" panose="02040503050406030204" pitchFamily="18" charset="0"/>
                  </a:rPr>
                  <a:t>If </a:t>
                </a:r>
                <a:r>
                  <a:rPr lang="en-US" b="0" i="1" dirty="0">
                    <a:ea typeface="Cambria Math" panose="02040503050406030204" pitchFamily="18" charset="0"/>
                  </a:rPr>
                  <a:t>n</a:t>
                </a:r>
                <a:r>
                  <a:rPr lang="en-US" b="0" dirty="0">
                    <a:ea typeface="Cambria Math" panose="02040503050406030204" pitchFamily="18" charset="0"/>
                  </a:rPr>
                  <a:t>=2,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is minimum variance if </a:t>
                </a:r>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a:latin typeface="Cambria Math" panose="02040503050406030204" pitchFamily="18" charset="0"/>
                            <a:ea typeface="Cambria Math" panose="02040503050406030204" pitchFamily="18" charset="0"/>
                          </a:rPr>
                          <m:t>2</m:t>
                        </m:r>
                      </m:e>
                    </m:d>
                    <m:r>
                      <a:rPr lang="en-US">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696" t="-2661" b="-3221"/>
                </a:stretch>
              </a:blipFill>
            </p:spPr>
            <p:txBody>
              <a:bodyPr/>
              <a:lstStyle/>
              <a:p>
                <a:r>
                  <a:rPr lang="en-US">
                    <a:noFill/>
                  </a:rPr>
                  <a:t> </a:t>
                </a:r>
              </a:p>
            </p:txBody>
          </p:sp>
        </mc:Fallback>
      </mc:AlternateContent>
    </p:spTree>
    <p:extLst>
      <p:ext uri="{BB962C8B-B14F-4D97-AF65-F5344CB8AC3E}">
        <p14:creationId xmlns:p14="http://schemas.microsoft.com/office/powerpoint/2010/main" val="2153672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a:bodyPr>
              <a:lstStyle/>
              <a:p>
                <a:r>
                  <a:rPr lang="en-US" dirty="0"/>
                  <a:t>Because the minimum variance estimator depends on the ground truth parameter n</a:t>
                </a:r>
              </a:p>
              <a:p>
                <a:r>
                  <a:rPr lang="en-US" i="1" dirty="0"/>
                  <a:t>n</a:t>
                </a:r>
                <a:r>
                  <a:rPr lang="en-US" dirty="0"/>
                  <a:t>=1 -&gt; </a:t>
                </a:r>
                <a14:m>
                  <m:oMath xmlns:m="http://schemas.openxmlformats.org/officeDocument/2006/math">
                    <m:acc>
                      <m:accPr>
                        <m:chr m:val="̂"/>
                        <m:ctrlPr>
                          <a:rPr lang="en-US"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oMath>
                </a14:m>
                <a:r>
                  <a:rPr lang="en-US" dirty="0"/>
                  <a:t> is minimum variance</a:t>
                </a:r>
              </a:p>
              <a:p>
                <a:r>
                  <a:rPr lang="en-US" i="1" dirty="0"/>
                  <a:t>n</a:t>
                </a:r>
                <a:r>
                  <a:rPr lang="en-US" dirty="0"/>
                  <a:t>=2 -&gt; </a:t>
                </a:r>
                <a14:m>
                  <m:oMath xmlns:m="http://schemas.openxmlformats.org/officeDocument/2006/math">
                    <m:acc>
                      <m:accPr>
                        <m:chr m:val="̂"/>
                        <m:ctrlPr>
                          <a:rPr lang="en-US"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oMath>
                </a14:m>
                <a:r>
                  <a:rPr lang="en-US" dirty="0"/>
                  <a:t> is minimum variance</a:t>
                </a:r>
              </a:p>
              <a:p>
                <a:pPr lvl="1"/>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=−1</m:t>
                    </m:r>
                  </m:oMath>
                </a14:m>
                <a:endParaRPr lang="en-US" dirty="0"/>
              </a:p>
              <a:p>
                <a:r>
                  <a:rPr lang="en-US" dirty="0"/>
                  <a:t>Therefore, no uniform minimum variance unbiased estimator exists</a:t>
                </a:r>
              </a:p>
              <a:p>
                <a:endParaRPr lang="en-US" dirty="0"/>
              </a:p>
            </p:txBody>
          </p:sp>
        </mc:Choice>
        <mc:Fallback xmlns="">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1043" t="-2381" r="-696"/>
                </a:stretch>
              </a:blipFill>
            </p:spPr>
            <p:txBody>
              <a:bodyPr/>
              <a:lstStyle/>
              <a:p>
                <a:r>
                  <a:rPr lang="en-US">
                    <a:noFill/>
                  </a:rPr>
                  <a:t> </a:t>
                </a:r>
              </a:p>
            </p:txBody>
          </p:sp>
        </mc:Fallback>
      </mc:AlternateContent>
    </p:spTree>
    <p:extLst>
      <p:ext uri="{BB962C8B-B14F-4D97-AF65-F5344CB8AC3E}">
        <p14:creationId xmlns:p14="http://schemas.microsoft.com/office/powerpoint/2010/main" val="2543503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a:bodyPr>
          <a:lstStyle/>
          <a:p>
            <a:r>
              <a:rPr lang="en-US" dirty="0"/>
              <a:t>Picking a ball out of an urn with numbered balls</a:t>
            </a:r>
          </a:p>
          <a:p>
            <a:r>
              <a:rPr lang="en-US" dirty="0"/>
              <a:t>Estimating the number of balls in the urn has no best solution and we must consider tradeoffs</a:t>
            </a:r>
          </a:p>
          <a:p>
            <a:r>
              <a:rPr lang="en-US" dirty="0"/>
              <a:t>Bayes is biased</a:t>
            </a:r>
          </a:p>
          <a:p>
            <a:r>
              <a:rPr lang="en-US" dirty="0"/>
              <a:t>If we find any unbiased estimator, it will have high variance for certain values of n (because no UMVU exists)</a:t>
            </a:r>
          </a:p>
          <a:p>
            <a:endParaRPr lang="en-US" dirty="0"/>
          </a:p>
        </p:txBody>
      </p:sp>
    </p:spTree>
    <p:extLst>
      <p:ext uri="{BB962C8B-B14F-4D97-AF65-F5344CB8AC3E}">
        <p14:creationId xmlns:p14="http://schemas.microsoft.com/office/powerpoint/2010/main" val="3534905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4D49-4C63-47AD-9C44-0732CBDF92D3}"/>
              </a:ext>
            </a:extLst>
          </p:cNvPr>
          <p:cNvSpPr>
            <a:spLocks noGrp="1"/>
          </p:cNvSpPr>
          <p:nvPr>
            <p:ph type="title"/>
          </p:nvPr>
        </p:nvSpPr>
        <p:spPr/>
        <p:txBody>
          <a:bodyPr/>
          <a:lstStyle/>
          <a:p>
            <a:r>
              <a:rPr lang="en-US" dirty="0"/>
              <a:t>Prediction Models</a:t>
            </a:r>
            <a:br>
              <a:rPr lang="en-US" dirty="0"/>
            </a:br>
            <a:r>
              <a:rPr lang="en-US" dirty="0"/>
              <a:t>-Bias and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E15B80-0067-A15A-3C1C-66797551061A}"/>
                  </a:ext>
                </a:extLst>
              </p:cNvPr>
              <p:cNvSpPr>
                <a:spLocks noGrp="1"/>
              </p:cNvSpPr>
              <p:nvPr>
                <p:ph idx="1"/>
              </p:nvPr>
            </p:nvSpPr>
            <p:spPr/>
            <p:txBody>
              <a:bodyPr>
                <a:normAutofit/>
              </a:bodyPr>
              <a:lstStyle/>
              <a:p>
                <a:r>
                  <a:rPr lang="en-US" dirty="0"/>
                  <a:t>Point Estimation bias and variance</a:t>
                </a:r>
              </a:p>
              <a:p>
                <a:pPr lvl="1"/>
                <a:r>
                  <a:rPr lang="en-US" dirty="0"/>
                  <a:t>Makes sense for parameter estimation where loss is squared error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e>
                      <m:sup>
                        <m:r>
                          <a:rPr lang="en-US" b="0" i="1" smtClean="0">
                            <a:latin typeface="Cambria Math" panose="02040503050406030204" pitchFamily="18" charset="0"/>
                          </a:rPr>
                          <m:t>2</m:t>
                        </m:r>
                      </m:sup>
                    </m:sSup>
                  </m:oMath>
                </a14:m>
                <a:endParaRPr lang="en-US" dirty="0"/>
              </a:p>
              <a:p>
                <a:pPr lvl="1"/>
                <a:r>
                  <a:rPr lang="en-US" dirty="0"/>
                  <a:t>Square error loss can be decomposed into bias and variance</a:t>
                </a:r>
              </a:p>
              <a:p>
                <a:r>
                  <a:rPr lang="en-US" dirty="0"/>
                  <a:t>Prediction models bias and variance</a:t>
                </a:r>
              </a:p>
              <a:p>
                <a:pPr lvl="1"/>
                <a:r>
                  <a:rPr lang="en-US" dirty="0"/>
                  <a:t>Good for regression problems again where squared error loss can be decomposed into bias and variance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d>
                      </m:e>
                      <m:sup>
                        <m:r>
                          <a:rPr lang="en-US" b="0" i="1" smtClean="0">
                            <a:latin typeface="Cambria Math" panose="02040503050406030204" pitchFamily="18" charset="0"/>
                          </a:rPr>
                          <m:t>2</m:t>
                        </m:r>
                      </m:sup>
                    </m:sSup>
                  </m:oMath>
                </a14:m>
                <a:endParaRPr lang="en-US" dirty="0"/>
              </a:p>
            </p:txBody>
          </p:sp>
        </mc:Choice>
        <mc:Fallback xmlns="">
          <p:sp>
            <p:nvSpPr>
              <p:cNvPr id="3" name="Content Placeholder 2">
                <a:extLst>
                  <a:ext uri="{FF2B5EF4-FFF2-40B4-BE49-F238E27FC236}">
                    <a16:creationId xmlns:a16="http://schemas.microsoft.com/office/drawing/2014/main" id="{54E15B80-0067-A15A-3C1C-66797551061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564558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9FA7-E85F-A375-7B30-41E564FB546E}"/>
              </a:ext>
            </a:extLst>
          </p:cNvPr>
          <p:cNvSpPr>
            <a:spLocks noGrp="1"/>
          </p:cNvSpPr>
          <p:nvPr>
            <p:ph type="title"/>
          </p:nvPr>
        </p:nvSpPr>
        <p:spPr/>
        <p:txBody>
          <a:bodyPr/>
          <a:lstStyle/>
          <a:p>
            <a:r>
              <a:rPr lang="en-US" dirty="0"/>
              <a:t>Prediction Models</a:t>
            </a:r>
            <a:br>
              <a:rPr lang="en-US" dirty="0"/>
            </a:br>
            <a:r>
              <a:rPr lang="en-US" dirty="0"/>
              <a:t>-Bias and Variance</a:t>
            </a:r>
          </a:p>
        </p:txBody>
      </p:sp>
      <p:sp>
        <p:nvSpPr>
          <p:cNvPr id="3" name="Content Placeholder 2">
            <a:extLst>
              <a:ext uri="{FF2B5EF4-FFF2-40B4-BE49-F238E27FC236}">
                <a16:creationId xmlns:a16="http://schemas.microsoft.com/office/drawing/2014/main" id="{6A1E854D-F4A6-1BED-96D2-9F708A97AEA5}"/>
              </a:ext>
            </a:extLst>
          </p:cNvPr>
          <p:cNvSpPr>
            <a:spLocks noGrp="1"/>
          </p:cNvSpPr>
          <p:nvPr>
            <p:ph idx="1"/>
          </p:nvPr>
        </p:nvSpPr>
        <p:spPr/>
        <p:txBody>
          <a:bodyPr/>
          <a:lstStyle/>
          <a:p>
            <a:r>
              <a:rPr lang="en-US" dirty="0"/>
              <a:t>Overfitting and Underfitting</a:t>
            </a:r>
          </a:p>
          <a:p>
            <a:r>
              <a:rPr lang="en-US" dirty="0"/>
              <a:t>If loss is squared error, a model that is overfit or underfit will have loss with both bias and variance</a:t>
            </a:r>
          </a:p>
          <a:p>
            <a:endParaRPr lang="en-US" dirty="0"/>
          </a:p>
          <a:p>
            <a:pPr marL="0" indent="0">
              <a:buNone/>
            </a:pPr>
            <a:endParaRPr lang="en-US" dirty="0"/>
          </a:p>
        </p:txBody>
      </p:sp>
      <p:pic>
        <p:nvPicPr>
          <p:cNvPr id="5" name="Picture 4" descr="A diagram of a graph&#10;&#10;Description automatically generated with medium confidence">
            <a:extLst>
              <a:ext uri="{FF2B5EF4-FFF2-40B4-BE49-F238E27FC236}">
                <a16:creationId xmlns:a16="http://schemas.microsoft.com/office/drawing/2014/main" id="{7C601962-4C53-D44B-C902-7CC42B93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905" y="3292598"/>
            <a:ext cx="7076190" cy="3304762"/>
          </a:xfrm>
          <a:prstGeom prst="rect">
            <a:avLst/>
          </a:prstGeom>
        </p:spPr>
      </p:pic>
    </p:spTree>
    <p:extLst>
      <p:ext uri="{BB962C8B-B14F-4D97-AF65-F5344CB8AC3E}">
        <p14:creationId xmlns:p14="http://schemas.microsoft.com/office/powerpoint/2010/main" val="2412963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9FA7-E85F-A375-7B30-41E564FB546E}"/>
              </a:ext>
            </a:extLst>
          </p:cNvPr>
          <p:cNvSpPr>
            <a:spLocks noGrp="1"/>
          </p:cNvSpPr>
          <p:nvPr>
            <p:ph type="title"/>
          </p:nvPr>
        </p:nvSpPr>
        <p:spPr/>
        <p:txBody>
          <a:bodyPr/>
          <a:lstStyle/>
          <a:p>
            <a:r>
              <a:rPr lang="en-US" dirty="0"/>
              <a:t>Prediction Models</a:t>
            </a:r>
            <a:br>
              <a:rPr lang="en-US" dirty="0"/>
            </a:br>
            <a:r>
              <a:rPr lang="en-US" dirty="0"/>
              <a:t>-Bias and Variance</a:t>
            </a:r>
          </a:p>
        </p:txBody>
      </p:sp>
      <p:sp>
        <p:nvSpPr>
          <p:cNvPr id="3" name="Content Placeholder 2">
            <a:extLst>
              <a:ext uri="{FF2B5EF4-FFF2-40B4-BE49-F238E27FC236}">
                <a16:creationId xmlns:a16="http://schemas.microsoft.com/office/drawing/2014/main" id="{6A1E854D-F4A6-1BED-96D2-9F708A97AEA5}"/>
              </a:ext>
            </a:extLst>
          </p:cNvPr>
          <p:cNvSpPr>
            <a:spLocks noGrp="1"/>
          </p:cNvSpPr>
          <p:nvPr>
            <p:ph idx="1"/>
          </p:nvPr>
        </p:nvSpPr>
        <p:spPr/>
        <p:txBody>
          <a:bodyPr/>
          <a:lstStyle/>
          <a:p>
            <a:r>
              <a:rPr lang="en-US" dirty="0"/>
              <a:t>Underfitting example on left</a:t>
            </a:r>
          </a:p>
          <a:p>
            <a:pPr lvl="1"/>
            <a:r>
              <a:rPr lang="en-US" dirty="0"/>
              <a:t>High bias because half of the curve is wrong half of the time</a:t>
            </a:r>
          </a:p>
          <a:p>
            <a:pPr lvl="1"/>
            <a:r>
              <a:rPr lang="en-US" dirty="0"/>
              <a:t>High variance because there are two modes</a:t>
            </a:r>
          </a:p>
          <a:p>
            <a:endParaRPr lang="en-US" dirty="0"/>
          </a:p>
          <a:p>
            <a:pPr marL="0" indent="0">
              <a:buNone/>
            </a:pPr>
            <a:endParaRPr lang="en-US" dirty="0"/>
          </a:p>
        </p:txBody>
      </p:sp>
      <p:pic>
        <p:nvPicPr>
          <p:cNvPr id="5" name="Picture 4" descr="A diagram of a graph&#10;&#10;Description automatically generated with medium confidence">
            <a:extLst>
              <a:ext uri="{FF2B5EF4-FFF2-40B4-BE49-F238E27FC236}">
                <a16:creationId xmlns:a16="http://schemas.microsoft.com/office/drawing/2014/main" id="{7C601962-4C53-D44B-C902-7CC42B93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905" y="3292598"/>
            <a:ext cx="7076190" cy="3304762"/>
          </a:xfrm>
          <a:prstGeom prst="rect">
            <a:avLst/>
          </a:prstGeom>
        </p:spPr>
      </p:pic>
    </p:spTree>
    <p:extLst>
      <p:ext uri="{BB962C8B-B14F-4D97-AF65-F5344CB8AC3E}">
        <p14:creationId xmlns:p14="http://schemas.microsoft.com/office/powerpoint/2010/main" val="2435780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9FA7-E85F-A375-7B30-41E564FB546E}"/>
              </a:ext>
            </a:extLst>
          </p:cNvPr>
          <p:cNvSpPr>
            <a:spLocks noGrp="1"/>
          </p:cNvSpPr>
          <p:nvPr>
            <p:ph type="title"/>
          </p:nvPr>
        </p:nvSpPr>
        <p:spPr/>
        <p:txBody>
          <a:bodyPr/>
          <a:lstStyle/>
          <a:p>
            <a:r>
              <a:rPr lang="en-US" dirty="0"/>
              <a:t>Prediction Models</a:t>
            </a:r>
            <a:br>
              <a:rPr lang="en-US" dirty="0"/>
            </a:br>
            <a:r>
              <a:rPr lang="en-US" dirty="0"/>
              <a:t>-Bias and Variance</a:t>
            </a:r>
          </a:p>
        </p:txBody>
      </p:sp>
      <p:sp>
        <p:nvSpPr>
          <p:cNvPr id="3" name="Content Placeholder 2">
            <a:extLst>
              <a:ext uri="{FF2B5EF4-FFF2-40B4-BE49-F238E27FC236}">
                <a16:creationId xmlns:a16="http://schemas.microsoft.com/office/drawing/2014/main" id="{6A1E854D-F4A6-1BED-96D2-9F708A97AEA5}"/>
              </a:ext>
            </a:extLst>
          </p:cNvPr>
          <p:cNvSpPr>
            <a:spLocks noGrp="1"/>
          </p:cNvSpPr>
          <p:nvPr>
            <p:ph idx="1"/>
          </p:nvPr>
        </p:nvSpPr>
        <p:spPr/>
        <p:txBody>
          <a:bodyPr/>
          <a:lstStyle/>
          <a:p>
            <a:r>
              <a:rPr lang="en-US" dirty="0"/>
              <a:t>Overfitting example on left</a:t>
            </a:r>
          </a:p>
          <a:p>
            <a:pPr lvl="1"/>
            <a:r>
              <a:rPr lang="en-US" dirty="0"/>
              <a:t>High bias because most of the curve is high error between the points</a:t>
            </a:r>
          </a:p>
          <a:p>
            <a:pPr lvl="1"/>
            <a:r>
              <a:rPr lang="en-US" dirty="0"/>
              <a:t>High variance because the curve changes based on the sample</a:t>
            </a:r>
          </a:p>
          <a:p>
            <a:endParaRPr lang="en-US" dirty="0"/>
          </a:p>
          <a:p>
            <a:pPr marL="0" indent="0">
              <a:buNone/>
            </a:pPr>
            <a:endParaRPr lang="en-US" dirty="0"/>
          </a:p>
        </p:txBody>
      </p:sp>
      <p:pic>
        <p:nvPicPr>
          <p:cNvPr id="5" name="Picture 4" descr="A diagram of a graph&#10;&#10;Description automatically generated with medium confidence">
            <a:extLst>
              <a:ext uri="{FF2B5EF4-FFF2-40B4-BE49-F238E27FC236}">
                <a16:creationId xmlns:a16="http://schemas.microsoft.com/office/drawing/2014/main" id="{7C601962-4C53-D44B-C902-7CC42B93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905" y="3292598"/>
            <a:ext cx="7076190" cy="3304762"/>
          </a:xfrm>
          <a:prstGeom prst="rect">
            <a:avLst/>
          </a:prstGeom>
        </p:spPr>
      </p:pic>
    </p:spTree>
    <p:extLst>
      <p:ext uri="{BB962C8B-B14F-4D97-AF65-F5344CB8AC3E}">
        <p14:creationId xmlns:p14="http://schemas.microsoft.com/office/powerpoint/2010/main" val="2552995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lstStyle/>
              <a:p>
                <a:r>
                  <a:rPr lang="en-US" dirty="0"/>
                  <a:t>Again, assume a generative distribution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0" smtClean="0">
                        <a:latin typeface="Cambria Math" panose="02040503050406030204" pitchFamily="18" charset="0"/>
                      </a:rPr>
                      <m:t>|</m:t>
                    </m:r>
                    <m:r>
                      <a:rPr lang="en-US" b="0" i="1" smtClean="0">
                        <a:latin typeface="Cambria Math" panose="02040503050406030204" pitchFamily="18" charset="0"/>
                      </a:rPr>
                      <m:t>𝜇</m:t>
                    </m:r>
                    <m:r>
                      <a:rPr lang="en-US" b="0" i="0" smtClean="0">
                        <a:latin typeface="Cambria Math" panose="02040503050406030204" pitchFamily="18" charset="0"/>
                      </a:rPr>
                      <m:t>)</m:t>
                    </m:r>
                  </m:oMath>
                </a14:m>
                <a:r>
                  <a:rPr lang="en-US" dirty="0"/>
                  <a:t> parameterized by </a:t>
                </a:r>
                <a14:m>
                  <m:oMath xmlns:m="http://schemas.openxmlformats.org/officeDocument/2006/math">
                    <m:r>
                      <a:rPr lang="en-US" i="1" smtClean="0">
                        <a:latin typeface="Cambria Math" panose="02040503050406030204" pitchFamily="18" charset="0"/>
                      </a:rPr>
                      <m:t>𝜇</m:t>
                    </m:r>
                  </m:oMath>
                </a14:m>
                <a:r>
                  <a:rPr lang="en-US" dirty="0"/>
                  <a:t> (we called this </a:t>
                </a:r>
                <a14:m>
                  <m:oMath xmlns:m="http://schemas.openxmlformats.org/officeDocument/2006/math">
                    <m:r>
                      <a:rPr lang="en-US" b="0" i="1" smtClean="0">
                        <a:latin typeface="Cambria Math" panose="02040503050406030204" pitchFamily="18" charset="0"/>
                      </a:rPr>
                      <m:t>𝜃</m:t>
                    </m:r>
                  </m:oMath>
                </a14:m>
                <a:r>
                  <a:rPr lang="en-US" dirty="0"/>
                  <a:t> in point estimation)</a:t>
                </a:r>
              </a:p>
              <a:p>
                <a:r>
                  <a:rPr lang="en-US" dirty="0"/>
                  <a:t>Again, the data is a collection of n samples</a:t>
                </a:r>
              </a:p>
              <a:p>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d>
                  </m:oMath>
                </a14:m>
                <a:endParaRPr lang="en-US" b="0" dirty="0"/>
              </a:p>
              <a:p>
                <a:r>
                  <a:rPr lang="en-US" dirty="0"/>
                  <a:t>The problem is to determine if a hypothesis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is accepted (the null hypothesis)</a:t>
                </a:r>
              </a:p>
              <a:p>
                <a:r>
                  <a:rPr lang="en-US" dirty="0"/>
                  <a:t>When we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we say that the alternative hypothesis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dirty="0"/>
                  <a:t> is accepted</a:t>
                </a:r>
              </a:p>
              <a:p>
                <a:endParaRPr lang="en-US" dirty="0"/>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r="-58"/>
                </a:stretch>
              </a:blipFill>
            </p:spPr>
            <p:txBody>
              <a:bodyPr/>
              <a:lstStyle/>
              <a:p>
                <a:r>
                  <a:rPr lang="en-US">
                    <a:noFill/>
                  </a:rPr>
                  <a:t> </a:t>
                </a:r>
              </a:p>
            </p:txBody>
          </p:sp>
        </mc:Fallback>
      </mc:AlternateContent>
    </p:spTree>
    <p:extLst>
      <p:ext uri="{BB962C8B-B14F-4D97-AF65-F5344CB8AC3E}">
        <p14:creationId xmlns:p14="http://schemas.microsoft.com/office/powerpoint/2010/main" val="60870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lstStyle/>
              <a:p>
                <a:r>
                  <a:rPr lang="en-US" dirty="0"/>
                  <a:t>Suppose we want to test null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endParaRPr lang="en-US" dirty="0"/>
              </a:p>
              <a:p>
                <a:r>
                  <a:rPr lang="en-US" dirty="0"/>
                  <a:t>An example solution is as follows</a:t>
                </a:r>
              </a:p>
              <a:p>
                <a:r>
                  <a:rPr lang="en-US" dirty="0"/>
                  <a:t>Define a significance </a:t>
                </a:r>
                <a14:m>
                  <m:oMath xmlns:m="http://schemas.openxmlformats.org/officeDocument/2006/math">
                    <m:r>
                      <a:rPr lang="en-US" b="0" i="1" smtClean="0">
                        <a:latin typeface="Cambria Math" panose="02040503050406030204" pitchFamily="18" charset="0"/>
                      </a:rPr>
                      <m:t>𝛼</m:t>
                    </m:r>
                  </m:oMath>
                </a14:m>
                <a:r>
                  <a:rPr lang="en-US" dirty="0"/>
                  <a:t>, for example 5%</a:t>
                </a:r>
              </a:p>
              <a:p>
                <a:r>
                  <a:rPr lang="en-US" dirty="0"/>
                  <a:t>If the null hypothesis is true, the probability of finding a sample mean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decreases as we consider values smaller than </a:t>
                </a:r>
                <a14:m>
                  <m:oMath xmlns:m="http://schemas.openxmlformats.org/officeDocument/2006/math">
                    <m:r>
                      <a:rPr lang="en-US" b="0" i="1" dirty="0" smtClean="0">
                        <a:latin typeface="Cambria Math" panose="02040503050406030204" pitchFamily="18" charset="0"/>
                      </a:rPr>
                      <m:t>𝜇</m:t>
                    </m:r>
                  </m:oMath>
                </a14:m>
                <a:endParaRPr lang="en-US" dirty="0"/>
              </a:p>
              <a:p>
                <a:r>
                  <a:rPr lang="en-US" dirty="0"/>
                  <a:t>Find a constant (called a critical value) such that                             P(</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𝑋</m:t>
                        </m:r>
                      </m:e>
                    </m:acc>
                  </m:oMath>
                </a14:m>
                <a:r>
                  <a:rPr lang="en-US" dirty="0"/>
                  <a:t>&lt;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𝑐</m:t>
                    </m:r>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en-US" dirty="0"/>
              </a:p>
              <a:p>
                <a:r>
                  <a:rPr lang="en-US" dirty="0"/>
                  <a:t>This means, that if the null hypothesis is true, the probability of getting a sample mean c or more to the left of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𝜇</m:t>
                        </m:r>
                      </m:e>
                      <m:sub>
                        <m:r>
                          <a:rPr lang="en-US" b="0" i="1" dirty="0" smtClean="0">
                            <a:latin typeface="Cambria Math" panose="02040503050406030204" pitchFamily="18" charset="0"/>
                          </a:rPr>
                          <m:t>0</m:t>
                        </m:r>
                      </m:sub>
                    </m:sSub>
                  </m:oMath>
                </a14:m>
                <a:r>
                  <a:rPr lang="en-US" dirty="0"/>
                  <a:t> is </a:t>
                </a:r>
                <a14:m>
                  <m:oMath xmlns:m="http://schemas.openxmlformats.org/officeDocument/2006/math">
                    <m:r>
                      <a:rPr lang="en-US" b="0" i="1" dirty="0" smtClean="0">
                        <a:latin typeface="Cambria Math" panose="02040503050406030204" pitchFamily="18" charset="0"/>
                      </a:rPr>
                      <m:t>𝛼</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964982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normAutofit/>
              </a:bodyPr>
              <a:lstStyle/>
              <a:p>
                <a:r>
                  <a:rPr lang="en-US" dirty="0"/>
                  <a:t>P(</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𝑋</m:t>
                        </m:r>
                      </m:e>
                    </m:acc>
                  </m:oMath>
                </a14:m>
                <a:r>
                  <a:rPr lang="en-US" dirty="0"/>
                  <a:t>&lt;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𝑐</m:t>
                    </m:r>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en-US" b="0" dirty="0"/>
              </a:p>
              <a:p>
                <a:r>
                  <a:rPr lang="en-US" dirty="0"/>
                  <a:t>For Z test, the above is rewritten as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r>
                  <a:rPr lang="en-US" b="0" dirty="0"/>
                  <a:t>, or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num>
                          <m:den>
                            <m:f>
                              <m:fPr>
                                <m:type m:val="lin"/>
                                <m:ctrlPr>
                                  <a:rPr lang="en-US" b="0" i="1" smtClean="0">
                                    <a:latin typeface="Cambria Math" panose="02040503050406030204" pitchFamily="18" charset="0"/>
                                  </a:rPr>
                                </m:ctrlPr>
                              </m:fPr>
                              <m:num>
                                <m:r>
                                  <a:rPr lang="en-US" i="1">
                                    <a:latin typeface="Cambria Math" panose="02040503050406030204" pitchFamily="18" charset="0"/>
                                  </a:rPr>
                                  <m:t>𝜎</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den>
                        </m:f>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en-US" dirty="0"/>
              </a:p>
              <a:p>
                <a:r>
                  <a:rPr lang="en-US" b="0" dirty="0"/>
                  <a:t>To perform the test, we observe a sample, and calculate the sample mean </a:t>
                </a:r>
                <a14:m>
                  <m:oMath xmlns:m="http://schemas.openxmlformats.org/officeDocument/2006/math">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𝑥</m:t>
                        </m:r>
                      </m:e>
                    </m:acc>
                  </m:oMath>
                </a14:m>
                <a:r>
                  <a:rPr lang="en-US" b="0" dirty="0"/>
                  <a:t> (or relevant test statistic </a:t>
                </a:r>
                <a14:m>
                  <m:oMath xmlns:m="http://schemas.openxmlformats.org/officeDocument/2006/math">
                    <m:r>
                      <a:rPr lang="en-US" b="0" i="1" smtClean="0">
                        <a:latin typeface="Cambria Math" panose="02040503050406030204" pitchFamily="18" charset="0"/>
                      </a:rPr>
                      <m:t>𝑧</m:t>
                    </m:r>
                  </m:oMath>
                </a14:m>
                <a:r>
                  <a:rPr lang="en-US" b="0" dirty="0"/>
                  <a:t>).</a:t>
                </a:r>
              </a:p>
              <a:p>
                <a:r>
                  <a:rPr lang="en-US" dirty="0"/>
                  <a:t>If </a:t>
                </a:r>
                <a14:m>
                  <m:oMath xmlns:m="http://schemas.openxmlformats.org/officeDocument/2006/math">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0" dirty="0"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𝑐</m:t>
                    </m:r>
                  </m:oMath>
                </a14:m>
                <a:r>
                  <a:rPr lang="en-US" b="0" dirty="0"/>
                  <a:t>  or equivalently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oMath>
                </a14:m>
                <a:r>
                  <a:rPr lang="en-US" b="0" dirty="0"/>
                  <a:t>, we conclude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b="0" dirty="0"/>
                  <a:t> is not likely (we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b="0" dirty="0"/>
                  <a:t>)</a:t>
                </a:r>
              </a:p>
              <a:p>
                <a:r>
                  <a:rPr lang="en-US" dirty="0"/>
                  <a:t>This is because there is only a 5% chance to find a sample           </a:t>
                </a:r>
                <a14:m>
                  <m:oMath xmlns:m="http://schemas.openxmlformats.org/officeDocument/2006/math">
                    <m:r>
                      <m:rPr>
                        <m:sty m:val="p"/>
                      </m:rPr>
                      <a:rPr lang="en-US" b="0" i="0" smtClean="0">
                        <a:latin typeface="Cambria Math" panose="02040503050406030204" pitchFamily="18" charset="0"/>
                      </a:rPr>
                      <m:t>z</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oMath>
                </a14:m>
                <a:r>
                  <a:rPr lang="en-US" b="0" dirty="0"/>
                  <a:t> when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b="0" dirty="0"/>
                  <a:t> is true</a:t>
                </a:r>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b="-2521"/>
                </a:stretch>
              </a:blipFill>
            </p:spPr>
            <p:txBody>
              <a:bodyPr/>
              <a:lstStyle/>
              <a:p>
                <a:r>
                  <a:rPr lang="en-US">
                    <a:noFill/>
                  </a:rPr>
                  <a:t> </a:t>
                </a:r>
              </a:p>
            </p:txBody>
          </p:sp>
        </mc:Fallback>
      </mc:AlternateContent>
    </p:spTree>
    <p:extLst>
      <p:ext uri="{BB962C8B-B14F-4D97-AF65-F5344CB8AC3E}">
        <p14:creationId xmlns:p14="http://schemas.microsoft.com/office/powerpoint/2010/main" val="2974883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normAutofit/>
              </a:bodyPr>
              <a:lstStyle/>
              <a:p>
                <a:r>
                  <a:rPr lang="en-US" b="0"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0" smtClean="0">
                        <a:latin typeface="Cambria Math" panose="02040503050406030204" pitchFamily="18" charset="0"/>
                      </a:rPr>
                      <m:t>−0.0000001</m:t>
                    </m:r>
                  </m:oMath>
                </a14:m>
                <a:endParaRPr lang="en-US" b="0" dirty="0"/>
              </a:p>
              <a:p>
                <a:r>
                  <a:rPr lang="en-US" dirty="0"/>
                  <a:t>Then even if our test says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b="0" dirty="0"/>
                  <a:t> is likely, we may also believe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b="0" dirty="0"/>
                  <a:t> is likely</a:t>
                </a:r>
              </a:p>
              <a:p>
                <a:r>
                  <a:rPr lang="en-US" b="0" dirty="0"/>
                  <a:t>How do we solve this?</a:t>
                </a:r>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235098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normAutofit lnSpcReduction="10000"/>
              </a:bodyPr>
              <a:lstStyle/>
              <a:p>
                <a:r>
                  <a:rPr lang="en-US" b="0"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0" smtClean="0">
                        <a:latin typeface="Cambria Math" panose="02040503050406030204" pitchFamily="18" charset="0"/>
                      </a:rPr>
                      <m:t>−0.0000001</m:t>
                    </m:r>
                  </m:oMath>
                </a14:m>
                <a:endParaRPr lang="en-US" b="0" dirty="0"/>
              </a:p>
              <a:p>
                <a:r>
                  <a:rPr lang="en-US" dirty="0"/>
                  <a:t>We need to create a test of sufficient power</a:t>
                </a:r>
              </a:p>
              <a:p>
                <a:r>
                  <a:rPr lang="en-US" b="0" dirty="0"/>
                  <a:t>Power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accepting</m:t>
                        </m:r>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true</m:t>
                    </m:r>
                    <m:r>
                      <a:rPr lang="en-US" b="0" i="1" smtClean="0">
                        <a:latin typeface="Cambria Math" panose="02040503050406030204" pitchFamily="18" charset="0"/>
                      </a:rPr>
                      <m:t>)</m:t>
                    </m:r>
                  </m:oMath>
                </a14:m>
                <a:endParaRPr lang="en-US" b="0" dirty="0"/>
              </a:p>
              <a:p>
                <a:r>
                  <a:rPr lang="en-US" dirty="0"/>
                  <a:t>To increase power, we need:</a:t>
                </a:r>
              </a:p>
              <a:p>
                <a:pPr lvl="1"/>
                <a:r>
                  <a:rPr lang="en-US" b="0" dirty="0"/>
                  <a:t>Larger sample size</a:t>
                </a:r>
                <a:endParaRPr lang="en-US" dirty="0"/>
              </a:p>
              <a:p>
                <a:pPr lvl="1"/>
                <a:r>
                  <a:rPr lang="en-US" b="0" dirty="0"/>
                  <a:t>Relatively smaller variance</a:t>
                </a:r>
              </a:p>
              <a:p>
                <a:pPr lvl="1"/>
                <a:r>
                  <a:rPr lang="en-US" dirty="0"/>
                  <a:t>Relatively larger difference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b="0"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b="0" i="1" smtClean="0">
                            <a:latin typeface="Cambria Math" panose="02040503050406030204" pitchFamily="18" charset="0"/>
                          </a:rPr>
                          <m:t>1</m:t>
                        </m:r>
                      </m:sub>
                    </m:sSub>
                  </m:oMath>
                </a14:m>
                <a:endParaRPr lang="en-US" dirty="0"/>
              </a:p>
              <a:p>
                <a:r>
                  <a:rPr lang="en-US" b="0" dirty="0"/>
                  <a:t>With large enough sample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accepting</m:t>
                        </m:r>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true</m:t>
                    </m:r>
                    <m:r>
                      <a:rPr lang="en-US" b="0" i="1" smtClean="0">
                        <a:latin typeface="Cambria Math" panose="02040503050406030204" pitchFamily="18" charset="0"/>
                      </a:rPr>
                      <m:t>)</m:t>
                    </m:r>
                  </m:oMath>
                </a14:m>
                <a:r>
                  <a:rPr lang="en-US" b="0" dirty="0"/>
                  <a:t> becomes reasonable (even in our example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a:latin typeface="Cambria Math" panose="02040503050406030204" pitchFamily="18" charset="0"/>
                      </a:rPr>
                      <m:t>−0.0000001</m:t>
                    </m:r>
                    <m:r>
                      <a:rPr lang="en-US" b="0" i="0" smtClean="0">
                        <a:latin typeface="Cambria Math" panose="02040503050406030204" pitchFamily="18" charset="0"/>
                      </a:rPr>
                      <m:t>)</m:t>
                    </m:r>
                  </m:oMath>
                </a14:m>
                <a:endParaRPr lang="en-US" b="0" dirty="0"/>
              </a:p>
              <a:p>
                <a:pPr lvl="1"/>
                <a:endParaRPr lang="en-US" b="0" dirty="0"/>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3627218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4D49-4C63-47AD-9C44-0732CBDF92D3}"/>
              </a:ext>
            </a:extLst>
          </p:cNvPr>
          <p:cNvSpPr>
            <a:spLocks noGrp="1"/>
          </p:cNvSpPr>
          <p:nvPr>
            <p:ph type="title"/>
          </p:nvPr>
        </p:nvSpPr>
        <p:spPr/>
        <p:txBody>
          <a:bodyPr/>
          <a:lstStyle/>
          <a:p>
            <a:r>
              <a:rPr lang="en-US" dirty="0"/>
              <a:t>Classification Models</a:t>
            </a:r>
            <a:br>
              <a:rPr lang="en-US" dirty="0"/>
            </a:br>
            <a:r>
              <a:rPr lang="en-US" dirty="0"/>
              <a:t>-Relationship to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E15B80-0067-A15A-3C1C-66797551061A}"/>
                  </a:ext>
                </a:extLst>
              </p:cNvPr>
              <p:cNvSpPr>
                <a:spLocks noGrp="1"/>
              </p:cNvSpPr>
              <p:nvPr>
                <p:ph idx="1"/>
              </p:nvPr>
            </p:nvSpPr>
            <p:spPr/>
            <p:txBody>
              <a:bodyPr>
                <a:normAutofit fontScale="70000" lnSpcReduction="20000"/>
              </a:bodyPr>
              <a:lstStyle/>
              <a:p>
                <a:r>
                  <a:rPr lang="en-US" dirty="0"/>
                  <a:t>Point Estimation has no general solution</a:t>
                </a:r>
              </a:p>
              <a:p>
                <a:pPr lvl="1"/>
                <a:r>
                  <a:rPr lang="en-US" dirty="0"/>
                  <a:t>Risk Minimization has no general solution</a:t>
                </a:r>
              </a:p>
              <a:p>
                <a:pPr lvl="1"/>
                <a:r>
                  <a:rPr lang="en-US" dirty="0"/>
                  <a:t>For each ground truth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0" smtClean="0">
                        <a:latin typeface="Cambria Math" panose="02040503050406030204" pitchFamily="18" charset="0"/>
                      </a:rPr>
                      <m:t> </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has a different solution</a:t>
                </a:r>
              </a:p>
              <a:p>
                <a:r>
                  <a:rPr lang="en-US" dirty="0"/>
                  <a:t>Classification Risk Minimization has no general solution</a:t>
                </a:r>
              </a:p>
              <a:p>
                <a:pPr lvl="1"/>
                <a:r>
                  <a:rPr lang="en-US" dirty="0"/>
                  <a:t>Classification can be constrained to find the minimum risk given the training data</a:t>
                </a:r>
              </a:p>
              <a:p>
                <a:pPr lvl="1"/>
                <a:r>
                  <a:rPr lang="en-US" dirty="0"/>
                  <a:t>Our loss function no longer depends on </a:t>
                </a:r>
                <a14:m>
                  <m:oMath xmlns:m="http://schemas.openxmlformats.org/officeDocument/2006/math">
                    <m:r>
                      <a:rPr lang="en-US" b="0" i="1" smtClean="0">
                        <a:latin typeface="Cambria Math" panose="02040503050406030204" pitchFamily="18" charset="0"/>
                      </a:rPr>
                      <m:t>𝜃</m:t>
                    </m:r>
                  </m:oMath>
                </a14:m>
                <a:r>
                  <a:rPr lang="en-US" dirty="0"/>
                  <a:t>, but on a sample </a:t>
                </a:r>
                <a14:m>
                  <m:oMath xmlns:m="http://schemas.openxmlformats.org/officeDocument/2006/math">
                    <m:r>
                      <a:rPr lang="en-US" b="0" i="1" smtClean="0">
                        <a:latin typeface="Cambria Math" panose="02040503050406030204" pitchFamily="18" charset="0"/>
                      </a:rPr>
                      <m:t>𝑑</m:t>
                    </m:r>
                  </m:oMath>
                </a14:m>
                <a:r>
                  <a:rPr lang="en-US" dirty="0"/>
                  <a:t> from the distribution </a:t>
                </a:r>
                <a14:m>
                  <m:oMath xmlns:m="http://schemas.openxmlformats.org/officeDocument/2006/math">
                    <m:r>
                      <a:rPr lang="en-US" i="1" dirty="0" smtClean="0">
                        <a:latin typeface="Cambria Math" panose="02040503050406030204" pitchFamily="18" charset="0"/>
                      </a:rPr>
                      <m:t>𝐷</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𝑌</m:t>
                        </m:r>
                      </m:sub>
                    </m:sSub>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𝜃</m:t>
                    </m:r>
                    <m:r>
                      <a:rPr lang="en-US" b="0" i="1" dirty="0" smtClean="0">
                        <a:latin typeface="Cambria Math" panose="02040503050406030204" pitchFamily="18" charset="0"/>
                      </a:rPr>
                      <m:t>)</m:t>
                    </m:r>
                  </m:oMath>
                </a14:m>
                <a:endParaRPr lang="en-US" i="1" dirty="0"/>
              </a:p>
              <a:p>
                <a:pPr lvl="1"/>
                <a:r>
                  <a:rPr lang="en-US" dirty="0"/>
                  <a:t>We no longer minimize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0" smtClean="0">
                        <a:latin typeface="Cambria Math" panose="02040503050406030204" pitchFamily="18" charset="0"/>
                      </a:rPr>
                      <m:t> </m:t>
                    </m:r>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smtClean="0">
                                    <a:latin typeface="Cambria Math" panose="02040503050406030204" pitchFamily="18" charset="0"/>
                                  </a:rPr>
                                  <m:t>𝜃</m:t>
                                </m:r>
                              </m:e>
                            </m:acc>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e>
                        </m:d>
                      </m:e>
                    </m:d>
                  </m:oMath>
                </a14:m>
                <a:r>
                  <a:rPr lang="en-US" dirty="0"/>
                  <a:t>, but only minimize the loss for a given sample </a:t>
                </a:r>
                <a14:m>
                  <m:oMath xmlns:m="http://schemas.openxmlformats.org/officeDocument/2006/math">
                    <m:r>
                      <a:rPr lang="en-US" i="1">
                        <a:latin typeface="Cambria Math" panose="02040503050406030204" pitchFamily="18" charset="0"/>
                      </a:rPr>
                      <m:t>𝑑</m:t>
                    </m:r>
                  </m:oMath>
                </a14:m>
                <a:r>
                  <a:rPr lang="en-US" dirty="0"/>
                  <a:t> of the distribution of the data </a:t>
                </a:r>
                <a14:m>
                  <m:oMath xmlns:m="http://schemas.openxmlformats.org/officeDocument/2006/math">
                    <m:r>
                      <m:rPr>
                        <m:sty m:val="p"/>
                      </m:rPr>
                      <a:rPr lang="en-US" dirty="0">
                        <a:latin typeface="Cambria Math" panose="02040503050406030204" pitchFamily="18" charset="0"/>
                      </a:rPr>
                      <m:t>D</m:t>
                    </m:r>
                  </m:oMath>
                </a14:m>
                <a:r>
                  <a:rPr lang="en-US" dirty="0"/>
                  <a:t>, where </a:t>
                </a:r>
                <a14:m>
                  <m:oMath xmlns:m="http://schemas.openxmlformats.org/officeDocument/2006/math">
                    <m:r>
                      <a:rPr lang="en-US" i="1">
                        <a:latin typeface="Cambria Math" panose="02040503050406030204" pitchFamily="18" charset="0"/>
                      </a:rPr>
                      <m:t>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𝑡𝑟𝑎𝑖𝑛</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𝑡𝑟𝑎𝑖𝑛</m:t>
                        </m:r>
                      </m:sub>
                    </m:sSub>
                  </m:oMath>
                </a14:m>
                <a:endParaRPr lang="en-US" dirty="0"/>
              </a:p>
              <a:p>
                <a:pPr lvl="1"/>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𝑑</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𝑙</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𝑌</m:t>
                        </m:r>
                      </m:e>
                      <m:sub>
                        <m:r>
                          <a:rPr lang="en-US" b="0" i="1" smtClean="0">
                            <a:latin typeface="Cambria Math" panose="02040503050406030204" pitchFamily="18" charset="0"/>
                          </a:rPr>
                          <m:t>𝑡𝑟𝑎𝑖𝑛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𝑡𝑟𝑎𝑖𝑛</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oMath>
                </a14:m>
                <a:endParaRPr lang="en-US" b="0" dirty="0"/>
              </a:p>
              <a:p>
                <a:pPr lvl="1"/>
                <a:r>
                  <a:rPr lang="en-US" b="0" dirty="0"/>
                  <a:t>We are modeling the conditional distribution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𝑡𝑟𝑎𝑖𝑛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𝑡𝑟𝑎𝑖𝑛</m:t>
                            </m:r>
                          </m:sub>
                        </m:sSub>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𝑡𝑟𝑎𝑖𝑛</m:t>
                        </m:r>
                      </m:sub>
                    </m:sSub>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smtClean="0">
                            <a:latin typeface="Cambria Math" panose="02040503050406030204" pitchFamily="18" charset="0"/>
                          </a:rPr>
                          <m:t>𝑥</m:t>
                        </m:r>
                      </m:e>
                      <m:sub>
                        <m:r>
                          <a:rPr lang="en-US" i="1">
                            <a:latin typeface="Cambria Math" panose="02040503050406030204" pitchFamily="18" charset="0"/>
                          </a:rPr>
                          <m:t>𝑡𝑟𝑎𝑖𝑛</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𝑡𝑟𝑎𝑖𝑛</m:t>
                        </m:r>
                      </m:sub>
                    </m:sSub>
                  </m:oMath>
                </a14:m>
                <a:r>
                  <a:rPr lang="en-US" dirty="0"/>
                  <a:t> is a random variable, which is a vector of probabilities (a predicted probability for each label)</a:t>
                </a:r>
              </a:p>
              <a:p>
                <a:pPr lvl="1"/>
                <a:r>
                  <a:rPr lang="en-US" dirty="0"/>
                  <a:t>There is no algorithm to find the global minimum of the network parameter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r>
                  <a:rPr lang="en-US" dirty="0"/>
                  <a:t> (weights), no best solution can be found for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𝑙</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𝑌</m:t>
                        </m:r>
                      </m:e>
                      <m:sub>
                        <m:r>
                          <a:rPr lang="en-US" i="1">
                            <a:latin typeface="Cambria Math" panose="02040503050406030204" pitchFamily="18" charset="0"/>
                          </a:rPr>
                          <m:t>𝑡𝑟𝑎𝑖𝑛</m:t>
                        </m:r>
                      </m:sub>
                    </m:sSub>
                    <m:d>
                      <m:dPr>
                        <m:ctrlPr>
                          <a:rPr lang="en-US" i="1">
                            <a:latin typeface="Cambria Math" panose="02040503050406030204" pitchFamily="18" charset="0"/>
                          </a:rPr>
                        </m:ctrlPr>
                      </m:dPr>
                      <m:e>
                        <m:r>
                          <a:rPr lang="en-US" i="1">
                            <a:latin typeface="Cambria Math" panose="02040503050406030204" pitchFamily="18" charset="0"/>
                          </a:rPr>
                          <m:t>𝜃</m:t>
                        </m:r>
                      </m:e>
                    </m:d>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𝑌</m:t>
                            </m:r>
                          </m:e>
                        </m:acc>
                      </m:e>
                      <m:sub>
                        <m:r>
                          <a:rPr lang="en-US" i="1">
                            <a:latin typeface="Cambria Math" panose="02040503050406030204" pitchFamily="18" charset="0"/>
                          </a:rPr>
                          <m:t>𝑡𝑟𝑎𝑖𝑛</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oMath>
                </a14:m>
                <a:endParaRPr lang="en-US" b="0" dirty="0"/>
              </a:p>
              <a:p>
                <a:pPr lvl="1"/>
                <a:r>
                  <a:rPr lang="en-US" dirty="0"/>
                  <a:t>Because we constrained the Risk to a given sample, a solution may exist, called a global minimum</a:t>
                </a:r>
              </a:p>
              <a:p>
                <a:pPr lvl="1"/>
                <a:r>
                  <a:rPr lang="en-US" dirty="0"/>
                  <a:t>Optimization problem complexity prohibits finding a global minimum solution</a:t>
                </a:r>
              </a:p>
            </p:txBody>
          </p:sp>
        </mc:Choice>
        <mc:Fallback xmlns="">
          <p:sp>
            <p:nvSpPr>
              <p:cNvPr id="3" name="Content Placeholder 2">
                <a:extLst>
                  <a:ext uri="{FF2B5EF4-FFF2-40B4-BE49-F238E27FC236}">
                    <a16:creationId xmlns:a16="http://schemas.microsoft.com/office/drawing/2014/main" id="{54E15B80-0067-A15A-3C1C-66797551061A}"/>
                  </a:ext>
                </a:extLst>
              </p:cNvPr>
              <p:cNvSpPr>
                <a:spLocks noGrp="1" noRot="1" noChangeAspect="1" noMove="1" noResize="1" noEditPoints="1" noAdjustHandles="1" noChangeArrowheads="1" noChangeShapeType="1" noTextEdit="1"/>
              </p:cNvSpPr>
              <p:nvPr>
                <p:ph idx="1"/>
              </p:nvPr>
            </p:nvSpPr>
            <p:spPr>
              <a:blipFill>
                <a:blip r:embed="rId2"/>
                <a:stretch>
                  <a:fillRect l="-522" t="-2381"/>
                </a:stretch>
              </a:blipFill>
            </p:spPr>
            <p:txBody>
              <a:bodyPr/>
              <a:lstStyle/>
              <a:p>
                <a:r>
                  <a:rPr lang="en-US">
                    <a:noFill/>
                  </a:rPr>
                  <a:t> </a:t>
                </a:r>
              </a:p>
            </p:txBody>
          </p:sp>
        </mc:Fallback>
      </mc:AlternateContent>
    </p:spTree>
    <p:extLst>
      <p:ext uri="{BB962C8B-B14F-4D97-AF65-F5344CB8AC3E}">
        <p14:creationId xmlns:p14="http://schemas.microsoft.com/office/powerpoint/2010/main" val="633899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AE1E-573C-5E3C-9425-4F09EF882F24}"/>
              </a:ext>
            </a:extLst>
          </p:cNvPr>
          <p:cNvSpPr>
            <a:spLocks noGrp="1"/>
          </p:cNvSpPr>
          <p:nvPr>
            <p:ph type="title"/>
          </p:nvPr>
        </p:nvSpPr>
        <p:spPr/>
        <p:txBody>
          <a:bodyPr/>
          <a:lstStyle/>
          <a:p>
            <a:r>
              <a:rPr lang="en-US" dirty="0"/>
              <a:t>Classification Models</a:t>
            </a:r>
            <a:br>
              <a:rPr lang="en-US" dirty="0"/>
            </a:br>
            <a:r>
              <a:rPr lang="en-US" dirty="0"/>
              <a:t>-Relationship to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378535-EEA6-7D72-98E8-FDD4C1FC5642}"/>
                  </a:ext>
                </a:extLst>
              </p:cNvPr>
              <p:cNvSpPr>
                <a:spLocks noGrp="1"/>
              </p:cNvSpPr>
              <p:nvPr>
                <p:ph idx="1"/>
              </p:nvPr>
            </p:nvSpPr>
            <p:spPr/>
            <p:txBody>
              <a:bodyPr>
                <a:normAutofit/>
              </a:bodyPr>
              <a:lstStyle/>
              <a:p>
                <a:r>
                  <a:rPr lang="en-US" dirty="0"/>
                  <a:t>Confusion Matrix interpretation for Hypothesis Testing</a:t>
                </a:r>
              </a:p>
              <a:p>
                <a14:m>
                  <m:oMath xmlns:m="http://schemas.openxmlformats.org/officeDocument/2006/math">
                    <m:r>
                      <a:rPr lang="en-US" b="0" i="1" smtClean="0">
                        <a:latin typeface="Cambria Math" panose="02040503050406030204" pitchFamily="18" charset="0"/>
                      </a:rPr>
                      <m:t>𝛼</m:t>
                    </m:r>
                  </m:oMath>
                </a14:m>
                <a:r>
                  <a:rPr lang="en-US" dirty="0"/>
                  <a:t> is defined as the probability of accepting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dirty="0"/>
                  <a:t> given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i="1">
                            <a:latin typeface="Cambria Math" panose="02040503050406030204" pitchFamily="18" charset="0"/>
                          </a:rPr>
                          <m:t>0</m:t>
                        </m:r>
                      </m:sub>
                    </m:sSub>
                  </m:oMath>
                </a14:m>
                <a:r>
                  <a:rPr lang="en-US" dirty="0"/>
                  <a:t> is true  (Type I error)</a:t>
                </a:r>
              </a:p>
              <a:p>
                <a:r>
                  <a:rPr lang="en-US" dirty="0"/>
                  <a:t>Power is defined as probability of accepting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dirty="0"/>
                  <a:t> given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a14:m>
                <a:r>
                  <a:rPr lang="en-US" dirty="0"/>
                  <a:t> is true</a:t>
                </a:r>
              </a:p>
              <a:p>
                <a14:m>
                  <m:oMath xmlns:m="http://schemas.openxmlformats.org/officeDocument/2006/math">
                    <m:r>
                      <a:rPr lang="en-US" i="1" smtClean="0">
                        <a:latin typeface="Cambria Math" panose="02040503050406030204" pitchFamily="18" charset="0"/>
                      </a:rPr>
                      <m:t>𝛽</m:t>
                    </m:r>
                  </m:oMath>
                </a14:m>
                <a:r>
                  <a:rPr lang="en-US" dirty="0"/>
                  <a:t> is defined as probability of accepting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0</m:t>
                        </m:r>
                      </m:sub>
                    </m:sSub>
                  </m:oMath>
                </a14:m>
                <a:r>
                  <a:rPr lang="en-US" dirty="0"/>
                  <a:t> given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1</m:t>
                        </m:r>
                      </m:sub>
                    </m:sSub>
                  </m:oMath>
                </a14:m>
                <a:r>
                  <a:rPr lang="en-US" dirty="0"/>
                  <a:t> is true         (Type II error)</a:t>
                </a:r>
              </a:p>
              <a:p>
                <a:r>
                  <a:rPr lang="en-US" dirty="0"/>
                  <a:t>Therefore Power = </a:t>
                </a:r>
                <a14:m>
                  <m:oMath xmlns:m="http://schemas.openxmlformats.org/officeDocument/2006/math">
                    <m:r>
                      <a:rPr lang="en-US" b="0" i="0" smtClean="0">
                        <a:latin typeface="Cambria Math" panose="02040503050406030204" pitchFamily="18" charset="0"/>
                      </a:rPr>
                      <m:t>1−</m:t>
                    </m:r>
                    <m:r>
                      <a:rPr lang="en-US" i="1" smtClean="0">
                        <a:latin typeface="Cambria Math" panose="02040503050406030204" pitchFamily="18" charset="0"/>
                      </a:rPr>
                      <m:t>𝛽</m:t>
                    </m:r>
                  </m:oMath>
                </a14:m>
                <a:endParaRPr lang="en-US" dirty="0">
                  <a:solidFill>
                    <a:schemeClr val="bg1"/>
                  </a:solidFill>
                </a:endParaRPr>
              </a:p>
            </p:txBody>
          </p:sp>
        </mc:Choice>
        <mc:Fallback xmlns="">
          <p:sp>
            <p:nvSpPr>
              <p:cNvPr id="3" name="Content Placeholder 2">
                <a:extLst>
                  <a:ext uri="{FF2B5EF4-FFF2-40B4-BE49-F238E27FC236}">
                    <a16:creationId xmlns:a16="http://schemas.microsoft.com/office/drawing/2014/main" id="{9D378535-EEA6-7D72-98E8-FDD4C1FC5642}"/>
                  </a:ext>
                </a:extLst>
              </p:cNvPr>
              <p:cNvSpPr>
                <a:spLocks noGrp="1" noRot="1" noChangeAspect="1" noMove="1" noResize="1" noEditPoints="1" noAdjustHandles="1" noChangeArrowheads="1" noChangeShapeType="1" noTextEdit="1"/>
              </p:cNvSpPr>
              <p:nvPr>
                <p:ph idx="1"/>
              </p:nvPr>
            </p:nvSpPr>
            <p:spPr>
              <a:blipFill>
                <a:blip r:embed="rId2"/>
                <a:stretch>
                  <a:fillRect l="-1043" t="-2381" r="-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684805898"/>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39293">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m:oMathPara>
                          </a14:m>
                          <a:endParaRPr lang="en-US" dirty="0"/>
                        </a:p>
                      </a:txBody>
                      <a:tcPr/>
                    </a:tc>
                    <a:extLst>
                      <a:ext uri="{0D108BD9-81ED-4DB2-BD59-A6C34878D82A}">
                        <a16:rowId xmlns:a16="http://schemas.microsoft.com/office/drawing/2014/main" val="3313701945"/>
                      </a:ext>
                    </a:extLst>
                  </a:tr>
                  <a:tr h="346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1097353897"/>
                      </a:ext>
                    </a:extLst>
                  </a:tr>
                  <a:tr h="524374">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3116982945"/>
                      </a:ext>
                    </a:extLst>
                  </a:tr>
                </a:tbl>
              </a:graphicData>
            </a:graphic>
          </p:graphicFrame>
        </mc:Choice>
        <mc:Fallback xmlns="">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684805898"/>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1613" t="-1639" r="-102419" b="-245902"/>
                          </a:stretch>
                        </a:blipFill>
                      </a:tcPr>
                    </a:tc>
                    <a:tc>
                      <a:txBody>
                        <a:bodyPr/>
                        <a:lstStyle/>
                        <a:p>
                          <a:endParaRPr lang="en-US"/>
                        </a:p>
                      </a:txBody>
                      <a:tcPr>
                        <a:blipFill>
                          <a:blip r:embed="rId3"/>
                          <a:stretch>
                            <a:fillRect l="-200000" t="-1639" r="-1600" b="-245902"/>
                          </a:stretch>
                        </a:blipFill>
                      </a:tcPr>
                    </a:tc>
                    <a:extLst>
                      <a:ext uri="{0D108BD9-81ED-4DB2-BD59-A6C34878D82A}">
                        <a16:rowId xmlns:a16="http://schemas.microsoft.com/office/drawing/2014/main" val="3313701945"/>
                      </a:ext>
                    </a:extLst>
                  </a:tr>
                  <a:tr h="373126">
                    <a:tc>
                      <a:txBody>
                        <a:bodyPr/>
                        <a:lstStyle/>
                        <a:p>
                          <a:endParaRPr lang="en-US"/>
                        </a:p>
                      </a:txBody>
                      <a:tcPr>
                        <a:blipFill>
                          <a:blip r:embed="rId3"/>
                          <a:stretch>
                            <a:fillRect l="-800" t="-101639" r="-200800" b="-145902"/>
                          </a:stretch>
                        </a:blipFill>
                      </a:tcPr>
                    </a:tc>
                    <a:tc>
                      <a:txBody>
                        <a:bodyPr/>
                        <a:lstStyle/>
                        <a:p>
                          <a:endParaRPr lang="en-US"/>
                        </a:p>
                      </a:txBody>
                      <a:tcPr>
                        <a:blipFill>
                          <a:blip r:embed="rId3"/>
                          <a:stretch>
                            <a:fillRect l="-101613" t="-101639" r="-102419" b="-145902"/>
                          </a:stretch>
                        </a:blipFill>
                      </a:tcPr>
                    </a:tc>
                    <a:tc>
                      <a:txBody>
                        <a:bodyPr/>
                        <a:lstStyle/>
                        <a:p>
                          <a:endParaRPr lang="en-US"/>
                        </a:p>
                      </a:txBody>
                      <a:tcPr>
                        <a:blipFill>
                          <a:blip r:embed="rId3"/>
                          <a:stretch>
                            <a:fillRect l="-200000" t="-101639" r="-1600" b="-145902"/>
                          </a:stretch>
                        </a:blipFill>
                      </a:tcPr>
                    </a:tc>
                    <a:extLst>
                      <a:ext uri="{0D108BD9-81ED-4DB2-BD59-A6C34878D82A}">
                        <a16:rowId xmlns:a16="http://schemas.microsoft.com/office/drawing/2014/main" val="1097353897"/>
                      </a:ext>
                    </a:extLst>
                  </a:tr>
                  <a:tr h="524374">
                    <a:tc>
                      <a:txBody>
                        <a:bodyPr/>
                        <a:lstStyle/>
                        <a:p>
                          <a:endParaRPr lang="en-US"/>
                        </a:p>
                      </a:txBody>
                      <a:tcPr>
                        <a:blipFill>
                          <a:blip r:embed="rId3"/>
                          <a:stretch>
                            <a:fillRect l="-800" t="-141379" r="-200800" b="-2299"/>
                          </a:stretch>
                        </a:blipFill>
                      </a:tcPr>
                    </a:tc>
                    <a:tc>
                      <a:txBody>
                        <a:bodyPr/>
                        <a:lstStyle/>
                        <a:p>
                          <a:endParaRPr lang="en-US"/>
                        </a:p>
                      </a:txBody>
                      <a:tcPr>
                        <a:blipFill>
                          <a:blip r:embed="rId3"/>
                          <a:stretch>
                            <a:fillRect l="-101613" t="-141379" r="-102419" b="-2299"/>
                          </a:stretch>
                        </a:blipFill>
                      </a:tcPr>
                    </a:tc>
                    <a:tc>
                      <a:txBody>
                        <a:bodyPr/>
                        <a:lstStyle/>
                        <a:p>
                          <a:endParaRPr lang="en-US"/>
                        </a:p>
                      </a:txBody>
                      <a:tcPr>
                        <a:blipFill>
                          <a:blip r:embed="rId3"/>
                          <a:stretch>
                            <a:fillRect l="-200000" t="-141379" r="-1600" b="-2299"/>
                          </a:stretch>
                        </a:blipFill>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4059522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AE1E-573C-5E3C-9425-4F09EF882F24}"/>
              </a:ext>
            </a:extLst>
          </p:cNvPr>
          <p:cNvSpPr>
            <a:spLocks noGrp="1"/>
          </p:cNvSpPr>
          <p:nvPr>
            <p:ph type="title"/>
          </p:nvPr>
        </p:nvSpPr>
        <p:spPr/>
        <p:txBody>
          <a:bodyPr/>
          <a:lstStyle/>
          <a:p>
            <a:r>
              <a:rPr lang="en-US" dirty="0"/>
              <a:t>Classification Models</a:t>
            </a:r>
            <a:br>
              <a:rPr lang="en-US" dirty="0"/>
            </a:br>
            <a:r>
              <a:rPr lang="en-US" dirty="0"/>
              <a:t>-Relationship to Hypothesis Testing</a:t>
            </a:r>
          </a:p>
        </p:txBody>
      </p:sp>
      <p:sp>
        <p:nvSpPr>
          <p:cNvPr id="3" name="Content Placeholder 2">
            <a:extLst>
              <a:ext uri="{FF2B5EF4-FFF2-40B4-BE49-F238E27FC236}">
                <a16:creationId xmlns:a16="http://schemas.microsoft.com/office/drawing/2014/main" id="{9D378535-EEA6-7D72-98E8-FDD4C1FC5642}"/>
              </a:ext>
            </a:extLst>
          </p:cNvPr>
          <p:cNvSpPr>
            <a:spLocks noGrp="1"/>
          </p:cNvSpPr>
          <p:nvPr>
            <p:ph idx="1"/>
          </p:nvPr>
        </p:nvSpPr>
        <p:spPr/>
        <p:txBody>
          <a:bodyPr>
            <a:normAutofit/>
          </a:bodyPr>
          <a:lstStyle/>
          <a:p>
            <a:r>
              <a:rPr lang="en-US" dirty="0"/>
              <a:t>Confusion Matrix interpretation for Hypothesis Testing and Classification Models</a:t>
            </a:r>
          </a:p>
          <a:p>
            <a:r>
              <a:rPr lang="en-US" dirty="0"/>
              <a:t>Confusion matrix in both paradigms represents Prediction on the Left and Ground Truth on the Top</a:t>
            </a:r>
          </a:p>
          <a:p>
            <a:r>
              <a:rPr lang="en-US" dirty="0"/>
              <a:t>Can be extended to multiple classes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1504511798"/>
                  </p:ext>
                </p:extLst>
              </p:nvPr>
            </p:nvGraphicFramePr>
            <p:xfrm>
              <a:off x="5113686" y="5298058"/>
              <a:ext cx="2273682" cy="1255894"/>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39293">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a:txBody>
                      <a:tcPr/>
                    </a:tc>
                    <a:extLst>
                      <a:ext uri="{0D108BD9-81ED-4DB2-BD59-A6C34878D82A}">
                        <a16:rowId xmlns:a16="http://schemas.microsoft.com/office/drawing/2014/main" val="3313701945"/>
                      </a:ext>
                    </a:extLst>
                  </a:tr>
                  <a:tr h="346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1097353897"/>
                      </a:ext>
                    </a:extLst>
                  </a:tr>
                  <a:tr h="524374">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3116982945"/>
                      </a:ext>
                    </a:extLst>
                  </a:tr>
                </a:tbl>
              </a:graphicData>
            </a:graphic>
          </p:graphicFrame>
        </mc:Choice>
        <mc:Fallback xmlns="">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1504511798"/>
                  </p:ext>
                </p:extLst>
              </p:nvPr>
            </p:nvGraphicFramePr>
            <p:xfrm>
              <a:off x="5113686" y="5298058"/>
              <a:ext cx="2273682" cy="1255894"/>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2"/>
                          <a:stretch>
                            <a:fillRect l="-101613" t="-1667" r="-102419" b="-248333"/>
                          </a:stretch>
                        </a:blipFill>
                      </a:tcPr>
                    </a:tc>
                    <a:tc>
                      <a:txBody>
                        <a:bodyPr/>
                        <a:lstStyle/>
                        <a:p>
                          <a:endParaRPr lang="en-US"/>
                        </a:p>
                      </a:txBody>
                      <a:tcPr>
                        <a:blipFill>
                          <a:blip r:embed="rId2"/>
                          <a:stretch>
                            <a:fillRect l="-200000" t="-1667" r="-1600" b="-248333"/>
                          </a:stretch>
                        </a:blipFill>
                      </a:tcPr>
                    </a:tc>
                    <a:extLst>
                      <a:ext uri="{0D108BD9-81ED-4DB2-BD59-A6C34878D82A}">
                        <a16:rowId xmlns:a16="http://schemas.microsoft.com/office/drawing/2014/main" val="3313701945"/>
                      </a:ext>
                    </a:extLst>
                  </a:tr>
                  <a:tr h="365760">
                    <a:tc>
                      <a:txBody>
                        <a:bodyPr/>
                        <a:lstStyle/>
                        <a:p>
                          <a:endParaRPr lang="en-US"/>
                        </a:p>
                      </a:txBody>
                      <a:tcPr>
                        <a:blipFill>
                          <a:blip r:embed="rId2"/>
                          <a:stretch>
                            <a:fillRect l="-800" t="-100000" r="-200800" b="-144262"/>
                          </a:stretch>
                        </a:blipFill>
                      </a:tcPr>
                    </a:tc>
                    <a:tc>
                      <a:txBody>
                        <a:bodyPr/>
                        <a:lstStyle/>
                        <a:p>
                          <a:endParaRPr lang="en-US"/>
                        </a:p>
                      </a:txBody>
                      <a:tcPr>
                        <a:blipFill>
                          <a:blip r:embed="rId2"/>
                          <a:stretch>
                            <a:fillRect l="-101613" t="-100000" r="-102419" b="-144262"/>
                          </a:stretch>
                        </a:blipFill>
                      </a:tcPr>
                    </a:tc>
                    <a:tc>
                      <a:txBody>
                        <a:bodyPr/>
                        <a:lstStyle/>
                        <a:p>
                          <a:endParaRPr lang="en-US"/>
                        </a:p>
                      </a:txBody>
                      <a:tcPr>
                        <a:blipFill>
                          <a:blip r:embed="rId2"/>
                          <a:stretch>
                            <a:fillRect l="-200000" t="-100000" r="-1600" b="-144262"/>
                          </a:stretch>
                        </a:blipFill>
                      </a:tcPr>
                    </a:tc>
                    <a:extLst>
                      <a:ext uri="{0D108BD9-81ED-4DB2-BD59-A6C34878D82A}">
                        <a16:rowId xmlns:a16="http://schemas.microsoft.com/office/drawing/2014/main" val="1097353897"/>
                      </a:ext>
                    </a:extLst>
                  </a:tr>
                  <a:tr h="524374">
                    <a:tc>
                      <a:txBody>
                        <a:bodyPr/>
                        <a:lstStyle/>
                        <a:p>
                          <a:endParaRPr lang="en-US"/>
                        </a:p>
                      </a:txBody>
                      <a:tcPr>
                        <a:blipFill>
                          <a:blip r:embed="rId2"/>
                          <a:stretch>
                            <a:fillRect l="-800" t="-141860" r="-200800" b="-2326"/>
                          </a:stretch>
                        </a:blipFill>
                      </a:tcPr>
                    </a:tc>
                    <a:tc>
                      <a:txBody>
                        <a:bodyPr/>
                        <a:lstStyle/>
                        <a:p>
                          <a:endParaRPr lang="en-US"/>
                        </a:p>
                      </a:txBody>
                      <a:tcPr>
                        <a:blipFill>
                          <a:blip r:embed="rId2"/>
                          <a:stretch>
                            <a:fillRect l="-101613" t="-141860" r="-102419" b="-2326"/>
                          </a:stretch>
                        </a:blipFill>
                      </a:tcPr>
                    </a:tc>
                    <a:tc>
                      <a:txBody>
                        <a:bodyPr/>
                        <a:lstStyle/>
                        <a:p>
                          <a:endParaRPr lang="en-US"/>
                        </a:p>
                      </a:txBody>
                      <a:tcPr>
                        <a:blipFill>
                          <a:blip r:embed="rId2"/>
                          <a:stretch>
                            <a:fillRect l="-200000" t="-141860" r="-1600" b="-2326"/>
                          </a:stretch>
                        </a:blipFill>
                      </a:tcPr>
                    </a:tc>
                    <a:extLst>
                      <a:ext uri="{0D108BD9-81ED-4DB2-BD59-A6C34878D82A}">
                        <a16:rowId xmlns:a16="http://schemas.microsoft.com/office/drawing/2014/main" val="311698294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B4BA9BD-D187-1515-23E7-40971E5AD83A}"/>
                  </a:ext>
                </a:extLst>
              </p:cNvPr>
              <p:cNvGraphicFramePr>
                <a:graphicFrameLocks noGrp="1"/>
              </p:cNvGraphicFramePr>
              <p:nvPr>
                <p:extLst>
                  <p:ext uri="{D42A27DB-BD31-4B8C-83A1-F6EECF244321}">
                    <p14:modId xmlns:p14="http://schemas.microsoft.com/office/powerpoint/2010/main" val="4214427053"/>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39293">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m:oMathPara>
                          </a14:m>
                          <a:endParaRPr lang="en-US" dirty="0"/>
                        </a:p>
                      </a:txBody>
                      <a:tcPr/>
                    </a:tc>
                    <a:extLst>
                      <a:ext uri="{0D108BD9-81ED-4DB2-BD59-A6C34878D82A}">
                        <a16:rowId xmlns:a16="http://schemas.microsoft.com/office/drawing/2014/main" val="3313701945"/>
                      </a:ext>
                    </a:extLst>
                  </a:tr>
                  <a:tr h="346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1097353897"/>
                      </a:ext>
                    </a:extLst>
                  </a:tr>
                  <a:tr h="524374">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3116982945"/>
                      </a:ext>
                    </a:extLst>
                  </a:tr>
                </a:tbl>
              </a:graphicData>
            </a:graphic>
          </p:graphicFrame>
        </mc:Choice>
        <mc:Fallback xmlns="">
          <p:graphicFrame>
            <p:nvGraphicFramePr>
              <p:cNvPr id="6" name="Table 5">
                <a:extLst>
                  <a:ext uri="{FF2B5EF4-FFF2-40B4-BE49-F238E27FC236}">
                    <a16:creationId xmlns:a16="http://schemas.microsoft.com/office/drawing/2014/main" id="{7B4BA9BD-D187-1515-23E7-40971E5AD83A}"/>
                  </a:ext>
                </a:extLst>
              </p:cNvPr>
              <p:cNvGraphicFramePr>
                <a:graphicFrameLocks noGrp="1"/>
              </p:cNvGraphicFramePr>
              <p:nvPr>
                <p:extLst>
                  <p:ext uri="{D42A27DB-BD31-4B8C-83A1-F6EECF244321}">
                    <p14:modId xmlns:p14="http://schemas.microsoft.com/office/powerpoint/2010/main" val="4214427053"/>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1613" t="-1639" r="-102419" b="-245902"/>
                          </a:stretch>
                        </a:blipFill>
                      </a:tcPr>
                    </a:tc>
                    <a:tc>
                      <a:txBody>
                        <a:bodyPr/>
                        <a:lstStyle/>
                        <a:p>
                          <a:endParaRPr lang="en-US"/>
                        </a:p>
                      </a:txBody>
                      <a:tcPr>
                        <a:blipFill>
                          <a:blip r:embed="rId3"/>
                          <a:stretch>
                            <a:fillRect l="-200000" t="-1639" r="-1600" b="-245902"/>
                          </a:stretch>
                        </a:blipFill>
                      </a:tcPr>
                    </a:tc>
                    <a:extLst>
                      <a:ext uri="{0D108BD9-81ED-4DB2-BD59-A6C34878D82A}">
                        <a16:rowId xmlns:a16="http://schemas.microsoft.com/office/drawing/2014/main" val="3313701945"/>
                      </a:ext>
                    </a:extLst>
                  </a:tr>
                  <a:tr h="373126">
                    <a:tc>
                      <a:txBody>
                        <a:bodyPr/>
                        <a:lstStyle/>
                        <a:p>
                          <a:endParaRPr lang="en-US"/>
                        </a:p>
                      </a:txBody>
                      <a:tcPr>
                        <a:blipFill>
                          <a:blip r:embed="rId3"/>
                          <a:stretch>
                            <a:fillRect l="-800" t="-101639" r="-200800" b="-145902"/>
                          </a:stretch>
                        </a:blipFill>
                      </a:tcPr>
                    </a:tc>
                    <a:tc>
                      <a:txBody>
                        <a:bodyPr/>
                        <a:lstStyle/>
                        <a:p>
                          <a:endParaRPr lang="en-US"/>
                        </a:p>
                      </a:txBody>
                      <a:tcPr>
                        <a:blipFill>
                          <a:blip r:embed="rId3"/>
                          <a:stretch>
                            <a:fillRect l="-101613" t="-101639" r="-102419" b="-145902"/>
                          </a:stretch>
                        </a:blipFill>
                      </a:tcPr>
                    </a:tc>
                    <a:tc>
                      <a:txBody>
                        <a:bodyPr/>
                        <a:lstStyle/>
                        <a:p>
                          <a:endParaRPr lang="en-US"/>
                        </a:p>
                      </a:txBody>
                      <a:tcPr>
                        <a:blipFill>
                          <a:blip r:embed="rId3"/>
                          <a:stretch>
                            <a:fillRect l="-200000" t="-101639" r="-1600" b="-145902"/>
                          </a:stretch>
                        </a:blipFill>
                      </a:tcPr>
                    </a:tc>
                    <a:extLst>
                      <a:ext uri="{0D108BD9-81ED-4DB2-BD59-A6C34878D82A}">
                        <a16:rowId xmlns:a16="http://schemas.microsoft.com/office/drawing/2014/main" val="1097353897"/>
                      </a:ext>
                    </a:extLst>
                  </a:tr>
                  <a:tr h="524374">
                    <a:tc>
                      <a:txBody>
                        <a:bodyPr/>
                        <a:lstStyle/>
                        <a:p>
                          <a:endParaRPr lang="en-US"/>
                        </a:p>
                      </a:txBody>
                      <a:tcPr>
                        <a:blipFill>
                          <a:blip r:embed="rId3"/>
                          <a:stretch>
                            <a:fillRect l="-800" t="-141379" r="-200800" b="-2299"/>
                          </a:stretch>
                        </a:blipFill>
                      </a:tcPr>
                    </a:tc>
                    <a:tc>
                      <a:txBody>
                        <a:bodyPr/>
                        <a:lstStyle/>
                        <a:p>
                          <a:endParaRPr lang="en-US"/>
                        </a:p>
                      </a:txBody>
                      <a:tcPr>
                        <a:blipFill>
                          <a:blip r:embed="rId3"/>
                          <a:stretch>
                            <a:fillRect l="-101613" t="-141379" r="-102419" b="-2299"/>
                          </a:stretch>
                        </a:blipFill>
                      </a:tcPr>
                    </a:tc>
                    <a:tc>
                      <a:txBody>
                        <a:bodyPr/>
                        <a:lstStyle/>
                        <a:p>
                          <a:endParaRPr lang="en-US"/>
                        </a:p>
                      </a:txBody>
                      <a:tcPr>
                        <a:blipFill>
                          <a:blip r:embed="rId3"/>
                          <a:stretch>
                            <a:fillRect l="-200000" t="-141379" r="-1600" b="-2299"/>
                          </a:stretch>
                        </a:blipFill>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3853237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13539-4E9F-19F0-01B4-2E25399D0A6B}"/>
              </a:ext>
            </a:extLst>
          </p:cNvPr>
          <p:cNvSpPr>
            <a:spLocks noGrp="1"/>
          </p:cNvSpPr>
          <p:nvPr>
            <p:ph type="title"/>
          </p:nvPr>
        </p:nvSpPr>
        <p:spPr/>
        <p:txBody>
          <a:bodyPr/>
          <a:lstStyle/>
          <a:p>
            <a:r>
              <a:rPr lang="en-US" dirty="0"/>
              <a:t>Classification Metrics for Example Applications​ - Sensitivity and Specificity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6CAC52-123C-DA42-70BB-184E7001E587}"/>
                  </a:ext>
                </a:extLst>
              </p:cNvPr>
              <p:cNvSpPr>
                <a:spLocks noGrp="1"/>
              </p:cNvSpPr>
              <p:nvPr>
                <p:ph idx="1"/>
              </p:nvPr>
            </p:nvSpPr>
            <p:spPr/>
            <p:txBody>
              <a:bodyPr/>
              <a:lstStyle/>
              <a:p>
                <a:r>
                  <a:rPr lang="en-US" dirty="0"/>
                  <a:t>Like DSP filtering</a:t>
                </a:r>
              </a:p>
              <a:p>
                <a:r>
                  <a:rPr lang="en-US" dirty="0"/>
                  <a:t>When we design a filter, we are trying to be specific, keeping only information in frequencies that we are interested in</a:t>
                </a:r>
              </a:p>
              <a:p>
                <a:r>
                  <a:rPr lang="en-US" dirty="0"/>
                  <a:t>If a signal has information in abnormal regions, our filter may miss that signal (it is not sensitive to signals that appear to be noise)</a:t>
                </a:r>
              </a:p>
              <a:p>
                <a:r>
                  <a:rPr lang="en-US" dirty="0"/>
                  <a:t>Specificity </a:t>
                </a:r>
                <a14:m>
                  <m:oMath xmlns:m="http://schemas.openxmlformats.org/officeDocument/2006/math">
                    <m:r>
                      <m:rPr>
                        <m:sty m:val="p"/>
                      </m:rPr>
                      <a:rPr lang="en-US" b="0" i="0" smtClean="0">
                        <a:latin typeface="Cambria Math" panose="02040503050406030204" pitchFamily="18" charset="0"/>
                      </a:rPr>
                      <m:t>n</m:t>
                    </m:r>
                    <m:r>
                      <a:rPr lang="en-US" i="1">
                        <a:latin typeface="Cambria Math" panose="02040503050406030204" pitchFamily="18" charset="0"/>
                      </a:rPr>
                      <m:t>→</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𝑛</m:t>
                        </m:r>
                      </m:e>
                    </m:acc>
                  </m:oMath>
                </a14:m>
                <a:r>
                  <a:rPr lang="en-US" dirty="0"/>
                  <a:t>, if a signal is noise, filter it</a:t>
                </a:r>
              </a:p>
              <a:p>
                <a:r>
                  <a:rPr lang="en-US" dirty="0"/>
                  <a:t>Sensitivity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if a signal has information, detect it</a:t>
                </a:r>
              </a:p>
            </p:txBody>
          </p:sp>
        </mc:Choice>
        <mc:Fallback xmlns="">
          <p:sp>
            <p:nvSpPr>
              <p:cNvPr id="3" name="Content Placeholder 2">
                <a:extLst>
                  <a:ext uri="{FF2B5EF4-FFF2-40B4-BE49-F238E27FC236}">
                    <a16:creationId xmlns:a16="http://schemas.microsoft.com/office/drawing/2014/main" id="{016CAC52-123C-DA42-70BB-184E7001E587}"/>
                  </a:ext>
                </a:extLst>
              </p:cNvPr>
              <p:cNvSpPr>
                <a:spLocks noGrp="1" noRot="1" noChangeAspect="1" noMove="1" noResize="1" noEditPoints="1" noAdjustHandles="1" noChangeArrowheads="1" noChangeShapeType="1" noTextEdit="1"/>
              </p:cNvSpPr>
              <p:nvPr>
                <p:ph idx="1"/>
              </p:nvPr>
            </p:nvSpPr>
            <p:spPr>
              <a:blipFill>
                <a:blip r:embed="rId2"/>
                <a:stretch>
                  <a:fillRect l="-1043" t="-2381" r="-1043"/>
                </a:stretch>
              </a:blipFill>
            </p:spPr>
            <p:txBody>
              <a:bodyPr/>
              <a:lstStyle/>
              <a:p>
                <a:r>
                  <a:rPr lang="en-US">
                    <a:noFill/>
                  </a:rPr>
                  <a:t> </a:t>
                </a:r>
              </a:p>
            </p:txBody>
          </p:sp>
        </mc:Fallback>
      </mc:AlternateContent>
    </p:spTree>
    <p:extLst>
      <p:ext uri="{BB962C8B-B14F-4D97-AF65-F5344CB8AC3E}">
        <p14:creationId xmlns:p14="http://schemas.microsoft.com/office/powerpoint/2010/main" val="554021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fontScale="77500" lnSpcReduction="20000"/>
              </a:bodyPr>
              <a:lstStyle/>
              <a:p>
                <a:r>
                  <a:rPr lang="en-US" dirty="0"/>
                  <a:t>If we have a set of prediction probabilities, we can focus on specificity or sensitivity by setting a prediction threshold</a:t>
                </a:r>
              </a:p>
              <a:p>
                <a:r>
                  <a:rPr lang="en-US" dirty="0"/>
                  <a:t>If this is DSP, to make a filter sensitive, we make the filter wider band</a:t>
                </a:r>
              </a:p>
              <a:p>
                <a:r>
                  <a:rPr lang="en-US" dirty="0"/>
                  <a:t>Sensitive means we have a low threshold for predicting positive</a:t>
                </a:r>
              </a:p>
              <a:p>
                <a14:m>
                  <m:oMath xmlns:m="http://schemas.openxmlformats.org/officeDocument/2006/math">
                    <m:r>
                      <a:rPr lang="en-US" b="0" i="1" smtClean="0">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more often and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more often</a:t>
                </a:r>
              </a:p>
              <a:p>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more often means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oMath>
                </a14:m>
                <a:r>
                  <a:rPr lang="en-US" dirty="0"/>
                  <a:t>, the sensitivity or True Positive Rate is higher</a:t>
                </a:r>
              </a:p>
              <a:p>
                <a:r>
                  <a:rPr lang="en-US" dirty="0"/>
                  <a:t>If this is DSP, to make a filter specific, we make the filter narrower band</a:t>
                </a:r>
              </a:p>
              <a:p>
                <a:r>
                  <a:rPr lang="en-US" dirty="0"/>
                  <a:t>Specific means we have a high threshold for predicting positive</a:t>
                </a:r>
              </a:p>
              <a:p>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less often and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less often</a:t>
                </a:r>
              </a:p>
              <a:p>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less often means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more often</a:t>
                </a:r>
              </a:p>
              <a:p>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more often means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num>
                      <m:den>
                        <m:r>
                          <a:rPr lang="en-US" b="0" i="1" smtClean="0">
                            <a:latin typeface="Cambria Math" panose="02040503050406030204" pitchFamily="18" charset="0"/>
                          </a:rPr>
                          <m:t>𝑛</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num>
                      <m:den>
                        <m:r>
                          <a:rPr lang="en-US" b="0" i="1" smtClean="0">
                            <a:latin typeface="Cambria Math" panose="02040503050406030204" pitchFamily="18" charset="0"/>
                          </a:rPr>
                          <m:t>𝑛</m:t>
                        </m:r>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oMath>
                </a14:m>
                <a:r>
                  <a:rPr lang="en-US" dirty="0"/>
                  <a:t>, the specificity or True Negative Rate is higher</a:t>
                </a:r>
              </a:p>
            </p:txBody>
          </p:sp>
        </mc:Choice>
        <mc:Fallback xmlns="">
          <p:sp>
            <p:nvSpPr>
              <p:cNvPr id="3" name="Content Placeholder 2">
                <a:extLst>
                  <a:ext uri="{FF2B5EF4-FFF2-40B4-BE49-F238E27FC236}">
                    <a16:creationId xmlns:a16="http://schemas.microsoft.com/office/drawing/2014/main" id="{2313140C-A317-7164-BBA9-FC96DAB7F3D3}"/>
                  </a:ext>
                </a:extLst>
              </p:cNvPr>
              <p:cNvSpPr>
                <a:spLocks noGrp="1" noRot="1" noChangeAspect="1" noMove="1" noResize="1" noEditPoints="1" noAdjustHandles="1" noChangeArrowheads="1" noChangeShapeType="1" noTextEdit="1"/>
              </p:cNvSpPr>
              <p:nvPr>
                <p:ph idx="1"/>
              </p:nvPr>
            </p:nvSpPr>
            <p:spPr>
              <a:blipFill>
                <a:blip r:embed="rId2"/>
                <a:stretch>
                  <a:fillRect l="-696" t="-2661"/>
                </a:stretch>
              </a:blipFill>
            </p:spPr>
            <p:txBody>
              <a:bodyPr/>
              <a:lstStyle/>
              <a:p>
                <a:r>
                  <a:rPr lang="en-US">
                    <a:noFill/>
                  </a:rPr>
                  <a:t> </a:t>
                </a:r>
              </a:p>
            </p:txBody>
          </p:sp>
        </mc:Fallback>
      </mc:AlternateContent>
    </p:spTree>
    <p:extLst>
      <p:ext uri="{BB962C8B-B14F-4D97-AF65-F5344CB8AC3E}">
        <p14:creationId xmlns:p14="http://schemas.microsoft.com/office/powerpoint/2010/main" val="352209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dirty="0"/>
                  <a:t>ROC Plots a parametric curve TPR(threshold), FPR(threshold) as threshold (the parameter) is varied between a low detection threshold of 0 and a high detection threshold of 1</a:t>
                </a:r>
              </a:p>
              <a:p>
                <a14:m>
                  <m:oMath xmlns:m="http://schemas.openxmlformats.org/officeDocument/2006/math">
                    <m:r>
                      <a:rPr lang="en-US" b="0" i="1" smtClean="0">
                        <a:latin typeface="Cambria Math" panose="02040503050406030204" pitchFamily="18" charset="0"/>
                      </a:rPr>
                      <m:t>𝑇𝑃𝑅</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oMath>
                </a14:m>
                <a:r>
                  <a:rPr lang="en-US" dirty="0"/>
                  <a:t>  (sensitivity)</a:t>
                </a:r>
              </a:p>
              <a:p>
                <a14:m>
                  <m:oMath xmlns:m="http://schemas.openxmlformats.org/officeDocument/2006/math">
                    <m:r>
                      <a:rPr lang="en-US" b="0" i="1" smtClean="0">
                        <a:latin typeface="Cambria Math" panose="02040503050406030204" pitchFamily="18" charset="0"/>
                      </a:rPr>
                      <m:t>𝐹𝑃𝑅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𝑛</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e>
                        </m:d>
                        <m:r>
                          <a:rPr lang="en-US" b="0" i="1" smtClean="0">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smtClean="0">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num>
                      <m:den>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 =           1−</m:t>
                    </m:r>
                    <m:f>
                      <m:fPr>
                        <m:ctrlPr>
                          <a:rPr lang="en-US" i="1">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num>
                      <m:den>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=1−</m:t>
                    </m:r>
                    <m:r>
                      <a:rPr lang="en-US" b="0" i="1" smtClean="0">
                        <a:latin typeface="Cambria Math" panose="02040503050406030204" pitchFamily="18" charset="0"/>
                      </a:rPr>
                      <m:t>𝑇𝑁𝑅</m:t>
                    </m:r>
                  </m:oMath>
                </a14:m>
                <a:r>
                  <a:rPr lang="en-US" dirty="0"/>
                  <a:t>  (1-specificity)</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2313140C-A317-7164-BBA9-FC96DAB7F3D3}"/>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499067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dirty="0"/>
                  <a:t>Applied Optics Paper</a:t>
                </a:r>
              </a:p>
              <a:p>
                <a:pPr lvl="1"/>
                <a:r>
                  <a:rPr lang="en-US" dirty="0"/>
                  <a:t>Selected a single subject vs all other subjects to present TPR and FPR</a:t>
                </a:r>
              </a:p>
              <a:p>
                <a:pPr lvl="1"/>
                <a14:m>
                  <m:oMath xmlns:m="http://schemas.openxmlformats.org/officeDocument/2006/math">
                    <m:r>
                      <a:rPr lang="en-US" b="0" i="1" smtClean="0">
                        <a:latin typeface="Cambria Math" panose="02040503050406030204" pitchFamily="18" charset="0"/>
                      </a:rPr>
                      <m:t>𝑇𝑃𝑅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𝑦</m:t>
                            </m:r>
                          </m:e>
                          <m:sub>
                            <m:r>
                              <a:rPr lang="en-US" i="1">
                                <a:latin typeface="Cambria Math" panose="02040503050406030204" pitchFamily="18" charset="0"/>
                              </a:rPr>
                              <m:t>𝑝𝑟𝑒𝑑</m:t>
                            </m:r>
                          </m:sub>
                        </m:sSub>
                        <m:r>
                          <a:rPr lang="en-US" i="1">
                            <a:latin typeface="Cambria Math" panose="02040503050406030204" pitchFamily="18" charset="0"/>
                          </a:rPr>
                          <m:t>=</m:t>
                        </m:r>
                        <m:r>
                          <a:rPr lang="en-US" i="1">
                            <a:latin typeface="Cambria Math" panose="02040503050406030204" pitchFamily="18" charset="0"/>
                          </a:rPr>
                          <m:t>𝑠𝑢𝑏𝑗𝑒𝑐𝑡</m:t>
                        </m:r>
                        <m:r>
                          <a:rPr lang="en-US" i="1">
                            <a:latin typeface="Cambria Math" panose="02040503050406030204" pitchFamily="18" charset="0"/>
                          </a:rPr>
                          <m:t>)</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𝑡𝑎𝑟𝑔𝑒𝑡</m:t>
                            </m:r>
                          </m:sub>
                        </m:sSub>
                        <m:r>
                          <a:rPr lang="en-US" b="0" i="1" smtClean="0">
                            <a:latin typeface="Cambria Math" panose="02040503050406030204" pitchFamily="18" charset="0"/>
                          </a:rPr>
                          <m:t>=</m:t>
                        </m:r>
                        <m:r>
                          <a:rPr lang="en-US" b="0" i="1" smtClean="0">
                            <a:latin typeface="Cambria Math" panose="02040503050406030204" pitchFamily="18" charset="0"/>
                          </a:rPr>
                          <m:t>𝑠𝑢𝑏𝑗𝑒𝑐𝑡</m:t>
                        </m:r>
                        <m:r>
                          <a:rPr lang="en-US" i="1">
                            <a:latin typeface="Cambria Math" panose="02040503050406030204" pitchFamily="18" charset="0"/>
                          </a:rPr>
                          <m:t>)</m:t>
                        </m:r>
                      </m:den>
                    </m:f>
                  </m:oMath>
                </a14:m>
                <a:endParaRPr lang="en-US" dirty="0"/>
              </a:p>
              <a:p>
                <a:pPr lvl="1"/>
                <a14:m>
                  <m:oMath xmlns:m="http://schemas.openxmlformats.org/officeDocument/2006/math">
                    <m:r>
                      <a:rPr lang="en-US" b="0" i="1" smtClean="0">
                        <a:latin typeface="Cambria Math" panose="02040503050406030204" pitchFamily="18" charset="0"/>
                      </a:rPr>
                      <m:t>𝐹𝑃𝑅</m:t>
                    </m:r>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𝑦</m:t>
                            </m:r>
                          </m:e>
                          <m:sub>
                            <m:r>
                              <a:rPr lang="en-US" i="1">
                                <a:latin typeface="Cambria Math" panose="02040503050406030204" pitchFamily="18" charset="0"/>
                              </a:rPr>
                              <m:t>𝑝𝑟𝑒𝑑</m:t>
                            </m:r>
                          </m:sub>
                        </m:sSub>
                        <m:r>
                          <a:rPr lang="en-US" b="0" i="1" smtClean="0">
                            <a:latin typeface="Cambria Math" panose="02040503050406030204" pitchFamily="18" charset="0"/>
                          </a:rPr>
                          <m:t>≠</m:t>
                        </m:r>
                        <m:r>
                          <a:rPr lang="en-US" i="1">
                            <a:latin typeface="Cambria Math" panose="02040503050406030204" pitchFamily="18" charset="0"/>
                          </a:rPr>
                          <m:t>𝑠𝑢𝑏𝑗𝑒𝑐𝑡</m:t>
                        </m:r>
                        <m:r>
                          <a:rPr lang="en-US" i="1">
                            <a:latin typeface="Cambria Math" panose="02040503050406030204" pitchFamily="18" charset="0"/>
                          </a:rPr>
                          <m:t>)</m:t>
                        </m:r>
                      </m:num>
                      <m:den>
                        <m:r>
                          <a:rPr lang="en-US"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𝑡𝑎𝑟𝑔𝑒𝑡</m:t>
                            </m:r>
                          </m:sub>
                        </m:sSub>
                        <m:r>
                          <a:rPr lang="en-US" b="0" i="1" smtClean="0">
                            <a:latin typeface="Cambria Math" panose="02040503050406030204" pitchFamily="18" charset="0"/>
                          </a:rPr>
                          <m:t>≠</m:t>
                        </m:r>
                        <m:r>
                          <a:rPr lang="en-US" b="0" i="1" smtClean="0">
                            <a:latin typeface="Cambria Math" panose="02040503050406030204" pitchFamily="18" charset="0"/>
                          </a:rPr>
                          <m:t>𝑠𝑢𝑏𝑗𝑒𝑐𝑡</m:t>
                        </m:r>
                        <m:r>
                          <a:rPr lang="en-US" i="1">
                            <a:latin typeface="Cambria Math" panose="02040503050406030204" pitchFamily="18" charset="0"/>
                          </a:rPr>
                          <m:t>)</m:t>
                        </m:r>
                      </m:den>
                    </m:f>
                  </m:oMath>
                </a14:m>
                <a:endParaRPr lang="en-US" b="0" dirty="0"/>
              </a:p>
              <a:p>
                <a:pPr marL="0" indent="0">
                  <a:buNone/>
                </a:pPr>
                <a:endParaRPr lang="en-US" dirty="0"/>
              </a:p>
              <a:p>
                <a:r>
                  <a:rPr lang="en-US" b="0" dirty="0"/>
                  <a:t>Similar to Cumulative Match Characteristic Curve (CMC Curve)</a:t>
                </a:r>
              </a:p>
              <a:p>
                <a:r>
                  <a:rPr lang="en-US" b="0" dirty="0"/>
                  <a:t>In CMC, select a single subject, and find top-1,top-2,… accuracies</a:t>
                </a:r>
              </a:p>
              <a:p>
                <a:pPr lvl="1"/>
                <a:endParaRPr lang="en-US" b="0" dirty="0"/>
              </a:p>
            </p:txBody>
          </p:sp>
        </mc:Choice>
        <mc:Fallback xmlns="">
          <p:sp>
            <p:nvSpPr>
              <p:cNvPr id="3" name="Content Placeholder 2">
                <a:extLst>
                  <a:ext uri="{FF2B5EF4-FFF2-40B4-BE49-F238E27FC236}">
                    <a16:creationId xmlns:a16="http://schemas.microsoft.com/office/drawing/2014/main" id="{2313140C-A317-7164-BBA9-FC96DAB7F3D3}"/>
                  </a:ext>
                </a:extLst>
              </p:cNvPr>
              <p:cNvSpPr>
                <a:spLocks noGrp="1" noRot="1" noChangeAspect="1" noMove="1" noResize="1" noEditPoints="1" noAdjustHandles="1" noChangeArrowheads="1" noChangeShapeType="1" noTextEdit="1"/>
              </p:cNvSpPr>
              <p:nvPr>
                <p:ph idx="1"/>
              </p:nvPr>
            </p:nvSpPr>
            <p:spPr>
              <a:blipFill>
                <a:blip r:embed="rId2"/>
                <a:stretch>
                  <a:fillRect l="-1043" t="-2381" r="-406"/>
                </a:stretch>
              </a:blipFill>
            </p:spPr>
            <p:txBody>
              <a:bodyPr/>
              <a:lstStyle/>
              <a:p>
                <a:r>
                  <a:rPr lang="en-US">
                    <a:noFill/>
                  </a:rPr>
                  <a:t> </a:t>
                </a:r>
              </a:p>
            </p:txBody>
          </p:sp>
        </mc:Fallback>
      </mc:AlternateContent>
    </p:spTree>
    <p:extLst>
      <p:ext uri="{BB962C8B-B14F-4D97-AF65-F5344CB8AC3E}">
        <p14:creationId xmlns:p14="http://schemas.microsoft.com/office/powerpoint/2010/main" val="3943435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35CF-A142-91EF-16B3-83217AB92F6F}"/>
              </a:ext>
            </a:extLst>
          </p:cNvPr>
          <p:cNvSpPr>
            <a:spLocks noGrp="1"/>
          </p:cNvSpPr>
          <p:nvPr>
            <p:ph type="title"/>
          </p:nvPr>
        </p:nvSpPr>
        <p:spPr/>
        <p:txBody>
          <a:bodyPr/>
          <a:lstStyle/>
          <a:p>
            <a:r>
              <a:rPr lang="en-US" dirty="0"/>
              <a:t>Classification Metrics for Example Applications​ - ROC Security Application</a:t>
            </a:r>
          </a:p>
        </p:txBody>
      </p:sp>
      <p:sp>
        <p:nvSpPr>
          <p:cNvPr id="3" name="Content Placeholder 2">
            <a:extLst>
              <a:ext uri="{FF2B5EF4-FFF2-40B4-BE49-F238E27FC236}">
                <a16:creationId xmlns:a16="http://schemas.microsoft.com/office/drawing/2014/main" id="{A168C46C-675D-EC37-1342-AE13735AE608}"/>
              </a:ext>
            </a:extLst>
          </p:cNvPr>
          <p:cNvSpPr>
            <a:spLocks noGrp="1"/>
          </p:cNvSpPr>
          <p:nvPr>
            <p:ph idx="1"/>
          </p:nvPr>
        </p:nvSpPr>
        <p:spPr/>
        <p:txBody>
          <a:bodyPr/>
          <a:lstStyle/>
          <a:p>
            <a:r>
              <a:rPr lang="en-US" dirty="0"/>
              <a:t>Security: Sensitivity is a Must</a:t>
            </a:r>
          </a:p>
          <a:p>
            <a:r>
              <a:rPr lang="en-US" dirty="0"/>
              <a:t>If a subject is a bad actor, we must detect the subject (high sensitivity)</a:t>
            </a:r>
          </a:p>
        </p:txBody>
      </p:sp>
    </p:spTree>
    <p:extLst>
      <p:ext uri="{BB962C8B-B14F-4D97-AF65-F5344CB8AC3E}">
        <p14:creationId xmlns:p14="http://schemas.microsoft.com/office/powerpoint/2010/main" val="2434467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b="0" dirty="0"/>
              <a:t>These example ROC plots have the same area under curve (AUC)</a:t>
            </a:r>
          </a:p>
          <a:p>
            <a:r>
              <a:rPr lang="en-US" dirty="0"/>
              <a:t>Which ROC is preferred for security or high sensitivity demand?</a:t>
            </a:r>
          </a:p>
          <a:p>
            <a:endParaRPr lang="en-US" b="0" dirty="0"/>
          </a:p>
        </p:txBody>
      </p:sp>
      <p:pic>
        <p:nvPicPr>
          <p:cNvPr id="13" name="Picture 12" descr="A comparison of a graph&#10;&#10;Description automatically generated with medium confidence">
            <a:extLst>
              <a:ext uri="{FF2B5EF4-FFF2-40B4-BE49-F238E27FC236}">
                <a16:creationId xmlns:a16="http://schemas.microsoft.com/office/drawing/2014/main" id="{354C5CAC-A9AC-1430-EE46-5F14EDD4C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6029" y="3043238"/>
            <a:ext cx="5594088" cy="3133725"/>
          </a:xfrm>
          <a:prstGeom prst="rect">
            <a:avLst/>
          </a:prstGeom>
        </p:spPr>
      </p:pic>
    </p:spTree>
    <p:extLst>
      <p:ext uri="{BB962C8B-B14F-4D97-AF65-F5344CB8AC3E}">
        <p14:creationId xmlns:p14="http://schemas.microsoft.com/office/powerpoint/2010/main" val="9641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b="0" dirty="0"/>
              <a:t>ROC A:</a:t>
            </a:r>
          </a:p>
          <a:p>
            <a:pPr lvl="1"/>
            <a:r>
              <a:rPr lang="en-US" dirty="0"/>
              <a:t>TPR 50%, FPR 0% -&gt; sensitivity 50%, specificity 100%</a:t>
            </a:r>
          </a:p>
          <a:p>
            <a:pPr lvl="1"/>
            <a:r>
              <a:rPr lang="en-US" dirty="0"/>
              <a:t>TPR 100%, FPR 12.5% -&gt; sensitivity 100%, specificity 87.5%</a:t>
            </a:r>
          </a:p>
          <a:p>
            <a:r>
              <a:rPr lang="en-US" dirty="0"/>
              <a:t>ROC B:</a:t>
            </a:r>
          </a:p>
          <a:p>
            <a:pPr lvl="1"/>
            <a:r>
              <a:rPr lang="en-US" dirty="0"/>
              <a:t>TPR 87.5%, FPR 0% -&gt; sensitivity 87.5%, specificity 100%</a:t>
            </a:r>
          </a:p>
          <a:p>
            <a:pPr lvl="1"/>
            <a:r>
              <a:rPr lang="en-US" dirty="0"/>
              <a:t>TPR 100%, FPR 50% -&gt; sensitivity 100%, specificity 50%</a:t>
            </a:r>
            <a:endParaRPr lang="en-US" b="0" dirty="0"/>
          </a:p>
          <a:p>
            <a:pPr marL="0" indent="0">
              <a:buNone/>
            </a:pPr>
            <a:endParaRPr lang="en-US" b="0" dirty="0"/>
          </a:p>
        </p:txBody>
      </p:sp>
      <p:pic>
        <p:nvPicPr>
          <p:cNvPr id="4" name="Picture 3" descr="A comparison of a graph&#10;&#10;Description automatically generated with medium confidence">
            <a:extLst>
              <a:ext uri="{FF2B5EF4-FFF2-40B4-BE49-F238E27FC236}">
                <a16:creationId xmlns:a16="http://schemas.microsoft.com/office/drawing/2014/main" id="{6F681E64-71FC-837A-028C-443E1ACD6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6175" y="4386791"/>
            <a:ext cx="4054344" cy="2271183"/>
          </a:xfrm>
          <a:prstGeom prst="rect">
            <a:avLst/>
          </a:prstGeom>
        </p:spPr>
      </p:pic>
    </p:spTree>
    <p:extLst>
      <p:ext uri="{BB962C8B-B14F-4D97-AF65-F5344CB8AC3E}">
        <p14:creationId xmlns:p14="http://schemas.microsoft.com/office/powerpoint/2010/main" val="1972158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b="0" dirty="0"/>
              <a:t>ROC A:</a:t>
            </a:r>
          </a:p>
          <a:p>
            <a:pPr lvl="1"/>
            <a:r>
              <a:rPr lang="en-US" dirty="0"/>
              <a:t>TPR 50%, FPR 0% -&gt; sensitivity 50%, specificity 100%</a:t>
            </a:r>
          </a:p>
          <a:p>
            <a:pPr lvl="1"/>
            <a:r>
              <a:rPr lang="en-US" dirty="0"/>
              <a:t>TPR 100%, FPR 12.5% -&gt; sensitivity 100%, specificity 87.5%</a:t>
            </a:r>
          </a:p>
          <a:p>
            <a:r>
              <a:rPr lang="en-US" dirty="0"/>
              <a:t>ROC B:</a:t>
            </a:r>
          </a:p>
          <a:p>
            <a:pPr lvl="1"/>
            <a:r>
              <a:rPr lang="en-US" dirty="0"/>
              <a:t>TPR 87.5%, FPR 0% -&gt; sensitivity 87.5%, specificity 100%</a:t>
            </a:r>
          </a:p>
          <a:p>
            <a:pPr lvl="1"/>
            <a:r>
              <a:rPr lang="en-US" dirty="0"/>
              <a:t>TPR 100%, FPR 50% -&gt; sensitivity 100%, specificity 50%</a:t>
            </a:r>
          </a:p>
          <a:p>
            <a:r>
              <a:rPr lang="en-US" b="0" dirty="0"/>
              <a:t>Best option is to maximize sensitivity at 100%, best specificity there is 87.5% (ROC A)</a:t>
            </a:r>
          </a:p>
          <a:p>
            <a:pPr marL="0" indent="0">
              <a:buNone/>
            </a:pPr>
            <a:endParaRPr lang="en-US" b="0" dirty="0"/>
          </a:p>
        </p:txBody>
      </p:sp>
      <p:pic>
        <p:nvPicPr>
          <p:cNvPr id="6" name="Picture 5" descr="A comparison of a graph&#10;&#10;Description automatically generated with medium confidence">
            <a:extLst>
              <a:ext uri="{FF2B5EF4-FFF2-40B4-BE49-F238E27FC236}">
                <a16:creationId xmlns:a16="http://schemas.microsoft.com/office/drawing/2014/main" id="{A19C7258-26AE-66F8-EFB6-E1E42BF5E2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5424" y="4930290"/>
            <a:ext cx="3305175" cy="1851510"/>
          </a:xfrm>
          <a:prstGeom prst="rect">
            <a:avLst/>
          </a:prstGeom>
        </p:spPr>
      </p:pic>
    </p:spTree>
    <p:extLst>
      <p:ext uri="{BB962C8B-B14F-4D97-AF65-F5344CB8AC3E}">
        <p14:creationId xmlns:p14="http://schemas.microsoft.com/office/powerpoint/2010/main" val="4130528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Security Application</a:t>
            </a:r>
          </a:p>
        </p:txBody>
      </p:sp>
      <p:pic>
        <p:nvPicPr>
          <p:cNvPr id="9" name="Content Placeholder 8" descr="A comparison of a diagram&#10;&#10;Description automatically generated with medium confidence">
            <a:extLst>
              <a:ext uri="{FF2B5EF4-FFF2-40B4-BE49-F238E27FC236}">
                <a16:creationId xmlns:a16="http://schemas.microsoft.com/office/drawing/2014/main" id="{752DCE53-FA24-313D-B8B4-2B5E94498E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2771" y="2238896"/>
            <a:ext cx="9666457" cy="4019029"/>
          </a:xfrm>
        </p:spPr>
      </p:pic>
    </p:spTree>
    <p:extLst>
      <p:ext uri="{BB962C8B-B14F-4D97-AF65-F5344CB8AC3E}">
        <p14:creationId xmlns:p14="http://schemas.microsoft.com/office/powerpoint/2010/main" val="2713119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Security Application</a:t>
            </a:r>
          </a:p>
        </p:txBody>
      </p:sp>
      <p:pic>
        <p:nvPicPr>
          <p:cNvPr id="9" name="Content Placeholder 8" descr="A comparison of a diagram&#10;&#10;Description automatically generated with medium confidence">
            <a:extLst>
              <a:ext uri="{FF2B5EF4-FFF2-40B4-BE49-F238E27FC236}">
                <a16:creationId xmlns:a16="http://schemas.microsoft.com/office/drawing/2014/main" id="{752DCE53-FA24-313D-B8B4-2B5E94498E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6127" y="4357716"/>
            <a:ext cx="5135423" cy="2135159"/>
          </a:xfrm>
        </p:spPr>
      </p:pic>
      <p:sp>
        <p:nvSpPr>
          <p:cNvPr id="3" name="Content Placeholder 2">
            <a:extLst>
              <a:ext uri="{FF2B5EF4-FFF2-40B4-BE49-F238E27FC236}">
                <a16:creationId xmlns:a16="http://schemas.microsoft.com/office/drawing/2014/main" id="{7DE3DF7E-0EE9-F4C3-8633-858C7C8F4DE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Single Subject</a:t>
            </a:r>
          </a:p>
          <a:p>
            <a:pPr lvl="1"/>
            <a:r>
              <a:rPr lang="en-US" dirty="0"/>
              <a:t>Computational Model has 100% sensitivity at lower specificity than OpenPose –&gt; meaning our model is better for security</a:t>
            </a:r>
          </a:p>
          <a:p>
            <a:pPr lvl="1"/>
            <a:r>
              <a:rPr lang="en-US" dirty="0"/>
              <a:t>I was incorrect about my interpretation during the previous presentation:</a:t>
            </a:r>
          </a:p>
          <a:p>
            <a:pPr lvl="2"/>
            <a:r>
              <a:rPr lang="en-US" dirty="0"/>
              <a:t>If the single subject (left ROC below) looked like ROC A that would be more desirable</a:t>
            </a:r>
          </a:p>
          <a:p>
            <a:pPr lvl="2"/>
            <a:r>
              <a:rPr lang="en-US" dirty="0"/>
              <a:t>Because we would have 100% sensitivity at an even higher specificity</a:t>
            </a:r>
          </a:p>
        </p:txBody>
      </p:sp>
    </p:spTree>
    <p:extLst>
      <p:ext uri="{BB962C8B-B14F-4D97-AF65-F5344CB8AC3E}">
        <p14:creationId xmlns:p14="http://schemas.microsoft.com/office/powerpoint/2010/main" val="358248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Security Application</a:t>
            </a:r>
          </a:p>
        </p:txBody>
      </p:sp>
      <p:sp>
        <p:nvSpPr>
          <p:cNvPr id="3" name="Content Placeholder 2">
            <a:extLst>
              <a:ext uri="{FF2B5EF4-FFF2-40B4-BE49-F238E27FC236}">
                <a16:creationId xmlns:a16="http://schemas.microsoft.com/office/drawing/2014/main" id="{7DE3DF7E-0EE9-F4C3-8633-858C7C8F4DE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Multiple Subject</a:t>
            </a:r>
          </a:p>
          <a:p>
            <a:pPr lvl="1"/>
            <a:r>
              <a:rPr lang="en-US" dirty="0"/>
              <a:t>Computational Model better for whole curve</a:t>
            </a:r>
          </a:p>
        </p:txBody>
      </p:sp>
      <p:pic>
        <p:nvPicPr>
          <p:cNvPr id="6" name="Content Placeholder 8" descr="A comparison of a diagram&#10;&#10;Description automatically generated with medium confidence">
            <a:extLst>
              <a:ext uri="{FF2B5EF4-FFF2-40B4-BE49-F238E27FC236}">
                <a16:creationId xmlns:a16="http://schemas.microsoft.com/office/drawing/2014/main" id="{DB71FF9F-D2C0-4FF8-7216-D22257AEE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6127" y="4357716"/>
            <a:ext cx="5135423" cy="2135159"/>
          </a:xfrm>
          <a:prstGeom prst="rect">
            <a:avLst/>
          </a:prstGeom>
        </p:spPr>
      </p:pic>
    </p:spTree>
    <p:extLst>
      <p:ext uri="{BB962C8B-B14F-4D97-AF65-F5344CB8AC3E}">
        <p14:creationId xmlns:p14="http://schemas.microsoft.com/office/powerpoint/2010/main" val="2088143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-Precision and Recall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lstStyle/>
              <a:p>
                <a:r>
                  <a:rPr lang="en-US" dirty="0"/>
                  <a:t>Precision (positive predicted value)</a:t>
                </a:r>
              </a:p>
              <a:p>
                <a14:m>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predicted positive -&gt; positive</a:t>
                </a:r>
              </a:p>
              <a:p>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acc>
                          <m:accPr>
                            <m:chr m:val="̂"/>
                            <m:ctrlPr>
                              <a:rPr lang="en-US" i="1">
                                <a:latin typeface="Cambria Math" panose="02040503050406030204" pitchFamily="18" charset="0"/>
                              </a:rPr>
                            </m:ctrlPr>
                          </m:accPr>
                          <m:e>
                            <m:r>
                              <a:rPr lang="en-US" i="1">
                                <a:latin typeface="Cambria Math" panose="02040503050406030204" pitchFamily="18" charset="0"/>
                              </a:rPr>
                              <m:t>𝑝</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𝑝</m:t>
                            </m:r>
                          </m:e>
                        </m:acc>
                      </m:den>
                    </m:f>
                  </m:oMath>
                </a14:m>
                <a:endParaRPr lang="en-US" b="0" dirty="0"/>
              </a:p>
              <a:p>
                <a:endParaRPr lang="en-US" dirty="0"/>
              </a:p>
              <a:p>
                <a:r>
                  <a:rPr lang="en-US" dirty="0"/>
                  <a:t>Recall (sensitivity)</a:t>
                </a:r>
              </a:p>
              <a:p>
                <a14:m>
                  <m:oMath xmlns:m="http://schemas.openxmlformats.org/officeDocument/2006/math">
                    <m:r>
                      <a:rPr lang="en-US" i="1">
                        <a:latin typeface="Cambria Math" panose="02040503050406030204" pitchFamily="18" charset="0"/>
                      </a:rPr>
                      <m:t>𝑝</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positive -&gt; predicted positive</a:t>
                </a:r>
              </a:p>
              <a:p>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den>
                    </m:f>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77CDA6A8-4DB5-B0FA-0B93-969A55EE344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835092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-Sensitivity and Specificity vs Precision and Recall</a:t>
            </a:r>
          </a:p>
        </p:txBody>
      </p:sp>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lstStyle/>
          <a:p>
            <a:r>
              <a:rPr lang="en-US" dirty="0"/>
              <a:t>Sensitivity and Specificity measure a classifier's expected performance on any sample (or more generally on any dataset)</a:t>
            </a:r>
          </a:p>
          <a:p>
            <a:r>
              <a:rPr lang="en-US" dirty="0"/>
              <a:t>Precision and Recall measure a classifier’s performance on a particular dataset</a:t>
            </a:r>
          </a:p>
        </p:txBody>
      </p:sp>
    </p:spTree>
    <p:extLst>
      <p:ext uri="{BB962C8B-B14F-4D97-AF65-F5344CB8AC3E}">
        <p14:creationId xmlns:p14="http://schemas.microsoft.com/office/powerpoint/2010/main" val="655678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-Sensitivity and Specificity vs Precision and Recall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normAutofit fontScale="77500" lnSpcReduction="20000"/>
              </a:bodyPr>
              <a:lstStyle/>
              <a:p>
                <a:r>
                  <a:rPr lang="en-US" dirty="0"/>
                  <a:t>Example:</a:t>
                </a:r>
              </a:p>
              <a:p>
                <a:r>
                  <a:rPr lang="en-US" dirty="0"/>
                  <a:t>Validation Data Confusion Matrix:</a:t>
                </a:r>
              </a:p>
              <a:p>
                <a:endParaRPr lang="en-US" dirty="0"/>
              </a:p>
              <a:p>
                <a:pPr marL="0" indent="0">
                  <a:buNone/>
                </a:pPr>
                <a:endParaRPr lang="en-US" dirty="0"/>
              </a:p>
              <a:p>
                <a:r>
                  <a:rPr lang="en-US" dirty="0"/>
                  <a:t>For positive examples </a:t>
                </a:r>
                <a14:m>
                  <m:oMath xmlns:m="http://schemas.openxmlformats.org/officeDocument/2006/math">
                    <m:r>
                      <a:rPr lang="en-US" b="0" i="1" smtClean="0">
                        <a:latin typeface="Cambria Math" panose="02040503050406030204" pitchFamily="18" charset="0"/>
                      </a:rPr>
                      <m:t>𝑝</m:t>
                    </m:r>
                  </m:oMath>
                </a14:m>
                <a:r>
                  <a:rPr lang="en-US" dirty="0"/>
                  <a:t>, the classifier is expected to give 80% correct prediction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(sensitivity)</a:t>
                </a:r>
              </a:p>
              <a:p>
                <a:r>
                  <a:rPr lang="en-US" dirty="0"/>
                  <a:t>For negative examples </a:t>
                </a:r>
                <a14:m>
                  <m:oMath xmlns:m="http://schemas.openxmlformats.org/officeDocument/2006/math">
                    <m:r>
                      <a:rPr lang="en-US" b="0" i="1" smtClean="0">
                        <a:latin typeface="Cambria Math" panose="02040503050406030204" pitchFamily="18" charset="0"/>
                      </a:rPr>
                      <m:t>𝑛</m:t>
                    </m:r>
                  </m:oMath>
                </a14:m>
                <a:r>
                  <a:rPr lang="en-US" dirty="0"/>
                  <a:t>, the classifier is expected to give 90% correct prediction of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(specificity)</a:t>
                </a:r>
              </a:p>
              <a:p>
                <a:r>
                  <a:rPr lang="en-US" dirty="0"/>
                  <a:t>Suppose we have a test dataset with a different balance, such as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=100, </m:t>
                    </m:r>
                    <m:r>
                      <a:rPr lang="en-US" b="0" i="1" smtClean="0">
                        <a:latin typeface="Cambria Math" panose="02040503050406030204" pitchFamily="18" charset="0"/>
                      </a:rPr>
                      <m:t>𝑛</m:t>
                    </m:r>
                    <m:r>
                      <a:rPr lang="en-US" b="0" i="1" smtClean="0">
                        <a:latin typeface="Cambria Math" panose="02040503050406030204" pitchFamily="18" charset="0"/>
                      </a:rPr>
                      <m:t>=1000</m:t>
                    </m:r>
                  </m:oMath>
                </a14:m>
                <a:endParaRPr lang="en-US" b="0" dirty="0"/>
              </a:p>
              <a:p>
                <a:r>
                  <a:rPr lang="en-US" dirty="0"/>
                  <a:t>Then expected sensitivity and specificity are the same (assuming a strong validation dataset, called a standard test)</a:t>
                </a:r>
              </a:p>
              <a:p>
                <a:r>
                  <a:rPr lang="en-US" dirty="0"/>
                  <a:t>Expected precision is different for this test dataset (next slide)</a:t>
                </a:r>
              </a:p>
            </p:txBody>
          </p:sp>
        </mc:Choice>
        <mc:Fallback xmlns="">
          <p:sp>
            <p:nvSpPr>
              <p:cNvPr id="3" name="Content Placeholder 2">
                <a:extLst>
                  <a:ext uri="{FF2B5EF4-FFF2-40B4-BE49-F238E27FC236}">
                    <a16:creationId xmlns:a16="http://schemas.microsoft.com/office/drawing/2014/main" id="{77CDA6A8-4DB5-B0FA-0B93-969A55EE344C}"/>
                  </a:ext>
                </a:extLst>
              </p:cNvPr>
              <p:cNvSpPr>
                <a:spLocks noGrp="1" noRot="1" noChangeAspect="1" noMove="1" noResize="1" noEditPoints="1" noAdjustHandles="1" noChangeArrowheads="1" noChangeShapeType="1" noTextEdit="1"/>
              </p:cNvSpPr>
              <p:nvPr>
                <p:ph idx="1"/>
              </p:nvPr>
            </p:nvSpPr>
            <p:spPr>
              <a:blipFill>
                <a:blip r:embed="rId2"/>
                <a:stretch>
                  <a:fillRect l="-696" t="-2661" r="-2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D5471751-4B64-199F-D2B1-9534761E6193}"/>
                  </a:ext>
                </a:extLst>
              </p:cNvPr>
              <p:cNvGraphicFramePr>
                <a:graphicFrameLocks noGrp="1"/>
              </p:cNvGraphicFramePr>
              <p:nvPr>
                <p:extLst>
                  <p:ext uri="{D42A27DB-BD31-4B8C-83A1-F6EECF244321}">
                    <p14:modId xmlns:p14="http://schemas.microsoft.com/office/powerpoint/2010/main" val="297331860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33362">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3313701945"/>
                      </a:ext>
                    </a:extLst>
                  </a:tr>
                  <a:tr h="333362">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a:txBody>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a:txBody>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Choice>
        <mc:Fallback xmlns="">
          <p:graphicFrame>
            <p:nvGraphicFramePr>
              <p:cNvPr id="6" name="Table 5">
                <a:extLst>
                  <a:ext uri="{FF2B5EF4-FFF2-40B4-BE49-F238E27FC236}">
                    <a16:creationId xmlns:a16="http://schemas.microsoft.com/office/drawing/2014/main" id="{D5471751-4B64-199F-D2B1-9534761E6193}"/>
                  </a:ext>
                </a:extLst>
              </p:cNvPr>
              <p:cNvGraphicFramePr>
                <a:graphicFrameLocks noGrp="1"/>
              </p:cNvGraphicFramePr>
              <p:nvPr>
                <p:extLst>
                  <p:ext uri="{D42A27DB-BD31-4B8C-83A1-F6EECF244321}">
                    <p14:modId xmlns:p14="http://schemas.microsoft.com/office/powerpoint/2010/main" val="297331860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0952" t="-6667" r="-101905" b="-228333"/>
                          </a:stretch>
                        </a:blipFill>
                      </a:tcPr>
                    </a:tc>
                    <a:tc>
                      <a:txBody>
                        <a:bodyPr/>
                        <a:lstStyle/>
                        <a:p>
                          <a:endParaRPr lang="en-US"/>
                        </a:p>
                      </a:txBody>
                      <a:tcPr>
                        <a:blipFill>
                          <a:blip r:embed="rId3"/>
                          <a:stretch>
                            <a:fillRect l="-200952" t="-6667" r="-1905" b="-228333"/>
                          </a:stretch>
                        </a:blipFill>
                      </a:tcPr>
                    </a:tc>
                    <a:extLst>
                      <a:ext uri="{0D108BD9-81ED-4DB2-BD59-A6C34878D82A}">
                        <a16:rowId xmlns:a16="http://schemas.microsoft.com/office/drawing/2014/main" val="3313701945"/>
                      </a:ext>
                    </a:extLst>
                  </a:tr>
                  <a:tr h="365760">
                    <a:tc>
                      <a:txBody>
                        <a:bodyPr/>
                        <a:lstStyle/>
                        <a:p>
                          <a:endParaRPr lang="en-US"/>
                        </a:p>
                      </a:txBody>
                      <a:tcPr>
                        <a:blipFill>
                          <a:blip r:embed="rId3"/>
                          <a:stretch>
                            <a:fillRect l="-952" t="-104918" r="-201905" b="-124590"/>
                          </a:stretch>
                        </a:blipFill>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endParaRPr lang="en-US"/>
                        </a:p>
                      </a:txBody>
                      <a:tcPr>
                        <a:blipFill>
                          <a:blip r:embed="rId3"/>
                          <a:stretch>
                            <a:fillRect l="-952" t="-189394" r="-201905" b="-15152"/>
                          </a:stretch>
                        </a:blipFill>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49241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-Sensitivity and Specificity vs Precision and Recall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normAutofit fontScale="55000" lnSpcReduction="20000"/>
              </a:bodyPr>
              <a:lstStyle/>
              <a:p>
                <a:r>
                  <a:rPr lang="en-US" dirty="0"/>
                  <a:t>Example:</a:t>
                </a:r>
              </a:p>
              <a:p>
                <a:r>
                  <a:rPr lang="en-US" dirty="0"/>
                  <a:t>Validation Data Confusion Matrix:</a:t>
                </a:r>
              </a:p>
              <a:p>
                <a:endParaRPr lang="en-US" dirty="0"/>
              </a:p>
              <a:p>
                <a:pPr marL="0" indent="0">
                  <a:buNone/>
                </a:pPr>
                <a:endParaRPr lang="en-US" dirty="0"/>
              </a:p>
              <a:p>
                <a:r>
                  <a:rPr lang="en-US" dirty="0"/>
                  <a:t>For positive examples </a:t>
                </a:r>
                <a14:m>
                  <m:oMath xmlns:m="http://schemas.openxmlformats.org/officeDocument/2006/math">
                    <m:r>
                      <a:rPr lang="en-US" b="0" i="1" smtClean="0">
                        <a:latin typeface="Cambria Math" panose="02040503050406030204" pitchFamily="18" charset="0"/>
                      </a:rPr>
                      <m:t>𝑝</m:t>
                    </m:r>
                  </m:oMath>
                </a14:m>
                <a:r>
                  <a:rPr lang="en-US" dirty="0"/>
                  <a:t>, the classifier is expected to give 80% correct prediction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(sensitivity)</a:t>
                </a:r>
              </a:p>
              <a:p>
                <a:r>
                  <a:rPr lang="en-US" dirty="0"/>
                  <a:t>For negative examples </a:t>
                </a:r>
                <a14:m>
                  <m:oMath xmlns:m="http://schemas.openxmlformats.org/officeDocument/2006/math">
                    <m:r>
                      <a:rPr lang="en-US" b="0" i="1" smtClean="0">
                        <a:latin typeface="Cambria Math" panose="02040503050406030204" pitchFamily="18" charset="0"/>
                      </a:rPr>
                      <m:t>𝑛</m:t>
                    </m:r>
                  </m:oMath>
                </a14:m>
                <a:r>
                  <a:rPr lang="en-US" dirty="0"/>
                  <a:t>, the classifier is expected to give 90% correct prediction of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(specificity)</a:t>
                </a:r>
              </a:p>
              <a:p>
                <a:r>
                  <a:rPr lang="en-US" dirty="0"/>
                  <a:t>Suppose we have a test dataset with a different balance, such as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=100, </m:t>
                    </m:r>
                    <m:r>
                      <a:rPr lang="en-US" b="0" i="1" smtClean="0">
                        <a:latin typeface="Cambria Math" panose="02040503050406030204" pitchFamily="18" charset="0"/>
                      </a:rPr>
                      <m:t>𝑛</m:t>
                    </m:r>
                    <m:r>
                      <a:rPr lang="en-US" b="0" i="1" smtClean="0">
                        <a:latin typeface="Cambria Math" panose="02040503050406030204" pitchFamily="18" charset="0"/>
                      </a:rPr>
                      <m:t>=1000</m:t>
                    </m:r>
                  </m:oMath>
                </a14:m>
                <a:endParaRPr lang="en-US" b="0" dirty="0"/>
              </a:p>
              <a:p>
                <a:r>
                  <a:rPr lang="en-US" dirty="0"/>
                  <a:t>Because the classifier gives 80% correct prediction of </a:t>
                </a:r>
                <a14:m>
                  <m:oMath xmlns:m="http://schemas.openxmlformats.org/officeDocument/2006/math">
                    <m:r>
                      <a:rPr lang="en-US" b="0" i="1" smtClean="0">
                        <a:latin typeface="Cambria Math" panose="02040503050406030204" pitchFamily="18" charset="0"/>
                      </a:rPr>
                      <m:t>𝑝</m:t>
                    </m:r>
                  </m:oMath>
                </a14:m>
                <a:r>
                  <a:rPr lang="en-US" dirty="0"/>
                  <a:t>, we expect </a:t>
                </a:r>
                <a14:m>
                  <m:oMath xmlns:m="http://schemas.openxmlformats.org/officeDocument/2006/math">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 80, </a:t>
                </a:r>
                <a14:m>
                  <m:oMath xmlns:m="http://schemas.openxmlformats.org/officeDocument/2006/math">
                    <m:r>
                      <m:rPr>
                        <m:sty m:val="p"/>
                      </m:rPr>
                      <a:rPr lang="en-US" b="0" i="0" smtClean="0">
                        <a:latin typeface="Cambria Math" panose="02040503050406030204" pitchFamily="18" charset="0"/>
                      </a:rPr>
                      <m:t>p</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=20</m:t>
                    </m:r>
                  </m:oMath>
                </a14:m>
                <a:endParaRPr lang="en-US" dirty="0"/>
              </a:p>
              <a:p>
                <a:r>
                  <a:rPr lang="en-US" dirty="0"/>
                  <a:t>Because the classifier gives 90% correct prediction of </a:t>
                </a:r>
                <a14:m>
                  <m:oMath xmlns:m="http://schemas.openxmlformats.org/officeDocument/2006/math">
                    <m:r>
                      <a:rPr lang="en-US" i="1" smtClean="0">
                        <a:latin typeface="Cambria Math" panose="02040503050406030204" pitchFamily="18" charset="0"/>
                      </a:rPr>
                      <m:t>𝑛</m:t>
                    </m:r>
                  </m:oMath>
                </a14:m>
                <a:r>
                  <a:rPr lang="en-US" dirty="0"/>
                  <a:t>, we expect </a:t>
                </a:r>
                <a14:m>
                  <m:oMath xmlns:m="http://schemas.openxmlformats.org/officeDocument/2006/math">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𝑝</m:t>
                        </m:r>
                      </m:e>
                    </m:acc>
                  </m:oMath>
                </a14:m>
                <a:r>
                  <a:rPr lang="en-US" dirty="0"/>
                  <a:t> = 100, </a:t>
                </a:r>
                <a14:m>
                  <m:oMath xmlns:m="http://schemas.openxmlformats.org/officeDocument/2006/math">
                    <m:r>
                      <m:rPr>
                        <m:sty m:val="p"/>
                      </m:rPr>
                      <a:rPr lang="en-US" b="0" i="0" smtClean="0">
                        <a:latin typeface="Cambria Math" panose="02040503050406030204" pitchFamily="18" charset="0"/>
                      </a:rPr>
                      <m:t>n</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=900</m:t>
                    </m:r>
                  </m:oMath>
                </a14:m>
                <a:endParaRPr lang="en-US" b="0" dirty="0"/>
              </a:p>
              <a:p>
                <a:r>
                  <a:rPr lang="en-US" dirty="0"/>
                  <a:t>The expected sensitivity and specificity are independent of the test data (assuming the validation dataset is large and representative)</a:t>
                </a:r>
              </a:p>
              <a:p>
                <a:r>
                  <a:rPr lang="en-US" dirty="0"/>
                  <a:t>Expected precision is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acc>
                          <m:accPr>
                            <m:chr m:val="̂"/>
                            <m:ctrlPr>
                              <a:rPr lang="en-US" i="1">
                                <a:latin typeface="Cambria Math" panose="02040503050406030204" pitchFamily="18" charset="0"/>
                              </a:rPr>
                            </m:ctrlPr>
                          </m:accPr>
                          <m:e>
                            <m:r>
                              <a:rPr lang="en-US" i="1">
                                <a:latin typeface="Cambria Math" panose="02040503050406030204" pitchFamily="18" charset="0"/>
                              </a:rPr>
                              <m:t>𝑝</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80</m:t>
                        </m:r>
                      </m:num>
                      <m:den>
                        <m:r>
                          <a:rPr lang="en-US" b="0" i="1" smtClean="0">
                            <a:latin typeface="Cambria Math" panose="02040503050406030204" pitchFamily="18" charset="0"/>
                          </a:rPr>
                          <m:t>180</m:t>
                        </m:r>
                      </m:den>
                    </m:f>
                    <m:r>
                      <a:rPr lang="en-US" b="0" i="1" smtClean="0">
                        <a:latin typeface="Cambria Math" panose="02040503050406030204" pitchFamily="18" charset="0"/>
                      </a:rPr>
                      <m:t>=44%</m:t>
                    </m:r>
                  </m:oMath>
                </a14:m>
                <a:r>
                  <a:rPr lang="en-US" dirty="0"/>
                  <a:t>,  which is different that the precision on the validation data</a:t>
                </a:r>
              </a:p>
              <a:p>
                <a:r>
                  <a:rPr lang="en-US" dirty="0"/>
                  <a:t>Precision is affected by data balance (even if validation and test are both close to balanced, differences changes the expected precision)</a:t>
                </a:r>
              </a:p>
              <a:p>
                <a:r>
                  <a:rPr lang="en-US" dirty="0"/>
                  <a:t>Expected recall is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80</m:t>
                        </m:r>
                      </m:num>
                      <m:den>
                        <m:r>
                          <a:rPr lang="en-US" b="0" i="1" smtClean="0">
                            <a:latin typeface="Cambria Math" panose="02040503050406030204" pitchFamily="18" charset="0"/>
                          </a:rPr>
                          <m:t>100</m:t>
                        </m:r>
                      </m:den>
                    </m:f>
                    <m:r>
                      <a:rPr lang="en-US" b="0" i="1" smtClean="0">
                        <a:latin typeface="Cambria Math" panose="02040503050406030204" pitchFamily="18" charset="0"/>
                      </a:rPr>
                      <m:t>=80%</m:t>
                    </m:r>
                  </m:oMath>
                </a14:m>
                <a:r>
                  <a:rPr lang="en-US" dirty="0"/>
                  <a:t>, which is the same as the recall (sensitivity) on the validation data</a:t>
                </a:r>
              </a:p>
            </p:txBody>
          </p:sp>
        </mc:Choice>
        <mc:Fallback xmlns="">
          <p:sp>
            <p:nvSpPr>
              <p:cNvPr id="3" name="Content Placeholder 2">
                <a:extLst>
                  <a:ext uri="{FF2B5EF4-FFF2-40B4-BE49-F238E27FC236}">
                    <a16:creationId xmlns:a16="http://schemas.microsoft.com/office/drawing/2014/main" id="{77CDA6A8-4DB5-B0FA-0B93-969A55EE344C}"/>
                  </a:ext>
                </a:extLst>
              </p:cNvPr>
              <p:cNvSpPr>
                <a:spLocks noGrp="1" noRot="1" noChangeAspect="1" noMove="1" noResize="1" noEditPoints="1" noAdjustHandles="1" noChangeArrowheads="1" noChangeShapeType="1" noTextEdit="1"/>
              </p:cNvSpPr>
              <p:nvPr>
                <p:ph idx="1"/>
              </p:nvPr>
            </p:nvSpPr>
            <p:spPr>
              <a:blipFill>
                <a:blip r:embed="rId2"/>
                <a:stretch>
                  <a:fillRect l="-174" t="-1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FA0BC273-C277-A2F3-D438-514B71A77C59}"/>
                  </a:ext>
                </a:extLst>
              </p:cNvPr>
              <p:cNvGraphicFramePr>
                <a:graphicFrameLocks noGrp="1"/>
              </p:cNvGraphicFramePr>
              <p:nvPr>
                <p:extLst>
                  <p:ext uri="{D42A27DB-BD31-4B8C-83A1-F6EECF244321}">
                    <p14:modId xmlns:p14="http://schemas.microsoft.com/office/powerpoint/2010/main" val="298684314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33362">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3313701945"/>
                      </a:ext>
                    </a:extLst>
                  </a:tr>
                  <a:tr h="333362">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a:txBody>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a:txBody>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Choice>
        <mc:Fallback xmlns="">
          <p:graphicFrame>
            <p:nvGraphicFramePr>
              <p:cNvPr id="5" name="Table 4">
                <a:extLst>
                  <a:ext uri="{FF2B5EF4-FFF2-40B4-BE49-F238E27FC236}">
                    <a16:creationId xmlns:a16="http://schemas.microsoft.com/office/drawing/2014/main" id="{FA0BC273-C277-A2F3-D438-514B71A77C59}"/>
                  </a:ext>
                </a:extLst>
              </p:cNvPr>
              <p:cNvGraphicFramePr>
                <a:graphicFrameLocks noGrp="1"/>
              </p:cNvGraphicFramePr>
              <p:nvPr>
                <p:extLst>
                  <p:ext uri="{D42A27DB-BD31-4B8C-83A1-F6EECF244321}">
                    <p14:modId xmlns:p14="http://schemas.microsoft.com/office/powerpoint/2010/main" val="298684314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0952" t="-6667" r="-101905" b="-228333"/>
                          </a:stretch>
                        </a:blipFill>
                      </a:tcPr>
                    </a:tc>
                    <a:tc>
                      <a:txBody>
                        <a:bodyPr/>
                        <a:lstStyle/>
                        <a:p>
                          <a:endParaRPr lang="en-US"/>
                        </a:p>
                      </a:txBody>
                      <a:tcPr>
                        <a:blipFill>
                          <a:blip r:embed="rId3"/>
                          <a:stretch>
                            <a:fillRect l="-200952" t="-6667" r="-1905" b="-228333"/>
                          </a:stretch>
                        </a:blipFill>
                      </a:tcPr>
                    </a:tc>
                    <a:extLst>
                      <a:ext uri="{0D108BD9-81ED-4DB2-BD59-A6C34878D82A}">
                        <a16:rowId xmlns:a16="http://schemas.microsoft.com/office/drawing/2014/main" val="3313701945"/>
                      </a:ext>
                    </a:extLst>
                  </a:tr>
                  <a:tr h="365760">
                    <a:tc>
                      <a:txBody>
                        <a:bodyPr/>
                        <a:lstStyle/>
                        <a:p>
                          <a:endParaRPr lang="en-US"/>
                        </a:p>
                      </a:txBody>
                      <a:tcPr>
                        <a:blipFill>
                          <a:blip r:embed="rId3"/>
                          <a:stretch>
                            <a:fillRect l="-952" t="-104918" r="-201905" b="-124590"/>
                          </a:stretch>
                        </a:blipFill>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endParaRPr lang="en-US"/>
                        </a:p>
                      </a:txBody>
                      <a:tcPr>
                        <a:blipFill>
                          <a:blip r:embed="rId3"/>
                          <a:stretch>
                            <a:fillRect l="-952" t="-189394" r="-201905" b="-15152"/>
                          </a:stretch>
                        </a:blipFill>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2542781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fontScale="92500" lnSpcReduction="10000"/>
              </a:bodyPr>
              <a:lstStyle/>
              <a:p>
                <a:r>
                  <a:rPr lang="en-US" dirty="0"/>
                  <a:t>Accuracy, Sensitivity, Specificity, F1, ROC – AUC are not appropriate loss functions</a:t>
                </a:r>
              </a:p>
              <a:p>
                <a:r>
                  <a:rPr lang="en-US" dirty="0"/>
                  <a:t>All 5 metrics are based on </a:t>
                </a:r>
                <a14:m>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(the confusion matrix)</a:t>
                </a:r>
              </a:p>
              <a:p>
                <a:r>
                  <a:rPr lang="en-US" dirty="0"/>
                  <a:t>These values reduce the prediction probabilities to binary matching</a:t>
                </a:r>
              </a:p>
              <a:p>
                <a:r>
                  <a:rPr lang="en-US" dirty="0"/>
                  <a:t>We don’t train with these metrics for the same reason we use softmax instead of hardmax</a:t>
                </a:r>
              </a:p>
              <a:p>
                <a14:m>
                  <m:oMath xmlns:m="http://schemas.openxmlformats.org/officeDocument/2006/math">
                    <m:r>
                      <m:rPr>
                        <m:sty m:val="p"/>
                      </m:rPr>
                      <a:rPr lang="en-US" b="0" i="0" smtClean="0">
                        <a:latin typeface="Cambria Math" panose="02040503050406030204" pitchFamily="18" charset="0"/>
                      </a:rPr>
                      <m:t>softmax</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z</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𝐼</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sup>
                            </m:sSup>
                          </m:num>
                          <m:den>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i="1">
                                            <a:latin typeface="Cambria Math" panose="02040503050406030204" pitchFamily="18" charset="0"/>
                                          </a:rPr>
                                          <m:t>𝛼</m:t>
                                        </m:r>
                                        <m:r>
                                          <a:rPr lang="en-US" b="0" i="1" smtClean="0">
                                            <a:latin typeface="Cambria Math" panose="02040503050406030204" pitchFamily="18" charset="0"/>
                                          </a:rPr>
                                          <m:t>𝑧</m:t>
                                        </m:r>
                                      </m:e>
                                      <m:sub>
                                        <m:r>
                                          <a:rPr lang="en-US" b="0" i="1" smtClean="0">
                                            <a:latin typeface="Cambria Math" panose="02040503050406030204" pitchFamily="18" charset="0"/>
                                          </a:rPr>
                                          <m:t>𝑖</m:t>
                                        </m:r>
                                      </m:sub>
                                    </m:sSub>
                                  </m:sup>
                                </m:sSup>
                              </m:e>
                            </m:nary>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𝛼</m:t>
                                </m:r>
                                <m:sSub>
                                  <m:sSubPr>
                                    <m:ctrlPr>
                                      <a:rPr lang="en-US" i="1">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𝐼</m:t>
                                    </m:r>
                                  </m:sub>
                                </m:sSub>
                              </m:sup>
                            </m:sSup>
                          </m:num>
                          <m:den>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e>
                                <m:sSup>
                                  <m:sSupPr>
                                    <m:ctrlPr>
                                      <a:rPr lang="en-US" i="1">
                                        <a:latin typeface="Cambria Math" panose="02040503050406030204" pitchFamily="18" charset="0"/>
                                      </a:rPr>
                                    </m:ctrlPr>
                                  </m:sSupPr>
                                  <m:e>
                                    <m:r>
                                      <a:rPr lang="en-US" i="1">
                                        <a:latin typeface="Cambria Math" panose="02040503050406030204" pitchFamily="18" charset="0"/>
                                      </a:rPr>
                                      <m:t>𝑒</m:t>
                                    </m:r>
                                  </m:e>
                                  <m:sup>
                                    <m:sSub>
                                      <m:sSubPr>
                                        <m:ctrlPr>
                                          <a:rPr lang="en-US" i="1">
                                            <a:latin typeface="Cambria Math" panose="02040503050406030204" pitchFamily="18" charset="0"/>
                                          </a:rPr>
                                        </m:ctrlPr>
                                      </m:sSubPr>
                                      <m:e>
                                        <m:r>
                                          <a:rPr lang="en-US" i="1">
                                            <a:latin typeface="Cambria Math" panose="02040503050406030204" pitchFamily="18" charset="0"/>
                                          </a:rPr>
                                          <m:t>𝛼</m:t>
                                        </m:r>
                                        <m:r>
                                          <a:rPr lang="en-US" b="0" i="1" smtClean="0">
                                            <a:latin typeface="Cambria Math" panose="02040503050406030204" pitchFamily="18" charset="0"/>
                                          </a:rPr>
                                          <m:t>𝑧</m:t>
                                        </m:r>
                                      </m:e>
                                      <m:sub>
                                        <m:r>
                                          <a:rPr lang="en-US" i="1">
                                            <a:latin typeface="Cambria Math" panose="02040503050406030204" pitchFamily="18" charset="0"/>
                                          </a:rPr>
                                          <m:t>𝑖</m:t>
                                        </m:r>
                                      </m:sub>
                                    </m:sSub>
                                  </m:sup>
                                </m:sSup>
                              </m:e>
                            </m:nary>
                          </m:den>
                        </m:f>
                      </m:e>
                    </m:d>
                  </m:oMath>
                </a14:m>
                <a:endParaRPr lang="en-US" b="0" dirty="0"/>
              </a:p>
              <a:p>
                <a14:m>
                  <m:oMath xmlns:m="http://schemas.openxmlformats.org/officeDocument/2006/math">
                    <m:r>
                      <m:rPr>
                        <m:sty m:val="p"/>
                      </m:rPr>
                      <a:rPr lang="en-US" b="0" i="0" smtClean="0">
                        <a:latin typeface="Cambria Math" panose="02040503050406030204" pitchFamily="18" charset="0"/>
                      </a:rPr>
                      <m:t>hardmax</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𝐼</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1=</m:t>
                            </m:r>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𝛿</m:t>
                            </m:r>
                          </m:e>
                          <m:sub>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𝑎𝑟𝑔𝑚𝑎𝑥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r>
                  <a:rPr lang="en-US" dirty="0"/>
                  <a:t>hardmax is the limit of softmax as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 ∞</m:t>
                    </m:r>
                  </m:oMath>
                </a14:m>
                <a:r>
                  <a:rPr lang="en-US" dirty="0"/>
                  <a:t>, (minimum entropy)</a:t>
                </a:r>
              </a:p>
            </p:txBody>
          </p:sp>
        </mc:Choice>
        <mc:Fallback xmlns="">
          <p:sp>
            <p:nvSpPr>
              <p:cNvPr id="3" name="Content Placeholder 2">
                <a:extLst>
                  <a:ext uri="{FF2B5EF4-FFF2-40B4-BE49-F238E27FC236}">
                    <a16:creationId xmlns:a16="http://schemas.microsoft.com/office/drawing/2014/main" id="{427661F1-3522-B822-F5A6-BDC16D038BA1}"/>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3512859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p>
        </p:txBody>
      </p:sp>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a:bodyPr>
          <a:lstStyle/>
          <a:p>
            <a:r>
              <a:rPr lang="en-US" dirty="0"/>
              <a:t>If we want to train a classifier, we need a loss that considers the predicted probability, not just the argmax or label prediction</a:t>
            </a:r>
          </a:p>
          <a:p>
            <a:r>
              <a:rPr lang="en-US" dirty="0"/>
              <a:t>For multiclass classification we use cross entropy, which we can derive from maximum log likelihood estimation (MLE)</a:t>
            </a:r>
          </a:p>
          <a:p>
            <a:r>
              <a:rPr lang="en-US" dirty="0"/>
              <a:t>We also see cross entropy in Maximum A Posteriori estimation (MAP) - see my last presentation</a:t>
            </a:r>
          </a:p>
        </p:txBody>
      </p:sp>
    </p:spTree>
    <p:extLst>
      <p:ext uri="{BB962C8B-B14F-4D97-AF65-F5344CB8AC3E}">
        <p14:creationId xmlns:p14="http://schemas.microsoft.com/office/powerpoint/2010/main" val="14820495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a:bodyPr>
          <a:lstStyle/>
          <a:p>
            <a:r>
              <a:rPr lang="en-US" dirty="0"/>
              <a:t>Focal Loss [4]</a:t>
            </a:r>
          </a:p>
          <a:p>
            <a:r>
              <a:rPr lang="en-US" dirty="0"/>
              <a:t>Imbalanced data</a:t>
            </a:r>
          </a:p>
          <a:p>
            <a:r>
              <a:rPr lang="en-US" dirty="0"/>
              <a:t>For example, consider a problem with only a few positive ground truth and mostly negative ground truth</a:t>
            </a:r>
          </a:p>
          <a:p>
            <a:pPr marL="0" indent="0">
              <a:buNone/>
            </a:pPr>
            <a:endParaRPr lang="en-US" dirty="0"/>
          </a:p>
        </p:txBody>
      </p:sp>
    </p:spTree>
    <p:extLst>
      <p:ext uri="{BB962C8B-B14F-4D97-AF65-F5344CB8AC3E}">
        <p14:creationId xmlns:p14="http://schemas.microsoft.com/office/powerpoint/2010/main" val="41502339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fontScale="92500" lnSpcReduction="20000"/>
              </a:bodyPr>
              <a:lstStyle/>
              <a:p>
                <a:r>
                  <a:rPr lang="en-US" dirty="0"/>
                  <a:t>For example, consider a problem with only a few positive ground truth and mostly negative ground truth</a:t>
                </a:r>
              </a:p>
              <a:p>
                <a14:m>
                  <m:oMath xmlns:m="http://schemas.openxmlformats.org/officeDocument/2006/math">
                    <m:r>
                      <a:rPr lang="en-US" b="0" i="1" smtClean="0">
                        <a:latin typeface="Cambria Math" panose="02040503050406030204" pitchFamily="18" charset="0"/>
                      </a:rPr>
                      <m:t>𝐹𝐿</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r>
                  <a:rPr lang="en-US" dirty="0"/>
                  <a:t>, called Focal Loss [4]</a:t>
                </a:r>
                <a:endParaRPr lang="en-US" b="0" dirty="0"/>
              </a:p>
              <a:p>
                <a:r>
                  <a:rPr lang="en-US" dirty="0"/>
                  <a:t>Ground truth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=0</m:t>
                    </m:r>
                  </m:oMath>
                </a14:m>
                <a:r>
                  <a:rPr lang="en-US" dirty="0"/>
                  <a:t> (easy class)</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oMath>
                </a14:m>
                <a:r>
                  <a:rPr lang="en-US" dirty="0"/>
                  <a:t> small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0</m:t>
                                </m:r>
                              </m:sub>
                            </m:sSub>
                          </m:e>
                        </m:d>
                      </m:e>
                    </m:func>
                  </m:oMath>
                </a14:m>
                <a:r>
                  <a:rPr lang="en-US" dirty="0"/>
                  <a:t>, full cross entropy loss for easy class incorrect prediction</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oMath>
                </a14:m>
                <a:r>
                  <a:rPr lang="en-US" dirty="0"/>
                  <a:t> large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func>
                    <m:r>
                      <a:rPr lang="en-US" b="0" i="1" smtClean="0">
                        <a:latin typeface="Cambria Math" panose="02040503050406030204" pitchFamily="18" charset="0"/>
                      </a:rPr>
                      <m:t>&lt;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0</m:t>
                            </m:r>
                          </m:sub>
                        </m:sSub>
                      </m:e>
                    </m:d>
                  </m:oMath>
                </a14:m>
                <a:r>
                  <a:rPr lang="en-US" dirty="0"/>
                  <a:t>, down-weighted cross entropy loss for easy class correct prediction</a:t>
                </a:r>
              </a:p>
              <a:p>
                <a:r>
                  <a:rPr lang="en-US" dirty="0"/>
                  <a:t>Ground truth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=1</m:t>
                    </m:r>
                  </m:oMath>
                </a14:m>
                <a:r>
                  <a:rPr lang="en-US" dirty="0"/>
                  <a:t> (hard class)</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oMath>
                </a14:m>
                <a:r>
                  <a:rPr lang="en-US" dirty="0"/>
                  <a:t> small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e>
                        </m:d>
                      </m:e>
                    </m:func>
                  </m:oMath>
                </a14:m>
                <a:r>
                  <a:rPr lang="en-US" dirty="0"/>
                  <a:t>, full cross entropy loss for hard class incorrect prediction</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oMath>
                </a14:m>
                <a:r>
                  <a:rPr lang="en-US" dirty="0"/>
                  <a:t> large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func>
                    <m:r>
                      <a:rPr lang="en-US" b="0" i="1" smtClean="0">
                        <a:latin typeface="Cambria Math" panose="02040503050406030204" pitchFamily="18" charset="0"/>
                      </a:rPr>
                      <m:t>&lt;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e>
                        </m:d>
                      </m:e>
                    </m:func>
                  </m:oMath>
                </a14:m>
                <a:r>
                  <a:rPr lang="en-US" dirty="0"/>
                  <a:t>, down-weighted cross entropy loss for hard class correct prediction (which is accepted because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e>
                        </m:d>
                      </m:e>
                    </m:func>
                    <m:r>
                      <a:rPr lang="en-US" b="0" i="1" smtClean="0">
                        <a:latin typeface="Cambria Math" panose="02040503050406030204" pitchFamily="18" charset="0"/>
                      </a:rPr>
                      <m:t>≈0</m:t>
                    </m:r>
                  </m:oMath>
                </a14:m>
                <a:r>
                  <a:rPr lang="en-US" dirty="0"/>
                  <a:t> for high probability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oMath>
                </a14:m>
                <a:r>
                  <a:rPr lang="en-US" dirty="0"/>
                  <a:t>)</a:t>
                </a:r>
              </a:p>
              <a:p>
                <a:pPr lvl="1"/>
                <a:endParaRPr lang="en-US" dirty="0"/>
              </a:p>
            </p:txBody>
          </p:sp>
        </mc:Choice>
        <mc:Fallback xmlns="">
          <p:sp>
            <p:nvSpPr>
              <p:cNvPr id="3" name="Content Placeholder 2">
                <a:extLst>
                  <a:ext uri="{FF2B5EF4-FFF2-40B4-BE49-F238E27FC236}">
                    <a16:creationId xmlns:a16="http://schemas.microsoft.com/office/drawing/2014/main" id="{427661F1-3522-B822-F5A6-BDC16D038BA1}"/>
                  </a:ext>
                </a:extLst>
              </p:cNvPr>
              <p:cNvSpPr>
                <a:spLocks noGrp="1" noRot="1" noChangeAspect="1" noMove="1" noResize="1" noEditPoints="1" noAdjustHandles="1" noChangeArrowheads="1" noChangeShapeType="1" noTextEdit="1"/>
              </p:cNvSpPr>
              <p:nvPr>
                <p:ph idx="1"/>
              </p:nvPr>
            </p:nvSpPr>
            <p:spPr>
              <a:blipFill>
                <a:blip r:embed="rId2"/>
                <a:stretch>
                  <a:fillRect l="-928" t="-3501" r="-1159" b="-560"/>
                </a:stretch>
              </a:blipFill>
            </p:spPr>
            <p:txBody>
              <a:bodyPr/>
              <a:lstStyle/>
              <a:p>
                <a:r>
                  <a:rPr lang="en-US">
                    <a:noFill/>
                  </a:rPr>
                  <a:t> </a:t>
                </a:r>
              </a:p>
            </p:txBody>
          </p:sp>
        </mc:Fallback>
      </mc:AlternateContent>
    </p:spTree>
    <p:extLst>
      <p:ext uri="{BB962C8B-B14F-4D97-AF65-F5344CB8AC3E}">
        <p14:creationId xmlns:p14="http://schemas.microsoft.com/office/powerpoint/2010/main" val="2010562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fontScale="77500" lnSpcReduction="20000"/>
              </a:bodyPr>
              <a:lstStyle/>
              <a:p>
                <a:r>
                  <a:rPr lang="en-US" dirty="0"/>
                  <a:t>Balanced Focal Loss</a:t>
                </a:r>
              </a:p>
              <a:p>
                <a:pPr lvl="1"/>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r>
                  <a:rPr lang="en-US" dirty="0"/>
                  <a:t> (refined Focal Loss from paper) [4]</a:t>
                </a:r>
              </a:p>
              <a:p>
                <a:r>
                  <a:rPr lang="en-US" dirty="0"/>
                  <a:t>Symmetric Focal Loss (example of loss design)</a:t>
                </a:r>
              </a:p>
              <a:p>
                <a:pPr lvl="1"/>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endParaRPr lang="en-US" b="0" dirty="0"/>
              </a:p>
              <a:p>
                <a:pPr lvl="1"/>
                <a:r>
                  <a:rPr lang="en-US" dirty="0"/>
                  <a:t>Has a symmetric (more intuitive) interpretation</a:t>
                </a:r>
              </a:p>
              <a:p>
                <a:pPr lvl="2"/>
                <a:r>
                  <a:rPr lang="en-US" dirty="0"/>
                  <a:t>Down-weight the cross-entropy loss for the easy examples</a:t>
                </a:r>
              </a:p>
              <a:p>
                <a:pPr lvl="2"/>
                <a:r>
                  <a:rPr lang="en-US" dirty="0"/>
                  <a:t>Use full cross-entropy loss for the hard examples</a:t>
                </a:r>
              </a:p>
              <a:p>
                <a:pPr lvl="1"/>
                <a:r>
                  <a:rPr lang="en-US" dirty="0"/>
                  <a:t>If there are a large number of easy examples, original Focal Loss does not down-weight easy misclassified examples, which may overwhelm the few number of hard examples </a:t>
                </a:r>
              </a:p>
              <a:p>
                <a:pPr lvl="1"/>
                <a:r>
                  <a:rPr lang="en-US" dirty="0"/>
                  <a:t>Extends nicely to multiclass without modification (not explicitly done in Focal Loss paper)</a:t>
                </a:r>
              </a:p>
              <a:p>
                <a:pPr lvl="1"/>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r>
                  <a:rPr lang="en-US" b="0" dirty="0"/>
                  <a:t>, this multiclass form down-weights each class based on the value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oMath>
                </a14:m>
                <a:r>
                  <a:rPr lang="en-US" b="0" dirty="0"/>
                  <a:t> (which can be interpreted as the relative balance of data per class </a:t>
                </a:r>
                <a:r>
                  <a:rPr lang="en-US" b="0" i="1" dirty="0"/>
                  <a:t>i</a:t>
                </a:r>
                <a:r>
                  <a:rPr lang="en-US" b="0" dirty="0"/>
                  <a:t>)</a:t>
                </a:r>
              </a:p>
              <a:p>
                <a:pPr lvl="1"/>
                <a:r>
                  <a:rPr lang="en-US" dirty="0"/>
                  <a:t>For all forms original focal loss, balanced focal loss, and symmetric focal loss the </a:t>
                </a:r>
                <a14:m>
                  <m:oMath xmlns:m="http://schemas.openxmlformats.org/officeDocument/2006/math">
                    <m:r>
                      <a:rPr lang="en-US" b="0" i="1" smtClean="0">
                        <a:latin typeface="Cambria Math" panose="02040503050406030204" pitchFamily="18" charset="0"/>
                      </a:rPr>
                      <m:t>𝛾</m:t>
                    </m:r>
                  </m:oMath>
                </a14:m>
                <a:r>
                  <a:rPr lang="en-US" dirty="0"/>
                  <a:t> hyperparameter retains the same interpretation as the amount of down-weighting (</a:t>
                </a:r>
                <a14:m>
                  <m:oMath xmlns:m="http://schemas.openxmlformats.org/officeDocument/2006/math">
                    <m:r>
                      <a:rPr lang="en-US" i="1" smtClean="0">
                        <a:latin typeface="Cambria Math" panose="02040503050406030204" pitchFamily="18" charset="0"/>
                      </a:rPr>
                      <m:t>𝛾</m:t>
                    </m:r>
                  </m:oMath>
                </a14:m>
                <a:r>
                  <a:rPr lang="en-US" dirty="0"/>
                  <a:t> needs to be larger that 1 to down-weight, which the paper doesn’t mention)</a:t>
                </a:r>
              </a:p>
            </p:txBody>
          </p:sp>
        </mc:Choice>
        <mc:Fallback xmlns="">
          <p:sp>
            <p:nvSpPr>
              <p:cNvPr id="3" name="Content Placeholder 2">
                <a:extLst>
                  <a:ext uri="{FF2B5EF4-FFF2-40B4-BE49-F238E27FC236}">
                    <a16:creationId xmlns:a16="http://schemas.microsoft.com/office/drawing/2014/main" id="{427661F1-3522-B822-F5A6-BDC16D038BA1}"/>
                  </a:ext>
                </a:extLst>
              </p:cNvPr>
              <p:cNvSpPr>
                <a:spLocks noGrp="1" noRot="1" noChangeAspect="1" noMove="1" noResize="1" noEditPoints="1" noAdjustHandles="1" noChangeArrowheads="1" noChangeShapeType="1" noTextEdit="1"/>
              </p:cNvSpPr>
              <p:nvPr>
                <p:ph idx="1"/>
              </p:nvPr>
            </p:nvSpPr>
            <p:spPr>
              <a:blipFill>
                <a:blip r:embed="rId2"/>
                <a:stretch>
                  <a:fillRect l="-696" t="-2661" r="-812"/>
                </a:stretch>
              </a:blipFill>
            </p:spPr>
            <p:txBody>
              <a:bodyPr/>
              <a:lstStyle/>
              <a:p>
                <a:r>
                  <a:rPr lang="en-US">
                    <a:noFill/>
                  </a:rPr>
                  <a:t> </a:t>
                </a:r>
              </a:p>
            </p:txBody>
          </p:sp>
        </mc:Fallback>
      </mc:AlternateContent>
    </p:spTree>
    <p:extLst>
      <p:ext uri="{BB962C8B-B14F-4D97-AF65-F5344CB8AC3E}">
        <p14:creationId xmlns:p14="http://schemas.microsoft.com/office/powerpoint/2010/main" val="2277717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a:bodyPr>
          <a:lstStyle/>
          <a:p>
            <a:r>
              <a:rPr lang="en-US" dirty="0"/>
              <a:t>Future consideration</a:t>
            </a:r>
          </a:p>
          <a:p>
            <a:r>
              <a:rPr lang="en-US" dirty="0"/>
              <a:t>Can use decision theory to find loss that fixes specificity at a desired level and tries to maximize sensitivity</a:t>
            </a:r>
          </a:p>
        </p:txBody>
      </p:sp>
    </p:spTree>
    <p:extLst>
      <p:ext uri="{BB962C8B-B14F-4D97-AF65-F5344CB8AC3E}">
        <p14:creationId xmlns:p14="http://schemas.microsoft.com/office/powerpoint/2010/main" val="1224537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AC95-DB93-15D2-D711-3B1C872459AE}"/>
              </a:ext>
            </a:extLst>
          </p:cNvPr>
          <p:cNvSpPr>
            <a:spLocks noGrp="1"/>
          </p:cNvSpPr>
          <p:nvPr>
            <p:ph type="title"/>
          </p:nvPr>
        </p:nvSpPr>
        <p:spPr/>
        <p:txBody>
          <a:bodyPr/>
          <a:lstStyle/>
          <a:p>
            <a:r>
              <a:rPr lang="en-US" dirty="0"/>
              <a:t>Loss vs Accuracy</a:t>
            </a:r>
          </a:p>
        </p:txBody>
      </p:sp>
      <p:sp>
        <p:nvSpPr>
          <p:cNvPr id="3" name="Content Placeholder 2">
            <a:extLst>
              <a:ext uri="{FF2B5EF4-FFF2-40B4-BE49-F238E27FC236}">
                <a16:creationId xmlns:a16="http://schemas.microsoft.com/office/drawing/2014/main" id="{5FDEDE6A-A07D-CF28-47E1-8C1DE802B778}"/>
              </a:ext>
            </a:extLst>
          </p:cNvPr>
          <p:cNvSpPr>
            <a:spLocks noGrp="1"/>
          </p:cNvSpPr>
          <p:nvPr>
            <p:ph idx="1"/>
          </p:nvPr>
        </p:nvSpPr>
        <p:spPr/>
        <p:txBody>
          <a:bodyPr/>
          <a:lstStyle/>
          <a:p>
            <a:r>
              <a:rPr lang="en-US" dirty="0"/>
              <a:t>What is a better predictor of testing accuracy?</a:t>
            </a:r>
          </a:p>
          <a:p>
            <a:pPr lvl="1"/>
            <a:r>
              <a:rPr lang="en-US" dirty="0"/>
              <a:t>Validation Loss or</a:t>
            </a:r>
          </a:p>
          <a:p>
            <a:pPr lvl="1"/>
            <a:r>
              <a:rPr lang="en-US" dirty="0"/>
              <a:t>Validation Accuracy?</a:t>
            </a:r>
          </a:p>
          <a:p>
            <a:r>
              <a:rPr lang="en-US" dirty="0"/>
              <a:t>I believe validation accuracy is a better indicator, because the goal of a predictor is to predict which is measured by accuracy. Just because a model is confident, doesn’t mean that it is correct. It can also be confident and incorrect. It is hard to find a satisfying interpretation of prediction confidence. I couldn’t find an answer, so I did the following analysis. </a:t>
            </a:r>
          </a:p>
        </p:txBody>
      </p:sp>
    </p:spTree>
    <p:extLst>
      <p:ext uri="{BB962C8B-B14F-4D97-AF65-F5344CB8AC3E}">
        <p14:creationId xmlns:p14="http://schemas.microsoft.com/office/powerpoint/2010/main" val="3633633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First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For any model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0</m:t>
                        </m:r>
                      </m:sup>
                    </m:sSup>
                  </m:oMath>
                </a14:m>
                <a:r>
                  <a:rPr lang="en-US" dirty="0"/>
                  <a:t> with validation loss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𝐿</m:t>
                        </m:r>
                      </m:e>
                      <m:sub>
                        <m:r>
                          <a:rPr lang="en-US" b="0" i="1" smtClean="0">
                            <a:latin typeface="Cambria Math" panose="02040503050406030204" pitchFamily="18" charset="0"/>
                          </a:rPr>
                          <m:t>𝑉</m:t>
                        </m:r>
                      </m:sub>
                      <m:sup>
                        <m:r>
                          <a:rPr lang="en-US" b="0" i="1" smtClean="0">
                            <a:latin typeface="Cambria Math" panose="02040503050406030204" pitchFamily="18" charset="0"/>
                          </a:rPr>
                          <m:t>0</m:t>
                        </m:r>
                      </m:sup>
                    </m:sSubSup>
                  </m:oMath>
                </a14:m>
                <a:r>
                  <a:rPr lang="en-US" dirty="0"/>
                  <a:t> and testing accuracy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0</m:t>
                        </m:r>
                      </m:sup>
                    </m:sSubSup>
                  </m:oMath>
                </a14:m>
                <a:r>
                  <a:rPr lang="en-US" dirty="0"/>
                  <a:t>, there exists a family of models </a:t>
                </a:r>
                <a14:m>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𝑀</m:t>
                        </m:r>
                      </m:e>
                      <m:sup>
                        <m:r>
                          <a:rPr lang="en-US" b="0" i="1" smtClean="0">
                            <a:latin typeface="Cambria Math" panose="02040503050406030204" pitchFamily="18" charset="0"/>
                          </a:rPr>
                          <m:t>∗</m:t>
                        </m:r>
                      </m:sup>
                    </m:sSup>
                  </m:oMath>
                </a14:m>
                <a:r>
                  <a:rPr lang="en-US" dirty="0"/>
                  <a:t> with validation loss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𝑉</m:t>
                        </m:r>
                      </m:sub>
                    </m:sSub>
                  </m:oMath>
                </a14:m>
                <a:r>
                  <a:rPr lang="en-US" dirty="0"/>
                  <a:t> and testing accuracy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0</m:t>
                        </m:r>
                      </m:sup>
                    </m:sSubSup>
                  </m:oMath>
                </a14:m>
                <a:r>
                  <a:rPr lang="en-US" dirty="0"/>
                  <a:t>.</a:t>
                </a:r>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t="-2101" r="-1159"/>
                </a:stretch>
              </a:blipFill>
            </p:spPr>
            <p:txBody>
              <a:bodyPr/>
              <a:lstStyle/>
              <a:p>
                <a:r>
                  <a:rPr lang="en-US">
                    <a:noFill/>
                  </a:rPr>
                  <a:t> </a:t>
                </a:r>
              </a:p>
            </p:txBody>
          </p:sp>
        </mc:Fallback>
      </mc:AlternateContent>
    </p:spTree>
    <p:extLst>
      <p:ext uri="{BB962C8B-B14F-4D97-AF65-F5344CB8AC3E}">
        <p14:creationId xmlns:p14="http://schemas.microsoft.com/office/powerpoint/2010/main" val="19798468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First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Proof by construction:</a:t>
                </a:r>
              </a:p>
              <a:p>
                <a:pPr lvl="1"/>
                <a:r>
                  <a:rPr lang="en-US" dirty="0"/>
                  <a:t>Given original model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0</m:t>
                        </m:r>
                      </m:sup>
                    </m:sSup>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𝑀</m:t>
                        </m:r>
                      </m:e>
                      <m:sup>
                        <m:r>
                          <a:rPr lang="en-US" b="0" i="1" smtClean="0">
                            <a:latin typeface="Cambria Math" panose="02040503050406030204" pitchFamily="18" charset="0"/>
                          </a:rPr>
                          <m:t>∗</m:t>
                        </m:r>
                      </m:sup>
                    </m:sSup>
                  </m:oMath>
                </a14:m>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𝑀</m:t>
                        </m:r>
                      </m:e>
                      <m:sup>
                        <m:r>
                          <a:rPr lang="en-US" i="1">
                            <a:latin typeface="Cambria Math" panose="02040503050406030204" pitchFamily="18" charset="0"/>
                          </a:rPr>
                          <m:t>0</m:t>
                        </m:r>
                      </m:sup>
                    </m:sSup>
                  </m:oMath>
                </a14:m>
                <a:r>
                  <a:rPr lang="en-US" dirty="0"/>
                  <a:t> with new softmax temperature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𝛼</m:t>
                        </m:r>
                      </m:e>
                      <m:sup>
                        <m:r>
                          <a:rPr lang="en-US" b="0" i="1" smtClean="0">
                            <a:latin typeface="Cambria Math" panose="02040503050406030204" pitchFamily="18" charset="0"/>
                          </a:rPr>
                          <m:t>∗</m:t>
                        </m:r>
                      </m:sup>
                    </m:sSup>
                  </m:oMath>
                </a14:m>
                <a:r>
                  <a:rPr lang="en-US" dirty="0"/>
                  <a:t>}</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𝑖</m:t>
                            </m:r>
                          </m:sup>
                        </m:sSup>
                        <m:r>
                          <a:rPr lang="en-US" b="0" i="1" smtClean="0">
                            <a:latin typeface="Cambria Math" panose="02040503050406030204" pitchFamily="18" charset="0"/>
                          </a:rPr>
                          <m:t>∈</m:t>
                        </m:r>
                        <m:r>
                          <a:rPr lang="en-US" i="1" smtClean="0">
                            <a:latin typeface="Cambria Math" panose="02040503050406030204" pitchFamily="18" charset="0"/>
                          </a:rPr>
                          <m:t>𝑀</m:t>
                        </m:r>
                      </m:e>
                      <m:sup>
                        <m:r>
                          <a:rPr lang="en-US" b="0" i="1" smtClean="0">
                            <a:latin typeface="Cambria Math" panose="02040503050406030204" pitchFamily="18" charset="0"/>
                          </a:rPr>
                          <m:t>∗</m:t>
                        </m:r>
                      </m:sup>
                    </m:sSup>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𝑖</m:t>
                        </m:r>
                      </m:sup>
                    </m:sSup>
                  </m:oMath>
                </a14:m>
                <a:r>
                  <a:rPr lang="en-US" dirty="0"/>
                  <a:t> has validation loss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𝑖</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𝑉</m:t>
                        </m:r>
                      </m:sub>
                    </m:sSub>
                  </m:oMath>
                </a14:m>
                <a:r>
                  <a:rPr lang="en-US" dirty="0"/>
                  <a:t> and testing accuracy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0</m:t>
                        </m:r>
                      </m:sup>
                    </m:sSubSup>
                  </m:oMath>
                </a14:m>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307071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First Consideration</a:t>
            </a:r>
          </a:p>
        </p:txBody>
      </p:sp>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We proved that there are models with different validations losses that have the same expected testing accuracy. </a:t>
            </a:r>
          </a:p>
          <a:p>
            <a:r>
              <a:rPr lang="en-US" dirty="0"/>
              <a:t>This doesn’t mean that we proved expected testing accuracy is better predicted by validation accuracy. </a:t>
            </a:r>
          </a:p>
          <a:p>
            <a:r>
              <a:rPr lang="en-US" dirty="0"/>
              <a:t>See next argument</a:t>
            </a:r>
          </a:p>
        </p:txBody>
      </p:sp>
    </p:spTree>
    <p:extLst>
      <p:ext uri="{BB962C8B-B14F-4D97-AF65-F5344CB8AC3E}">
        <p14:creationId xmlns:p14="http://schemas.microsoft.com/office/powerpoint/2010/main" val="421784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If all predictions had the same confidence, loss is minimized when confidence equals accuracy</a:t>
            </a:r>
          </a:p>
        </p:txBody>
      </p:sp>
    </p:spTree>
    <p:extLst>
      <p:ext uri="{BB962C8B-B14F-4D97-AF65-F5344CB8AC3E}">
        <p14:creationId xmlns:p14="http://schemas.microsoft.com/office/powerpoint/2010/main" val="17849627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endParaRPr lang="en-US" dirty="0"/>
          </a:p>
        </p:txBody>
      </p:sp>
      <p:pic>
        <p:nvPicPr>
          <p:cNvPr id="5" name="Content Placeholder 4" descr="A group of graphs with numbers and lines&#10;&#10;Description automatically generated with medium confidence">
            <a:extLst>
              <a:ext uri="{FF2B5EF4-FFF2-40B4-BE49-F238E27FC236}">
                <a16:creationId xmlns:a16="http://schemas.microsoft.com/office/drawing/2014/main" id="{553C2415-7CE2-F221-B450-C66D12825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050"/>
            <a:ext cx="12192000" cy="6877050"/>
          </a:xfrm>
        </p:spPr>
      </p:pic>
    </p:spTree>
    <p:extLst>
      <p:ext uri="{BB962C8B-B14F-4D97-AF65-F5344CB8AC3E}">
        <p14:creationId xmlns:p14="http://schemas.microsoft.com/office/powerpoint/2010/main" val="406620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normAutofit/>
              </a:bodyPr>
              <a:lstStyle/>
              <a:p>
                <a:r>
                  <a:rPr lang="en-US" dirty="0"/>
                  <a:t>Proof in general case of M classes</a:t>
                </a:r>
              </a:p>
              <a:p>
                <a:pPr lvl="1"/>
                <a14:m>
                  <m:oMath xmlns:m="http://schemas.openxmlformats.org/officeDocument/2006/math">
                    <m:r>
                      <a:rPr lang="en-US" b="0" i="1" smtClean="0">
                        <a:latin typeface="Cambria Math" panose="02040503050406030204" pitchFamily="18" charset="0"/>
                      </a:rPr>
                      <m:t>𝐴</m:t>
                    </m:r>
                  </m:oMath>
                </a14:m>
                <a:r>
                  <a:rPr lang="en-US" dirty="0"/>
                  <a:t> is accuracy, </a:t>
                </a:r>
                <a14:m>
                  <m:oMath xmlns:m="http://schemas.openxmlformats.org/officeDocument/2006/math">
                    <m:r>
                      <a:rPr lang="en-US" b="0" i="1" smtClean="0">
                        <a:latin typeface="Cambria Math" panose="02040503050406030204" pitchFamily="18" charset="0"/>
                      </a:rPr>
                      <m:t>𝑁</m:t>
                    </m:r>
                  </m:oMath>
                </a14:m>
                <a:r>
                  <a:rPr lang="en-US" dirty="0"/>
                  <a:t> is the number of samples, </a:t>
                </a:r>
                <a14:m>
                  <m:oMath xmlns:m="http://schemas.openxmlformats.org/officeDocument/2006/math">
                    <m:r>
                      <a:rPr lang="en-US" b="0" i="1" smtClean="0">
                        <a:latin typeface="Cambria Math" panose="02040503050406030204" pitchFamily="18" charset="0"/>
                      </a:rPr>
                      <m:t>𝑀</m:t>
                    </m:r>
                  </m:oMath>
                </a14:m>
                <a:r>
                  <a:rPr lang="en-US" dirty="0"/>
                  <a:t> is the number of classes,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oMath>
                </a14:m>
                <a:r>
                  <a:rPr lang="en-US" dirty="0"/>
                  <a:t> is the confidence of the predicted class which we fix for all examples and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−1)</m:t>
                    </m:r>
                  </m:oMath>
                </a14:m>
                <a:r>
                  <a:rPr lang="en-US" dirty="0"/>
                  <a:t> is the confidence of the non predicted classes</a:t>
                </a:r>
              </a:p>
              <a:p>
                <a:pPr lvl="1"/>
                <a:r>
                  <a:rPr lang="en-US" dirty="0"/>
                  <a:t>In other words, in we know nothing else, what fixed confidence will minimize loss?</a:t>
                </a:r>
              </a:p>
              <a:p>
                <a:pPr lvl="1"/>
                <a14:m>
                  <m:oMath xmlns:m="http://schemas.openxmlformats.org/officeDocument/2006/math">
                    <m:r>
                      <a:rPr lang="en-US" b="0" i="1" smtClean="0">
                        <a:latin typeface="Cambria Math" panose="02040503050406030204" pitchFamily="18" charset="0"/>
                      </a:rPr>
                      <m:t>𝑙𝑜𝑠𝑠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nary>
                          <m:naryPr>
                            <m:chr m:val="∑"/>
                            <m:limLoc m:val="subSup"/>
                            <m:ctrlPr>
                              <a:rPr lang="en-US" i="1">
                                <a:latin typeface="Cambria Math" panose="02040503050406030204" pitchFamily="18" charset="0"/>
                              </a:rPr>
                            </m:ctrlPr>
                          </m:naryPr>
                          <m:sub>
                            <m:r>
                              <m:rPr>
                                <m:brk m:alnAt="1"/>
                              </m:rPr>
                              <a:rPr lang="en-US" b="0" i="1" smtClean="0">
                                <a:latin typeface="Cambria Math" panose="02040503050406030204" pitchFamily="18" charset="0"/>
                              </a:rPr>
                              <m:t>𝑗</m:t>
                            </m:r>
                            <m:r>
                              <a:rPr lang="en-US" i="1">
                                <a:latin typeface="Cambria Math" panose="02040503050406030204" pitchFamily="18" charset="0"/>
                              </a:rPr>
                              <m:t>=1</m:t>
                            </m:r>
                          </m:sub>
                          <m:sup>
                            <m:r>
                              <a:rPr lang="en-US" b="0" i="1" smtClean="0">
                                <a:latin typeface="Cambria Math" panose="02040503050406030204" pitchFamily="18" charset="0"/>
                              </a:rPr>
                              <m:t>𝑀</m:t>
                            </m:r>
                          </m:sup>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𝑗</m:t>
                                </m:r>
                              </m:e>
                            </m:d>
                            <m:d>
                              <m:dPr>
                                <m:ctrlPr>
                                  <a:rPr lang="en-US" i="1">
                                    <a:latin typeface="Cambria Math" panose="02040503050406030204" pitchFamily="18" charset="0"/>
                                  </a:rPr>
                                </m:ctrlPr>
                              </m:dPr>
                              <m:e>
                                <m:r>
                                  <a:rPr lang="en-US" i="1">
                                    <a:latin typeface="Cambria Math" panose="02040503050406030204" pitchFamily="18" charset="0"/>
                                  </a:rPr>
                                  <m:t>−1</m:t>
                                </m:r>
                              </m:e>
                            </m:d>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𝑃</m:t>
                            </m:r>
                            <m:r>
                              <a:rPr lang="en-US">
                                <a:latin typeface="Cambria Math" panose="02040503050406030204" pitchFamily="18" charset="0"/>
                              </a:rPr>
                              <m:t>(</m:t>
                            </m:r>
                            <m:acc>
                              <m:accPr>
                                <m:chr m:val="̂"/>
                                <m:ctrlPr>
                                  <a:rPr lang="en-US" i="1">
                                    <a:latin typeface="Cambria Math" panose="02040503050406030204" pitchFamily="18" charset="0"/>
                                  </a:rPr>
                                </m:ctrlPr>
                              </m:accPr>
                              <m:e>
                                <m:r>
                                  <m:rPr>
                                    <m:sty m:val="p"/>
                                  </m:rPr>
                                  <a:rPr lang="en-US">
                                    <a:latin typeface="Cambria Math" panose="02040503050406030204" pitchFamily="18" charset="0"/>
                                  </a:rPr>
                                  <m:t>y</m:t>
                                </m:r>
                              </m:e>
                            </m:acc>
                            <m:r>
                              <a:rPr lang="en-US">
                                <a:latin typeface="Cambria Math" panose="02040503050406030204" pitchFamily="18" charset="0"/>
                              </a:rPr>
                              <m:t>=</m:t>
                            </m:r>
                            <m:r>
                              <m:rPr>
                                <m:sty m:val="p"/>
                              </m:rPr>
                              <a:rPr lang="en-US" b="0" i="0" smtClean="0">
                                <a:latin typeface="Cambria Math" panose="02040503050406030204" pitchFamily="18" charset="0"/>
                              </a:rPr>
                              <m:t>j</m:t>
                            </m:r>
                            <m:r>
                              <a:rPr lang="en-US">
                                <a:latin typeface="Cambria Math" panose="02040503050406030204" pitchFamily="18" charset="0"/>
                              </a:rPr>
                              <m:t>)</m:t>
                            </m:r>
                            <m:r>
                              <a:rPr lang="en-US" i="1">
                                <a:latin typeface="Cambria Math" panose="02040503050406030204" pitchFamily="18" charset="0"/>
                              </a:rPr>
                              <m:t>)</m:t>
                            </m:r>
                          </m:e>
                        </m:nary>
                      </m:e>
                    </m:nary>
                    <m:r>
                      <a:rPr lang="en-US" i="1">
                        <a:latin typeface="Cambria Math" panose="02040503050406030204" pitchFamily="18" charset="0"/>
                      </a:rPr>
                      <m:t>=</m:t>
                    </m:r>
                  </m:oMath>
                </a14:m>
                <a:endParaRPr lang="en-US" i="1" dirty="0">
                  <a:latin typeface="Cambria Math" panose="02040503050406030204" pitchFamily="18" charset="0"/>
                </a:endParaRPr>
              </a:p>
              <a:p>
                <a:pPr lvl="1"/>
                <a14:m>
                  <m:oMath xmlns:m="http://schemas.openxmlformats.org/officeDocument/2006/math">
                    <m:r>
                      <a:rPr lang="en-US" sz="2000" b="0" i="1" smtClean="0">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i="1">
                                <a:latin typeface="Cambria Math" panose="02040503050406030204" pitchFamily="18" charset="0"/>
                              </a:rPr>
                              <m:t>𝑦</m:t>
                            </m:r>
                          </m:e>
                          <m:sub>
                            <m:r>
                              <a:rPr lang="en-US" sz="2000" b="0" i="1" smtClean="0">
                                <a:latin typeface="Cambria Math" panose="02040503050406030204" pitchFamily="18" charset="0"/>
                              </a:rPr>
                              <m:t>𝑖</m:t>
                            </m:r>
                          </m:sub>
                        </m:sSub>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𝑗</m:t>
                            </m:r>
                          </m:e>
                          <m:sub>
                            <m:r>
                              <a:rPr lang="en-US" sz="2000" b="0" i="1" smtClean="0">
                                <a:latin typeface="Cambria Math" panose="02040503050406030204" pitchFamily="18" charset="0"/>
                              </a:rPr>
                              <m:t>𝑐𝑜𝑟𝑟𝑒𝑐𝑡</m:t>
                            </m:r>
                          </m:sub>
                        </m:sSub>
                      </m:e>
                    </m:d>
                    <m:d>
                      <m:dPr>
                        <m:ctrlPr>
                          <a:rPr lang="en-US" sz="2000" i="1">
                            <a:latin typeface="Cambria Math" panose="02040503050406030204" pitchFamily="18" charset="0"/>
                          </a:rPr>
                        </m:ctrlPr>
                      </m:dPr>
                      <m:e>
                        <m:r>
                          <a:rPr lang="en-US" sz="2000" i="1">
                            <a:latin typeface="Cambria Math" panose="02040503050406030204" pitchFamily="18" charset="0"/>
                          </a:rPr>
                          <m:t>−1</m:t>
                        </m:r>
                      </m:e>
                    </m:d>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d>
                          <m:dPr>
                            <m:ctrlPr>
                              <a:rPr lang="en-US" sz="2000" i="1">
                                <a:latin typeface="Cambria Math" panose="02040503050406030204" pitchFamily="18" charset="0"/>
                              </a:rPr>
                            </m:ctrlPr>
                          </m:dPr>
                          <m:e>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acc>
                                      <m:accPr>
                                        <m:chr m:val="̂"/>
                                        <m:ctrlPr>
                                          <a:rPr lang="en-US" sz="2000" i="1">
                                            <a:latin typeface="Cambria Math" panose="02040503050406030204" pitchFamily="18" charset="0"/>
                                          </a:rPr>
                                        </m:ctrlPr>
                                      </m:accPr>
                                      <m:e>
                                        <m:r>
                                          <m:rPr>
                                            <m:sty m:val="p"/>
                                          </m:rPr>
                                          <a:rPr lang="en-US" sz="2000">
                                            <a:latin typeface="Cambria Math" panose="02040503050406030204" pitchFamily="18" charset="0"/>
                                          </a:rPr>
                                          <m:t>y</m:t>
                                        </m:r>
                                      </m:e>
                                    </m:acc>
                                  </m:e>
                                  <m:sub>
                                    <m:r>
                                      <a:rPr lang="en-US" sz="2000" b="0" i="1" smtClean="0">
                                        <a:latin typeface="Cambria Math" panose="02040503050406030204" pitchFamily="18" charset="0"/>
                                      </a:rPr>
                                      <m:t>𝑖</m:t>
                                    </m:r>
                                  </m:sub>
                                </m:sSub>
                                <m:r>
                                  <a:rPr lang="en-US" sz="2000">
                                    <a:latin typeface="Cambria Math" panose="02040503050406030204" pitchFamily="18" charset="0"/>
                                  </a:rPr>
                                  <m:t>=</m:t>
                                </m:r>
                                <m:r>
                                  <a:rPr lang="en-US" sz="2000" b="0" i="1" smtClean="0">
                                    <a:latin typeface="Cambria Math" panose="02040503050406030204" pitchFamily="18" charset="0"/>
                                  </a:rPr>
                                  <m:t>𝑗</m:t>
                                </m:r>
                              </m:e>
                            </m:d>
                          </m:e>
                        </m:d>
                      </m:e>
                    </m:func>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𝑗</m:t>
                            </m:r>
                          </m:e>
                          <m:sub>
                            <m:r>
                              <a:rPr lang="en-US" sz="2000" b="0" i="1" smtClean="0">
                                <a:latin typeface="Cambria Math" panose="02040503050406030204" pitchFamily="18" charset="0"/>
                              </a:rPr>
                              <m:t>𝑖𝑛</m:t>
                            </m:r>
                            <m:r>
                              <a:rPr lang="en-US" sz="2000" i="1">
                                <a:latin typeface="Cambria Math" panose="02040503050406030204" pitchFamily="18" charset="0"/>
                              </a:rPr>
                              <m:t>𝑐𝑜𝑟𝑟𝑒𝑐𝑡</m:t>
                            </m:r>
                          </m:sub>
                        </m:sSub>
                      </m:e>
                    </m:d>
                    <m:d>
                      <m:dPr>
                        <m:ctrlPr>
                          <a:rPr lang="en-US" sz="2000" i="1">
                            <a:latin typeface="Cambria Math" panose="02040503050406030204" pitchFamily="18" charset="0"/>
                          </a:rPr>
                        </m:ctrlPr>
                      </m:dPr>
                      <m:e>
                        <m:r>
                          <a:rPr lang="en-US" sz="2000" i="1">
                            <a:latin typeface="Cambria Math" panose="02040503050406030204" pitchFamily="18" charset="0"/>
                          </a:rPr>
                          <m:t>−1</m:t>
                        </m:r>
                      </m:e>
                    </m:d>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d>
                          <m:dPr>
                            <m:ctrlPr>
                              <a:rPr lang="en-US" sz="2000" i="1">
                                <a:latin typeface="Cambria Math" panose="02040503050406030204" pitchFamily="18" charset="0"/>
                              </a:rPr>
                            </m:ctrlPr>
                          </m:dPr>
                          <m:e>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acc>
                                      <m:accPr>
                                        <m:chr m:val="̂"/>
                                        <m:ctrlPr>
                                          <a:rPr lang="en-US" sz="2000" i="1">
                                            <a:latin typeface="Cambria Math" panose="02040503050406030204" pitchFamily="18" charset="0"/>
                                          </a:rPr>
                                        </m:ctrlPr>
                                      </m:accPr>
                                      <m:e>
                                        <m:r>
                                          <m:rPr>
                                            <m:sty m:val="p"/>
                                          </m:rPr>
                                          <a:rPr lang="en-US" sz="2000">
                                            <a:latin typeface="Cambria Math" panose="02040503050406030204" pitchFamily="18" charset="0"/>
                                          </a:rPr>
                                          <m:t>y</m:t>
                                        </m:r>
                                      </m:e>
                                    </m:acc>
                                  </m:e>
                                  <m:sub>
                                    <m:r>
                                      <a:rPr lang="en-US" sz="2000" b="0" i="1" smtClean="0">
                                        <a:latin typeface="Cambria Math" panose="02040503050406030204" pitchFamily="18" charset="0"/>
                                      </a:rPr>
                                      <m:t>𝑖</m:t>
                                    </m:r>
                                  </m:sub>
                                </m:sSub>
                                <m:r>
                                  <a:rPr lang="en-US" sz="2000">
                                    <a:latin typeface="Cambria Math" panose="02040503050406030204" pitchFamily="18" charset="0"/>
                                  </a:rPr>
                                  <m:t>=</m:t>
                                </m:r>
                                <m:r>
                                  <a:rPr lang="en-US" sz="2000" b="0" i="1" smtClean="0">
                                    <a:latin typeface="Cambria Math" panose="02040503050406030204" pitchFamily="18" charset="0"/>
                                  </a:rPr>
                                  <m:t>𝑗</m:t>
                                </m:r>
                              </m:e>
                            </m:d>
                          </m:e>
                        </m:d>
                      </m:e>
                    </m:func>
                  </m:oMath>
                </a14:m>
                <a:endParaRPr lang="en-US" sz="200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𝑙𝑜𝑠𝑠</m:t>
                    </m:r>
                    <m:r>
                      <a:rPr lang="en-US" i="1">
                        <a:latin typeface="Cambria Math" panose="02040503050406030204" pitchFamily="18" charset="0"/>
                      </a:rPr>
                      <m:t>=</m:t>
                    </m:r>
                    <m:r>
                      <a:rPr lang="en-US" i="1">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−1</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𝐴</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oMath>
                </a14:m>
                <a:endParaRPr lang="en-US" dirty="0"/>
              </a:p>
              <a:p>
                <a:pPr lvl="1"/>
                <a14:m>
                  <m:oMath xmlns:m="http://schemas.openxmlformats.org/officeDocument/2006/math">
                    <m:r>
                      <a:rPr lang="en-US" b="0" i="1" smtClean="0">
                        <a:latin typeface="Cambria Math" panose="02040503050406030204" pitchFamily="18" charset="0"/>
                      </a:rPr>
                      <m:t>𝑙𝑜𝑠𝑠</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𝐴</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36916569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normAutofit fontScale="55000" lnSpcReduction="20000"/>
              </a:bodyPr>
              <a:lstStyle/>
              <a:p>
                <a:r>
                  <a:rPr lang="en-US" dirty="0"/>
                  <a:t>Proof continued</a:t>
                </a:r>
              </a:p>
              <a:p>
                <a14:m>
                  <m:oMath xmlns:m="http://schemas.openxmlformats.org/officeDocument/2006/math">
                    <m:r>
                      <a:rPr lang="en-US" b="0" i="1" smtClean="0">
                        <a:latin typeface="Cambria Math" panose="02040503050406030204" pitchFamily="18" charset="0"/>
                      </a:rPr>
                      <m:t>𝑙𝑜𝑠𝑠</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𝐴</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oMath>
                </a14:m>
                <a:endParaRPr lang="en-US" b="0" dirty="0"/>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−1</m:t>
                            </m:r>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e>
                        </m:d>
                      </m:e>
                    </m:func>
                  </m:oMath>
                </a14:m>
                <a:endParaRPr lang="en-US" dirty="0"/>
              </a:p>
              <a:p>
                <a:r>
                  <a:rPr lang="en-US" b="0" dirty="0"/>
                  <a:t>setting derivative to zero</a:t>
                </a:r>
              </a:p>
              <a:p>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
                      <m:fPr>
                        <m:ctrlPr>
                          <a:rPr lang="en-US" i="1">
                            <a:latin typeface="Cambria Math" panose="02040503050406030204" pitchFamily="18" charset="0"/>
                          </a:rPr>
                        </m:ctrlPr>
                      </m:fPr>
                      <m:num>
                        <m:r>
                          <a:rPr lang="en-US" i="1">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
                      <m:fPr>
                        <m:ctrlPr>
                          <a:rPr lang="en-US" i="1">
                            <a:latin typeface="Cambria Math" panose="02040503050406030204" pitchFamily="18" charset="0"/>
                          </a:rPr>
                        </m:ctrlPr>
                      </m:fPr>
                      <m:num>
                        <m:r>
                          <a:rPr lang="en-US" b="0" i="1" smtClean="0">
                            <a:latin typeface="Cambria Math" panose="02040503050406030204" pitchFamily="18" charset="0"/>
                          </a:rPr>
                          <m:t>−</m:t>
                        </m:r>
                        <m:r>
                          <a:rPr lang="en-US" i="1">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i="1">
                                <a:latin typeface="Cambria Math" panose="02040503050406030204" pitchFamily="18" charset="0"/>
                              </a:rPr>
                            </m:ctrlPr>
                          </m:sSupPr>
                          <m:e>
                            <m:r>
                              <a:rPr lang="en-US" b="0" i="1" smtClean="0">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r>
                          <a:rPr lang="en-US" b="0" i="1" smtClean="0">
                            <a:latin typeface="Cambria Math" panose="02040503050406030204" pitchFamily="18" charset="0"/>
                          </a:rPr>
                          <m:t>)</m:t>
                        </m:r>
                      </m:den>
                    </m:f>
                    <m:r>
                      <a:rPr lang="en-US" b="0" i="1" smtClean="0">
                        <a:latin typeface="Cambria Math" panose="02040503050406030204" pitchFamily="18" charset="0"/>
                      </a:rPr>
                      <m:t>=0</m:t>
                    </m:r>
                  </m:oMath>
                </a14:m>
                <a:endParaRPr lang="en-US" b="0" dirty="0"/>
              </a:p>
              <a:p>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
                      <m:fPr>
                        <m:ctrlPr>
                          <a:rPr lang="en-US" i="1">
                            <a:latin typeface="Cambria Math" panose="02040503050406030204" pitchFamily="18" charset="0"/>
                          </a:rPr>
                        </m:ctrlPr>
                      </m:fPr>
                      <m:num>
                        <m:r>
                          <a:rPr lang="en-US" i="1">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den>
                    </m:f>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−1</m:t>
                        </m:r>
                      </m:e>
                    </m:d>
                    <m:f>
                      <m:fPr>
                        <m:ctrlPr>
                          <a:rPr lang="en-US" i="1">
                            <a:latin typeface="Cambria Math" panose="02040503050406030204" pitchFamily="18" charset="0"/>
                          </a:rPr>
                        </m:ctrlPr>
                      </m:fPr>
                      <m:num>
                        <m:r>
                          <a:rPr lang="en-US" b="0" i="1" smtClean="0">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m:t>
                        </m:r>
                      </m:den>
                    </m:f>
                  </m:oMath>
                </a14:m>
                <a:endParaRPr lang="en-US" dirty="0"/>
              </a:p>
              <a:p>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𝐴</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−1</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oMath>
                </a14:m>
                <a:endParaRPr lang="en-US" b="1" dirty="0"/>
              </a:p>
              <a:p>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𝐴</m:t>
                        </m:r>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oMath>
                </a14:m>
                <a:endParaRPr lang="en-US" b="0" dirty="0"/>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oMath>
                </a14:m>
                <a:endParaRPr lang="en-US" b="0" dirty="0"/>
              </a:p>
              <a:p>
                <a:pPr lvl="1"/>
                <a:endParaRPr lang="en-US" b="1" dirty="0"/>
              </a:p>
              <a:p>
                <a:pPr lvl="1"/>
                <a:endParaRPr lang="en-US" b="0"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74" t="-1401"/>
                </a:stretch>
              </a:blipFill>
            </p:spPr>
            <p:txBody>
              <a:bodyPr/>
              <a:lstStyle/>
              <a:p>
                <a:r>
                  <a:rPr lang="en-US">
                    <a:noFill/>
                  </a:rPr>
                  <a:t> </a:t>
                </a:r>
              </a:p>
            </p:txBody>
          </p:sp>
        </mc:Fallback>
      </mc:AlternateContent>
    </p:spTree>
    <p:extLst>
      <p:ext uri="{BB962C8B-B14F-4D97-AF65-F5344CB8AC3E}">
        <p14:creationId xmlns:p14="http://schemas.microsoft.com/office/powerpoint/2010/main" val="36731110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normAutofit/>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oMath>
                </a14:m>
                <a:endParaRPr lang="en-US" b="0" dirty="0"/>
              </a:p>
              <a:p>
                <a:r>
                  <a:rPr lang="en-US" b="0" dirty="0"/>
                  <a:t>Again, this doesn’t prove that</a:t>
                </a:r>
                <a:r>
                  <a:rPr lang="en-US" dirty="0"/>
                  <a:t> expected testing accuracy is better predicted by validation accuracy. </a:t>
                </a:r>
                <a:endParaRPr lang="en-US" b="0" dirty="0"/>
              </a:p>
              <a:p>
                <a:pPr lvl="1"/>
                <a:endParaRPr lang="en-US" b="1" dirty="0"/>
              </a:p>
              <a:p>
                <a:pPr lvl="1"/>
                <a:endParaRPr lang="en-US" b="0"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32078759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FB82-B517-D998-5A37-B0DF8ACFF9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A82D1C8-AF27-7F59-40D2-F2F616431F78}"/>
              </a:ext>
            </a:extLst>
          </p:cNvPr>
          <p:cNvSpPr>
            <a:spLocks noGrp="1"/>
          </p:cNvSpPr>
          <p:nvPr>
            <p:ph idx="1"/>
          </p:nvPr>
        </p:nvSpPr>
        <p:spPr/>
        <p:txBody>
          <a:bodyPr/>
          <a:lstStyle/>
          <a:p>
            <a:pPr marL="0" indent="0">
              <a:buNone/>
            </a:pPr>
            <a:r>
              <a:rPr lang="en-US" dirty="0"/>
              <a:t>[1] Theory of Point Estimation - Lehmann and Casella</a:t>
            </a:r>
          </a:p>
          <a:p>
            <a:pPr marL="0" indent="0">
              <a:buNone/>
            </a:pPr>
            <a:r>
              <a:rPr lang="en-US" dirty="0"/>
              <a:t>[2] Statistical Inference – Azzalini</a:t>
            </a:r>
          </a:p>
          <a:p>
            <a:pPr marL="0" indent="0">
              <a:buNone/>
            </a:pPr>
            <a:r>
              <a:rPr lang="en-US" dirty="0"/>
              <a:t>[3] Fundamentals of Biostatistics – Rosner</a:t>
            </a:r>
          </a:p>
          <a:p>
            <a:pPr marL="0" indent="0">
              <a:buNone/>
            </a:pPr>
            <a:r>
              <a:rPr lang="en-US" dirty="0"/>
              <a:t>[4] Ross et al. – Focal Loss for Dense Object Detection</a:t>
            </a:r>
          </a:p>
          <a:p>
            <a:pPr marL="0" indent="0">
              <a:buNone/>
            </a:pPr>
            <a:endParaRPr lang="en-US" dirty="0"/>
          </a:p>
          <a:p>
            <a:endParaRPr lang="en-US" dirty="0"/>
          </a:p>
        </p:txBody>
      </p:sp>
    </p:spTree>
    <p:extLst>
      <p:ext uri="{BB962C8B-B14F-4D97-AF65-F5344CB8AC3E}">
        <p14:creationId xmlns:p14="http://schemas.microsoft.com/office/powerpoint/2010/main" val="1889832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c39b287-7aca-4654-b2a8-94e67671bf5b" xsi:nil="true"/>
    <lcf76f155ced4ddcb4097134ff3c332f xmlns="3a5ab459-c85a-4335-9f2f-7db03068b3e4">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CAE94C0350B741BE515211F9C3FBC5" ma:contentTypeVersion="18" ma:contentTypeDescription="Create a new document." ma:contentTypeScope="" ma:versionID="50dd32984ebd98adb2a61e46dcfc15d0">
  <xsd:schema xmlns:xsd="http://www.w3.org/2001/XMLSchema" xmlns:xs="http://www.w3.org/2001/XMLSchema" xmlns:p="http://schemas.microsoft.com/office/2006/metadata/properties" xmlns:ns2="fc39b287-7aca-4654-b2a8-94e67671bf5b" xmlns:ns3="3a5ab459-c85a-4335-9f2f-7db03068b3e4" targetNamespace="http://schemas.microsoft.com/office/2006/metadata/properties" ma:root="true" ma:fieldsID="1ac48eeaa6e80448d3cb090ef1595989" ns2:_="" ns3:_="">
    <xsd:import namespace="fc39b287-7aca-4654-b2a8-94e67671bf5b"/>
    <xsd:import namespace="3a5ab459-c85a-4335-9f2f-7db03068b3e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39b287-7aca-4654-b2a8-94e67671bf5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8c83777-d08a-4ee3-b63f-539f21a36b33}" ma:internalName="TaxCatchAll" ma:showField="CatchAllData" ma:web="fc39b287-7aca-4654-b2a8-94e67671bf5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a5ab459-c85a-4335-9f2f-7db03068b3e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c694fdd-f828-4cf4-9107-e290f42f890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A64A39-988F-460B-8B4A-DA9FC3594E17}">
  <ds:schemaRefs>
    <ds:schemaRef ds:uri="http://schemas.microsoft.com/office/2006/metadata/properties"/>
    <ds:schemaRef ds:uri="http://schemas.microsoft.com/office/infopath/2007/PartnerControls"/>
    <ds:schemaRef ds:uri="fc39b287-7aca-4654-b2a8-94e67671bf5b"/>
    <ds:schemaRef ds:uri="3a5ab459-c85a-4335-9f2f-7db03068b3e4"/>
  </ds:schemaRefs>
</ds:datastoreItem>
</file>

<file path=customXml/itemProps2.xml><?xml version="1.0" encoding="utf-8"?>
<ds:datastoreItem xmlns:ds="http://schemas.openxmlformats.org/officeDocument/2006/customXml" ds:itemID="{9F281DBE-F4DE-4C23-BE62-8125AFD02F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39b287-7aca-4654-b2a8-94e67671bf5b"/>
    <ds:schemaRef ds:uri="3a5ab459-c85a-4335-9f2f-7db03068b3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D8C5FE-CBC5-4347-BD3B-6BA598C69F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1283</TotalTime>
  <Words>4673</Words>
  <Application>Microsoft Office PowerPoint</Application>
  <PresentationFormat>Widescreen</PresentationFormat>
  <Paragraphs>443</Paragraphs>
  <Slides>60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Aptos Display</vt:lpstr>
      <vt:lpstr>Arial</vt:lpstr>
      <vt:lpstr>Cambria Math</vt:lpstr>
      <vt:lpstr>Office Theme</vt:lpstr>
      <vt:lpstr>Classification Metrics and Loss Functions</vt:lpstr>
      <vt:lpstr>Overview</vt:lpstr>
      <vt:lpstr>Notation</vt:lpstr>
      <vt:lpstr>Statistical Point Estimation</vt:lpstr>
      <vt:lpstr>Statistical Point Estimation</vt:lpstr>
      <vt:lpstr>Constraining the Point Estimation Problem</vt:lpstr>
      <vt:lpstr>Example of Constrained Point Estimation</vt:lpstr>
      <vt:lpstr>Bayesian solution for urn size</vt:lpstr>
      <vt:lpstr>Bayesian solution for urn size (see related MAP notes from previous lab seminar)</vt:lpstr>
      <vt:lpstr>Bayesian solution for urn size (see related notes from my previous lab seminar)</vt:lpstr>
      <vt:lpstr>Bayesian solution is biased</vt:lpstr>
      <vt:lpstr>Example Unbiased Solution</vt:lpstr>
      <vt:lpstr>UMVU Estimators</vt:lpstr>
      <vt:lpstr>UMVU Estimators</vt:lpstr>
      <vt:lpstr>UMVU Estimators</vt:lpstr>
      <vt:lpstr>UMVU Estimators</vt:lpstr>
      <vt:lpstr>Summary</vt:lpstr>
      <vt:lpstr>Prediction Models -Bias and Variance</vt:lpstr>
      <vt:lpstr>Prediction Models -Bias and Variance</vt:lpstr>
      <vt:lpstr>Prediction Models -Bias and Variance</vt:lpstr>
      <vt:lpstr>Prediction Models -Bias and Variance</vt:lpstr>
      <vt:lpstr>Statistical Hypothesis Testing [3]</vt:lpstr>
      <vt:lpstr>Statistical Hypothesis Testing</vt:lpstr>
      <vt:lpstr>Statistical Hypothesis Testing</vt:lpstr>
      <vt:lpstr>Statistical Hypothesis Testing</vt:lpstr>
      <vt:lpstr>Statistical Hypothesis Testing</vt:lpstr>
      <vt:lpstr>Classification Models -Relationship to Point Estimation</vt:lpstr>
      <vt:lpstr>Classification Models -Relationship to Hypothesis Testing</vt:lpstr>
      <vt:lpstr>Classification Models -Relationship to Hypothesis Testing</vt:lpstr>
      <vt:lpstr>Classification Metrics for Example Applications​ - Sensitivity and Specificity</vt:lpstr>
      <vt:lpstr>Classification Metrics for Example Applications​ - ROC</vt:lpstr>
      <vt:lpstr>Classification Metrics for Example Applications​ - ROC</vt:lpstr>
      <vt:lpstr>Classification Metrics for Example Applications​ - ROC Multiclass</vt:lpstr>
      <vt:lpstr>Classification Metrics for Example Applications​ - ROC Security Application</vt:lpstr>
      <vt:lpstr>Classification Metrics for Example Applications​ - ROC Multiclass</vt:lpstr>
      <vt:lpstr>Classification Metrics for Example Applications​ - ROC Multiclass</vt:lpstr>
      <vt:lpstr>Classification Metrics for Example Applications​ - ROC Multiclass</vt:lpstr>
      <vt:lpstr>Classification Metrics for Example Applications​ - ROC Security Application</vt:lpstr>
      <vt:lpstr>Classification Metrics for Example Applications​ - ROC Security Application</vt:lpstr>
      <vt:lpstr>Classification Metrics for Example Applications​ - ROC Security Application</vt:lpstr>
      <vt:lpstr>Classification Metrics for Example Applications​ -Precision and Recall</vt:lpstr>
      <vt:lpstr>Classification Metrics for Example Applications​ -Sensitivity and Specificity vs Precision and Recall</vt:lpstr>
      <vt:lpstr>Classification Metrics for Example Applications​ -Sensitivity and Specificity vs Precision and Recall</vt:lpstr>
      <vt:lpstr>Classification Metrics for Example Applications​ -Sensitivity and Specificity vs Precision and Recall</vt:lpstr>
      <vt:lpstr>Classification Metrics vs Loss Functions</vt:lpstr>
      <vt:lpstr>Classification Metrics vs Loss Functions</vt:lpstr>
      <vt:lpstr>Classification Metrics vs Loss Functions -Imbalanced Data</vt:lpstr>
      <vt:lpstr>Classification Metrics vs Loss Functions -Imbalanced Data</vt:lpstr>
      <vt:lpstr>Classification Metrics vs Loss Functions -Imbalanced Data</vt:lpstr>
      <vt:lpstr>Classification Metrics vs Loss Functions -Imbalanced Data</vt:lpstr>
      <vt:lpstr>Loss vs Accuracy</vt:lpstr>
      <vt:lpstr>First Consideration</vt:lpstr>
      <vt:lpstr>First Consideration</vt:lpstr>
      <vt:lpstr>First Consideration</vt:lpstr>
      <vt:lpstr>Second Consideration</vt:lpstr>
      <vt:lpstr>PowerPoint Presentation</vt:lpstr>
      <vt:lpstr>Second Consideration</vt:lpstr>
      <vt:lpstr>Second Consideration</vt:lpstr>
      <vt:lpstr>Second Consideration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Metrics and Loss Functions</dc:title>
  <dc:creator>GLANDON, ALEXANDER M.</dc:creator>
  <cp:lastModifiedBy>GLANDON, ALEXANDER M.</cp:lastModifiedBy>
  <cp:revision>581</cp:revision>
  <dcterms:created xsi:type="dcterms:W3CDTF">2024-11-25T02:08:21Z</dcterms:created>
  <dcterms:modified xsi:type="dcterms:W3CDTF">2025-12-20T04:20:41Z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0x010100CACAE94C0350B741BE515211F9C3FBC5</vt:lpwstr>
  </property>
</Properties>
</file>