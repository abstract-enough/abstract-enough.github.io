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9" r:id="rId13"/>
    <p:sldId id="271" r:id="rId14"/>
    <p:sldId id="272" r:id="rId15"/>
    <p:sldId id="273" r:id="rId16"/>
    <p:sldId id="274" r:id="rId17"/>
    <p:sldId id="275" r:id="rId18"/>
    <p:sldId id="276"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1" d="100"/>
          <a:sy n="121" d="100"/>
        </p:scale>
        <p:origin x="1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B8429-8344-B426-E883-A5F062397B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903A2B-B94A-62C5-C8D5-AB960D0838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77E91B-B8C1-68B6-4539-E6768C33FCC6}"/>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5" name="Footer Placeholder 4">
            <a:extLst>
              <a:ext uri="{FF2B5EF4-FFF2-40B4-BE49-F238E27FC236}">
                <a16:creationId xmlns:a16="http://schemas.microsoft.com/office/drawing/2014/main" id="{F23F2AD5-0FE6-3DF8-939F-7CA28E0771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6EFA64-59BB-DFD6-FBF2-1AA3D216028D}"/>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3325529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5FC43-257C-43FE-22D7-7890F22554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719ACD-E467-0C04-E00E-78347D2293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222B90-B9D6-481C-E0A7-13FE38E375CC}"/>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5" name="Footer Placeholder 4">
            <a:extLst>
              <a:ext uri="{FF2B5EF4-FFF2-40B4-BE49-F238E27FC236}">
                <a16:creationId xmlns:a16="http://schemas.microsoft.com/office/drawing/2014/main" id="{12CD8001-52CD-B6E0-1C21-AD1A7387DB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9E6638-E1BB-840A-D83C-2EA245008F2F}"/>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3743531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81DE-F2AD-5FF8-0AC9-96C7FAC181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08A82C-BCE6-4F74-2F49-EBBEF73FD1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FED66C-5AFC-8276-4EEE-319035B9293C}"/>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5" name="Footer Placeholder 4">
            <a:extLst>
              <a:ext uri="{FF2B5EF4-FFF2-40B4-BE49-F238E27FC236}">
                <a16:creationId xmlns:a16="http://schemas.microsoft.com/office/drawing/2014/main" id="{73135AD5-66EB-8B0D-5200-5F5C7B52A9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14BAAF-30D3-E8FA-81FA-CE4BF3CBD83C}"/>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526955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6EC35-3177-8956-7FD6-614D851C0E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2E3501-3082-0949-03FA-FCBD59349C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F8C88E-86CD-169A-86DA-E4FB19B843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05CA1A-785F-367B-3627-F406CABDC102}"/>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6" name="Footer Placeholder 5">
            <a:extLst>
              <a:ext uri="{FF2B5EF4-FFF2-40B4-BE49-F238E27FC236}">
                <a16:creationId xmlns:a16="http://schemas.microsoft.com/office/drawing/2014/main" id="{C6A53AB0-D28E-5F20-6A3A-7F8770D9D2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7A49E7-738A-7860-E4BF-A5CF2E24D0C2}"/>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389190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348F-1701-8CDA-4D40-2E00D4C201B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15D91F-3BAA-C56C-EDCF-A54A354EBF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5BCBFA-275F-2017-9537-E6221C4826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54E3A1-C1CC-F6D5-04EA-98A4290264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32A0B4-7D7F-0FD2-FE1C-D2A546F649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43FB37-4E79-8CA7-D4C4-F314EAA3ED7C}"/>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8" name="Footer Placeholder 7">
            <a:extLst>
              <a:ext uri="{FF2B5EF4-FFF2-40B4-BE49-F238E27FC236}">
                <a16:creationId xmlns:a16="http://schemas.microsoft.com/office/drawing/2014/main" id="{FBA5C28F-666F-8BCF-D3BC-2AA4E275891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DC690F-7800-0BFE-B2D5-B211B6657BED}"/>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562509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5675F-D88B-98F1-FCE8-E049E55E2D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F1B93E-0B03-0E2A-ECA6-860D259BABA8}"/>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4" name="Footer Placeholder 3">
            <a:extLst>
              <a:ext uri="{FF2B5EF4-FFF2-40B4-BE49-F238E27FC236}">
                <a16:creationId xmlns:a16="http://schemas.microsoft.com/office/drawing/2014/main" id="{7C1E39A2-709F-17E2-35DA-20E72924E9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A4A97D-986C-14FA-FB57-62985B092AF4}"/>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754186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486B91-096C-B474-0D7C-6EAFB4FE99D4}"/>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3" name="Footer Placeholder 2">
            <a:extLst>
              <a:ext uri="{FF2B5EF4-FFF2-40B4-BE49-F238E27FC236}">
                <a16:creationId xmlns:a16="http://schemas.microsoft.com/office/drawing/2014/main" id="{358F4ED8-0F04-B9B4-9136-7A89986816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3E0F8D-E553-AD52-D6DA-9E2B332F49A6}"/>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3073741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E76B3-3164-92E1-AA9C-F9DFDE4949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4279D1-4B3E-BA5C-4B19-EA78D796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6B036F-56EF-EE4E-89EC-AFCB1ADA6C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992498-688E-8A92-411B-AF00937488BF}"/>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6" name="Footer Placeholder 5">
            <a:extLst>
              <a:ext uri="{FF2B5EF4-FFF2-40B4-BE49-F238E27FC236}">
                <a16:creationId xmlns:a16="http://schemas.microsoft.com/office/drawing/2014/main" id="{8082C5B1-771F-218C-C82E-937D8D68EE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89C5E2-ECBD-14C4-A579-2797B786DC2F}"/>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3028872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5D4E-1CE1-6156-B16A-524537ED9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01261F-E5E2-1A26-4406-DBEC27DA1B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3A09F0-6337-A1FB-2B5F-F84B1D3F7C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8C3E12-A2C8-F015-6C4B-B009DD6D7302}"/>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6" name="Footer Placeholder 5">
            <a:extLst>
              <a:ext uri="{FF2B5EF4-FFF2-40B4-BE49-F238E27FC236}">
                <a16:creationId xmlns:a16="http://schemas.microsoft.com/office/drawing/2014/main" id="{78328A77-9751-55F6-7518-39E64DBD0C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9A5AC3-00E5-D35F-3B11-1CADCED18AF1}"/>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2044488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26D7A-3AB0-C03D-2BA6-6CE64EDC40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D01823-D91D-FDEC-E244-06E3B691BC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BE59CA-3251-B85E-00EE-A14281D22F80}"/>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5" name="Footer Placeholder 4">
            <a:extLst>
              <a:ext uri="{FF2B5EF4-FFF2-40B4-BE49-F238E27FC236}">
                <a16:creationId xmlns:a16="http://schemas.microsoft.com/office/drawing/2014/main" id="{8E3370C9-47A9-8550-B872-05E2F0F078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2D43F8-644F-A0D3-C91A-75F3B589A3AC}"/>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1473815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D63B4E-3023-27BE-324D-3BB571120C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DB7A04-2FB6-966A-C61A-8BB7ACC216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A640D4-6545-E5AE-C4A1-D6F376FA8753}"/>
              </a:ext>
            </a:extLst>
          </p:cNvPr>
          <p:cNvSpPr>
            <a:spLocks noGrp="1"/>
          </p:cNvSpPr>
          <p:nvPr>
            <p:ph type="dt" sz="half" idx="10"/>
          </p:nvPr>
        </p:nvSpPr>
        <p:spPr/>
        <p:txBody>
          <a:bodyPr/>
          <a:lstStyle/>
          <a:p>
            <a:fld id="{832D8B52-EF61-4FDA-AD06-E20168C19AA6}" type="datetimeFigureOut">
              <a:rPr lang="en-US" smtClean="0"/>
              <a:t>12/19/2025</a:t>
            </a:fld>
            <a:endParaRPr lang="en-US"/>
          </a:p>
        </p:txBody>
      </p:sp>
      <p:sp>
        <p:nvSpPr>
          <p:cNvPr id="5" name="Footer Placeholder 4">
            <a:extLst>
              <a:ext uri="{FF2B5EF4-FFF2-40B4-BE49-F238E27FC236}">
                <a16:creationId xmlns:a16="http://schemas.microsoft.com/office/drawing/2014/main" id="{DBAFB22F-B7A3-A4D8-909C-E3D534589C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43DFBD-B9EB-F593-7EA7-FBEE341197B4}"/>
              </a:ext>
            </a:extLst>
          </p:cNvPr>
          <p:cNvSpPr>
            <a:spLocks noGrp="1"/>
          </p:cNvSpPr>
          <p:nvPr>
            <p:ph type="sldNum" sz="quarter" idx="12"/>
          </p:nvPr>
        </p:nvSpPr>
        <p:spPr/>
        <p:txBody>
          <a:bodyPr/>
          <a:lstStyle/>
          <a:p>
            <a:fld id="{E8782BC2-217E-453A-BACF-4625C66617E5}" type="slidenum">
              <a:rPr lang="en-US" smtClean="0"/>
              <a:t>‹#›</a:t>
            </a:fld>
            <a:endParaRPr lang="en-US"/>
          </a:p>
        </p:txBody>
      </p:sp>
    </p:spTree>
    <p:extLst>
      <p:ext uri="{BB962C8B-B14F-4D97-AF65-F5344CB8AC3E}">
        <p14:creationId xmlns:p14="http://schemas.microsoft.com/office/powerpoint/2010/main" val="624623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4CB15F-DCDA-F443-7C26-659F223D7A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DF146D-1290-E8B3-4767-D9616FB17F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F95BE8-70D2-8F0B-2772-7C271923C4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2D8B52-EF61-4FDA-AD06-E20168C19AA6}" type="datetimeFigureOut">
              <a:rPr lang="en-US" smtClean="0"/>
              <a:t>12/19/2025</a:t>
            </a:fld>
            <a:endParaRPr lang="en-US"/>
          </a:p>
        </p:txBody>
      </p:sp>
      <p:sp>
        <p:nvSpPr>
          <p:cNvPr id="5" name="Footer Placeholder 4">
            <a:extLst>
              <a:ext uri="{FF2B5EF4-FFF2-40B4-BE49-F238E27FC236}">
                <a16:creationId xmlns:a16="http://schemas.microsoft.com/office/drawing/2014/main" id="{C683BA08-1C9A-7CAC-C67A-D4A4AFE66B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B3298C5-C6E8-7B17-2B3D-6CEB1877B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782BC2-217E-453A-BACF-4625C66617E5}" type="slidenum">
              <a:rPr lang="en-US" smtClean="0"/>
              <a:t>‹#›</a:t>
            </a:fld>
            <a:endParaRPr lang="en-US"/>
          </a:p>
        </p:txBody>
      </p:sp>
    </p:spTree>
    <p:extLst>
      <p:ext uri="{BB962C8B-B14F-4D97-AF65-F5344CB8AC3E}">
        <p14:creationId xmlns:p14="http://schemas.microsoft.com/office/powerpoint/2010/main" val="3443700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7CA4B-47BC-2B11-D1E0-9E53817E594A}"/>
              </a:ext>
            </a:extLst>
          </p:cNvPr>
          <p:cNvSpPr>
            <a:spLocks noGrp="1"/>
          </p:cNvSpPr>
          <p:nvPr>
            <p:ph type="ctrTitle"/>
          </p:nvPr>
        </p:nvSpPr>
        <p:spPr/>
        <p:txBody>
          <a:bodyPr/>
          <a:lstStyle/>
          <a:p>
            <a:r>
              <a:rPr lang="en-US" dirty="0"/>
              <a:t>Loss Functions Seminar 2</a:t>
            </a:r>
          </a:p>
        </p:txBody>
      </p:sp>
      <p:sp>
        <p:nvSpPr>
          <p:cNvPr id="3" name="Subtitle 2">
            <a:extLst>
              <a:ext uri="{FF2B5EF4-FFF2-40B4-BE49-F238E27FC236}">
                <a16:creationId xmlns:a16="http://schemas.microsoft.com/office/drawing/2014/main" id="{4832F3FA-12BF-243B-8C39-55CA8C8A055A}"/>
              </a:ext>
            </a:extLst>
          </p:cNvPr>
          <p:cNvSpPr>
            <a:spLocks noGrp="1"/>
          </p:cNvSpPr>
          <p:nvPr>
            <p:ph type="subTitle" idx="1"/>
          </p:nvPr>
        </p:nvSpPr>
        <p:spPr/>
        <p:txBody>
          <a:bodyPr/>
          <a:lstStyle/>
          <a:p>
            <a:r>
              <a:rPr lang="en-US" dirty="0"/>
              <a:t>Old Dominion Vision Lab Seminar</a:t>
            </a:r>
          </a:p>
          <a:p>
            <a:r>
              <a:rPr lang="en-US" dirty="0"/>
              <a:t>Alex Glandon</a:t>
            </a:r>
          </a:p>
          <a:p>
            <a:r>
              <a:rPr lang="en-US"/>
              <a:t>2025</a:t>
            </a:r>
            <a:endParaRPr lang="en-US" dirty="0"/>
          </a:p>
        </p:txBody>
      </p:sp>
    </p:spTree>
    <p:extLst>
      <p:ext uri="{BB962C8B-B14F-4D97-AF65-F5344CB8AC3E}">
        <p14:creationId xmlns:p14="http://schemas.microsoft.com/office/powerpoint/2010/main" val="3101022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624F7-BAB2-F0FA-E8B5-CCCBAE8C265F}"/>
              </a:ext>
            </a:extLst>
          </p:cNvPr>
          <p:cNvSpPr>
            <a:spLocks noGrp="1"/>
          </p:cNvSpPr>
          <p:nvPr>
            <p:ph type="title"/>
          </p:nvPr>
        </p:nvSpPr>
        <p:spPr/>
        <p:txBody>
          <a:bodyPr/>
          <a:lstStyle/>
          <a:p>
            <a:r>
              <a:rPr lang="en-US" dirty="0"/>
              <a:t>Review the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6B4522-8B27-50C8-685E-6335A1968046}"/>
                  </a:ext>
                </a:extLst>
              </p:cNvPr>
              <p:cNvSpPr>
                <a:spLocks noGrp="1"/>
              </p:cNvSpPr>
              <p:nvPr>
                <p:ph idx="1"/>
              </p:nvPr>
            </p:nvSpPr>
            <p:spPr/>
            <p:txBody>
              <a:bodyPr/>
              <a:lstStyle/>
              <a:p>
                <a:r>
                  <a:rPr lang="en-US" dirty="0"/>
                  <a:t>Point Estimation</a:t>
                </a:r>
              </a:p>
              <a:p>
                <a:pPr lvl="1"/>
                <a:r>
                  <a:rPr lang="en-US" dirty="0"/>
                  <a:t>Consider a probability distribution parameterized by </a:t>
                </a:r>
                <a14:m>
                  <m:oMath xmlns:m="http://schemas.openxmlformats.org/officeDocument/2006/math">
                    <m:r>
                      <a:rPr lang="en-US" b="0" i="1" smtClean="0">
                        <a:latin typeface="Cambria Math" panose="02040503050406030204" pitchFamily="18" charset="0"/>
                      </a:rPr>
                      <m:t>𝜃</m:t>
                    </m:r>
                  </m:oMath>
                </a14:m>
                <a:endParaRPr lang="en-US" b="0" i="1" dirty="0">
                  <a:latin typeface="Cambria Math" panose="02040503050406030204" pitchFamily="18" charset="0"/>
                </a:endParaRPr>
              </a:p>
              <a:p>
                <a:pPr lvl="2"/>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𝑥</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𝜃</m:t>
                        </m:r>
                      </m:e>
                    </m:d>
                  </m:oMath>
                </a14:m>
                <a:endParaRPr lang="en-US" b="0" dirty="0"/>
              </a:p>
              <a:p>
                <a:pPr lvl="1"/>
                <a:r>
                  <a:rPr lang="en-US" dirty="0"/>
                  <a:t>We want to estimate </a:t>
                </a:r>
                <a14:m>
                  <m:oMath xmlns:m="http://schemas.openxmlformats.org/officeDocument/2006/math">
                    <m:r>
                      <a:rPr lang="en-US" b="0" i="1" smtClean="0">
                        <a:latin typeface="Cambria Math" panose="02040503050406030204" pitchFamily="18" charset="0"/>
                      </a:rPr>
                      <m:t>𝜃</m:t>
                    </m:r>
                  </m:oMath>
                </a14:m>
                <a:endParaRPr lang="en-US" b="0" dirty="0"/>
              </a:p>
              <a:p>
                <a:pPr lvl="1"/>
                <a:r>
                  <a:rPr lang="en-US" b="0" dirty="0"/>
                  <a:t>We </a:t>
                </a:r>
                <a:r>
                  <a:rPr lang="en-US" dirty="0"/>
                  <a:t>c</a:t>
                </a:r>
                <a:r>
                  <a:rPr lang="en-US" b="0" dirty="0"/>
                  <a:t>on</a:t>
                </a:r>
                <a:r>
                  <a:rPr lang="en-US" dirty="0"/>
                  <a:t>sider an estimate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is good if the loss </a:t>
                </a:r>
                <a14:m>
                  <m:oMath xmlns:m="http://schemas.openxmlformats.org/officeDocument/2006/math">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e>
                    </m:d>
                  </m:oMath>
                </a14:m>
                <a:r>
                  <a:rPr lang="en-US" dirty="0"/>
                  <a:t> is small</a:t>
                </a:r>
                <a:endParaRPr lang="en-US" b="0" dirty="0"/>
              </a:p>
              <a:p>
                <a:pPr lvl="1"/>
                <a:r>
                  <a:rPr lang="en-US" b="0" dirty="0"/>
                  <a:t>Minimize Risk = Minimize Expected Loss</a:t>
                </a:r>
              </a:p>
              <a:p>
                <a:pPr lvl="1"/>
                <a:r>
                  <a:rPr lang="en-US" dirty="0"/>
                  <a:t>No general solution, as E[</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r>
                      <a:rPr lang="en-US" b="0" i="1" smtClean="0">
                        <a:latin typeface="Cambria Math" panose="02040503050406030204" pitchFamily="18" charset="0"/>
                      </a:rPr>
                      <m:t>)</m:t>
                    </m:r>
                  </m:oMath>
                </a14:m>
                <a:r>
                  <a:rPr lang="en-US" dirty="0"/>
                  <a:t>] depends on </a:t>
                </a:r>
                <a14:m>
                  <m:oMath xmlns:m="http://schemas.openxmlformats.org/officeDocument/2006/math">
                    <m:r>
                      <a:rPr lang="en-US" b="0" i="1" smtClean="0">
                        <a:latin typeface="Cambria Math" panose="02040503050406030204" pitchFamily="18" charset="0"/>
                      </a:rPr>
                      <m:t>𝜃</m:t>
                    </m:r>
                  </m:oMath>
                </a14:m>
                <a:endParaRPr lang="en-US" b="0" dirty="0"/>
              </a:p>
            </p:txBody>
          </p:sp>
        </mc:Choice>
        <mc:Fallback xmlns="">
          <p:sp>
            <p:nvSpPr>
              <p:cNvPr id="3" name="Content Placeholder 2">
                <a:extLst>
                  <a:ext uri="{FF2B5EF4-FFF2-40B4-BE49-F238E27FC236}">
                    <a16:creationId xmlns:a16="http://schemas.microsoft.com/office/drawing/2014/main" id="{2E6B4522-8B27-50C8-685E-6335A1968046}"/>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330685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DABA4-FD9A-572B-4CC6-69A06C99D745}"/>
              </a:ext>
            </a:extLst>
          </p:cNvPr>
          <p:cNvSpPr>
            <a:spLocks noGrp="1"/>
          </p:cNvSpPr>
          <p:nvPr>
            <p:ph type="title"/>
          </p:nvPr>
        </p:nvSpPr>
        <p:spPr/>
        <p:txBody>
          <a:bodyPr/>
          <a:lstStyle/>
          <a:p>
            <a:r>
              <a:rPr lang="en-US" dirty="0"/>
              <a:t>Review the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F87F24-FB18-C056-8B3D-30AF462E499F}"/>
                  </a:ext>
                </a:extLst>
              </p:cNvPr>
              <p:cNvSpPr>
                <a:spLocks noGrp="1"/>
              </p:cNvSpPr>
              <p:nvPr>
                <p:ph idx="1"/>
              </p:nvPr>
            </p:nvSpPr>
            <p:spPr/>
            <p:txBody>
              <a:bodyPr>
                <a:normAutofit fontScale="85000" lnSpcReduction="10000"/>
              </a:bodyPr>
              <a:lstStyle/>
              <a:p>
                <a:r>
                  <a:rPr lang="en-US" dirty="0"/>
                  <a:t>Prediction</a:t>
                </a:r>
              </a:p>
              <a:p>
                <a:pPr lvl="1"/>
                <a:r>
                  <a:rPr lang="en-US" dirty="0"/>
                  <a:t>Consider a data distribution with examples</a:t>
                </a:r>
                <a:r>
                  <a:rPr lang="en-US" b="0" dirty="0"/>
                  <a:t> </a:t>
                </a:r>
                <a14:m>
                  <m:oMath xmlns:m="http://schemas.openxmlformats.org/officeDocument/2006/math">
                    <m:r>
                      <a:rPr lang="en-US" b="0" i="1" smtClean="0">
                        <a:latin typeface="Cambria Math" panose="02040503050406030204" pitchFamily="18" charset="0"/>
                      </a:rPr>
                      <m:t>𝑋</m:t>
                    </m:r>
                  </m:oMath>
                </a14:m>
                <a:r>
                  <a:rPr lang="en-US" dirty="0"/>
                  <a:t>, perhaps images, and </a:t>
                </a:r>
                <a14:m>
                  <m:oMath xmlns:m="http://schemas.openxmlformats.org/officeDocument/2006/math">
                    <m:r>
                      <a:rPr lang="en-US" b="0" i="1" smtClean="0">
                        <a:latin typeface="Cambria Math" panose="02040503050406030204" pitchFamily="18" charset="0"/>
                      </a:rPr>
                      <m:t>𝑌</m:t>
                    </m:r>
                  </m:oMath>
                </a14:m>
                <a:r>
                  <a:rPr lang="en-US" dirty="0"/>
                  <a:t> can take values of classes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∈1,…,</m:t>
                    </m:r>
                    <m:r>
                      <a:rPr lang="en-US" b="0" i="1" smtClean="0">
                        <a:latin typeface="Cambria Math" panose="02040503050406030204" pitchFamily="18" charset="0"/>
                      </a:rPr>
                      <m:t>𝑛</m:t>
                    </m:r>
                  </m:oMath>
                </a14:m>
                <a:endParaRPr lang="en-US" b="0" dirty="0"/>
              </a:p>
              <a:p>
                <a:pPr lvl="1"/>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endParaRPr lang="en-US" dirty="0"/>
              </a:p>
              <a:p>
                <a:pPr lvl="1"/>
                <a:r>
                  <a:rPr lang="en-US" dirty="0"/>
                  <a:t>This is a mixture model, because</a:t>
                </a:r>
              </a:p>
              <a:p>
                <a:pPr lvl="1"/>
                <a:r>
                  <a:rPr lang="en-US" dirty="0"/>
                  <a:t>We want to estimate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𝛿</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𝑥</m:t>
                        </m:r>
                      </m:sub>
                    </m:sSub>
                    <m:r>
                      <a:rPr lang="en-US" b="0" i="1" smtClean="0">
                        <a:latin typeface="Cambria Math" panose="02040503050406030204" pitchFamily="18" charset="0"/>
                      </a:rPr>
                      <m:t>)</m:t>
                    </m:r>
                  </m:oMath>
                </a14:m>
                <a:endParaRPr lang="en-US" dirty="0"/>
              </a:p>
              <a:p>
                <a:pPr lvl="1"/>
                <a:r>
                  <a:rPr lang="en-US" dirty="0"/>
                  <a:t>In other words, assuming a ground truth label exists for each image, the conditional distribution has minimal entropy meaning it is delta function of the correct label </a:t>
                </a:r>
              </a:p>
              <a:p>
                <a:pPr lvl="1"/>
                <a:r>
                  <a:rPr lang="en-US" dirty="0"/>
                  <a:t>Our estimate is an approximate model of the conditional distribution parameterized by a set of weights, collectively called </a:t>
                </a:r>
                <a14:m>
                  <m:oMath xmlns:m="http://schemas.openxmlformats.org/officeDocument/2006/math">
                    <m:r>
                      <a:rPr lang="en-US" b="0" i="1" smtClean="0">
                        <a:latin typeface="Cambria Math" panose="02040503050406030204" pitchFamily="18" charset="0"/>
                      </a:rPr>
                      <m:t>𝜃</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𝑓</m:t>
                            </m:r>
                          </m:e>
                        </m:acc>
                      </m:e>
                      <m:sub>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sub>
                    </m:sSub>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e>
                    </m:d>
                  </m:oMath>
                </a14:m>
                <a:endParaRPr lang="en-US" dirty="0"/>
              </a:p>
              <a:p>
                <a:pPr lvl="1"/>
                <a:r>
                  <a:rPr lang="en-US" dirty="0"/>
                  <a:t>We could use KL divergence to measure the difference from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𝑓</m:t>
                        </m:r>
                      </m:e>
                    </m:acc>
                  </m:oMath>
                </a14:m>
                <a:r>
                  <a:rPr lang="en-US" dirty="0"/>
                  <a:t> to the true distribution </a:t>
                </a:r>
                <a14:m>
                  <m:oMath xmlns:m="http://schemas.openxmlformats.org/officeDocument/2006/math">
                    <m:r>
                      <a:rPr lang="en-US" b="0" i="1" smtClean="0">
                        <a:latin typeface="Cambria Math" panose="02040503050406030204" pitchFamily="18" charset="0"/>
                      </a:rPr>
                      <m:t>𝑓</m:t>
                    </m:r>
                  </m:oMath>
                </a14:m>
                <a:endParaRPr lang="en-US" dirty="0"/>
              </a:p>
              <a:p>
                <a:pPr lvl="1"/>
                <a:r>
                  <a:rPr lang="en-US" dirty="0"/>
                  <a:t>However, this would be a function of </a:t>
                </a:r>
                <a14:m>
                  <m:oMath xmlns:m="http://schemas.openxmlformats.org/officeDocument/2006/math">
                    <m:r>
                      <a:rPr lang="en-US" b="0" i="1" smtClean="0">
                        <a:latin typeface="Cambria Math" panose="02040503050406030204" pitchFamily="18" charset="0"/>
                      </a:rPr>
                      <m:t>𝑥</m:t>
                    </m:r>
                  </m:oMath>
                </a14:m>
                <a:r>
                  <a:rPr lang="en-US" dirty="0"/>
                  <a:t>, and we need a loss that we can compute for a finite sample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m:t>
                        </m:r>
                      </m:sub>
                    </m:sSub>
                  </m:oMath>
                </a14:m>
                <a:endParaRPr lang="en-US" dirty="0"/>
              </a:p>
            </p:txBody>
          </p:sp>
        </mc:Choice>
        <mc:Fallback xmlns="">
          <p:sp>
            <p:nvSpPr>
              <p:cNvPr id="3" name="Content Placeholder 2">
                <a:extLst>
                  <a:ext uri="{FF2B5EF4-FFF2-40B4-BE49-F238E27FC236}">
                    <a16:creationId xmlns:a16="http://schemas.microsoft.com/office/drawing/2014/main" id="{7CF87F24-FB18-C056-8B3D-30AF462E499F}"/>
                  </a:ext>
                </a:extLst>
              </p:cNvPr>
              <p:cNvSpPr>
                <a:spLocks noGrp="1" noRot="1" noChangeAspect="1" noMove="1" noResize="1" noEditPoints="1" noAdjustHandles="1" noChangeArrowheads="1" noChangeShapeType="1" noTextEdit="1"/>
              </p:cNvSpPr>
              <p:nvPr>
                <p:ph idx="1"/>
              </p:nvPr>
            </p:nvSpPr>
            <p:spPr>
              <a:blipFill>
                <a:blip r:embed="rId2"/>
                <a:stretch>
                  <a:fillRect l="-812" t="-2521" r="-464" b="-1821"/>
                </a:stretch>
              </a:blipFill>
            </p:spPr>
            <p:txBody>
              <a:bodyPr/>
              <a:lstStyle/>
              <a:p>
                <a:r>
                  <a:rPr lang="en-US">
                    <a:noFill/>
                  </a:rPr>
                  <a:t> </a:t>
                </a:r>
              </a:p>
            </p:txBody>
          </p:sp>
        </mc:Fallback>
      </mc:AlternateContent>
    </p:spTree>
    <p:extLst>
      <p:ext uri="{BB962C8B-B14F-4D97-AF65-F5344CB8AC3E}">
        <p14:creationId xmlns:p14="http://schemas.microsoft.com/office/powerpoint/2010/main" val="4275276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DABA4-FD9A-572B-4CC6-69A06C99D745}"/>
              </a:ext>
            </a:extLst>
          </p:cNvPr>
          <p:cNvSpPr>
            <a:spLocks noGrp="1"/>
          </p:cNvSpPr>
          <p:nvPr>
            <p:ph type="title"/>
          </p:nvPr>
        </p:nvSpPr>
        <p:spPr/>
        <p:txBody>
          <a:bodyPr/>
          <a:lstStyle/>
          <a:p>
            <a:r>
              <a:rPr lang="en-US" dirty="0"/>
              <a:t>KL divergence and cross entropy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F87F24-FB18-C056-8B3D-30AF462E499F}"/>
                  </a:ext>
                </a:extLst>
              </p:cNvPr>
              <p:cNvSpPr>
                <a:spLocks noGrp="1"/>
              </p:cNvSpPr>
              <p:nvPr>
                <p:ph idx="1"/>
              </p:nvPr>
            </p:nvSpPr>
            <p:spPr/>
            <p:txBody>
              <a:bodyPr>
                <a:normAutofit fontScale="55000" lnSpcReduction="20000"/>
              </a:bodyPr>
              <a:lstStyle/>
              <a:p>
                <a:r>
                  <a:rPr lang="en-US" dirty="0"/>
                  <a:t>KL divergence from a predicted distribution Q to a true data distribution P is</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e>
                    </m:d>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oMath>
                </a14:m>
                <a:endParaRPr lang="en-US" b="0" dirty="0"/>
              </a:p>
              <a:p>
                <a:r>
                  <a:rPr lang="en-US" dirty="0"/>
                  <a:t>If the cross entropy is the same, the KL divergence is higher when the true distribution has a low entropy</a:t>
                </a:r>
              </a:p>
              <a:p>
                <a:r>
                  <a:rPr lang="en-US" dirty="0"/>
                  <a:t>Example 1:</a:t>
                </a:r>
              </a:p>
              <a:p>
                <a14:m>
                  <m:oMath xmlns:m="http://schemas.openxmlformats.org/officeDocument/2006/math">
                    <m:r>
                      <a:rPr lang="en-US" b="0" i="1" smtClean="0">
                        <a:latin typeface="Cambria Math" panose="02040503050406030204" pitchFamily="18" charset="0"/>
                      </a:rPr>
                      <m:t>𝑃</m:t>
                    </m:r>
                  </m:oMath>
                </a14:m>
                <a:r>
                  <a:rPr lang="en-US" dirty="0"/>
                  <a:t> is a true coin toss with 75% heads, 25% tails</a:t>
                </a:r>
              </a:p>
              <a:p>
                <a14:m>
                  <m:oMath xmlns:m="http://schemas.openxmlformats.org/officeDocument/2006/math">
                    <m:r>
                      <a:rPr lang="en-US" b="0" i="1" smtClean="0">
                        <a:latin typeface="Cambria Math" panose="02040503050406030204" pitchFamily="18" charset="0"/>
                      </a:rPr>
                      <m:t>𝑄</m:t>
                    </m:r>
                  </m:oMath>
                </a14:m>
                <a:r>
                  <a:rPr lang="en-US" dirty="0"/>
                  <a:t> is a predicted coin with 50% heads, 50% tails</a:t>
                </a:r>
              </a:p>
              <a:p>
                <a14:m>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e>
                    </m:d>
                    <m:r>
                      <a:rPr lang="en-US" b="0" i="1" smtClean="0">
                        <a:latin typeface="Cambria Math" panose="02040503050406030204" pitchFamily="18" charset="0"/>
                      </a:rPr>
                      <m:t>=</m:t>
                    </m:r>
                  </m:oMath>
                </a14:m>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h𝑒𝑎𝑑𝑠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𝑝𝑟𝑒𝑑</m:t>
                                </m:r>
                                <m:r>
                                  <a:rPr lang="en-US" b="0" i="1" smtClean="0">
                                    <a:latin typeface="Cambria Math" panose="02040503050406030204" pitchFamily="18" charset="0"/>
                                  </a:rPr>
                                  <m:t>=</m:t>
                                </m:r>
                                <m:r>
                                  <a:rPr lang="en-US" b="0" i="1" smtClean="0">
                                    <a:latin typeface="Cambria Math" panose="02040503050406030204" pitchFamily="18" charset="0"/>
                                  </a:rPr>
                                  <m:t>h𝑒𝑎𝑑𝑠</m:t>
                                </m:r>
                              </m:e>
                            </m:d>
                          </m:e>
                        </m:d>
                      </m:e>
                    </m:func>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𝑡𝑎𝑖𝑙𝑠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𝑝𝑟𝑒𝑑</m:t>
                                </m:r>
                                <m:r>
                                  <a:rPr lang="en-US" b="0" i="1" smtClean="0">
                                    <a:latin typeface="Cambria Math" panose="02040503050406030204" pitchFamily="18" charset="0"/>
                                  </a:rPr>
                                  <m:t>=</m:t>
                                </m:r>
                                <m:r>
                                  <a:rPr lang="en-US" b="0" i="1" smtClean="0">
                                    <a:latin typeface="Cambria Math" panose="02040503050406030204" pitchFamily="18" charset="0"/>
                                  </a:rPr>
                                  <m:t>𝑡𝑎𝑖𝑙𝑠</m:t>
                                </m:r>
                              </m:e>
                            </m:d>
                          </m:e>
                        </m:d>
                      </m:e>
                    </m:func>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d>
                      </m:e>
                    </m:func>
                    <m:r>
                      <a:rPr lang="en-US" b="0" i="1" smtClean="0">
                        <a:latin typeface="Cambria Math" panose="02040503050406030204" pitchFamily="18" charset="0"/>
                      </a:rPr>
                      <m:t>=1</m:t>
                    </m:r>
                  </m:oMath>
                </a14:m>
                <a:endParaRPr lang="en-US" b="0" dirty="0"/>
              </a:p>
              <a:p>
                <a14:m>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𝑃</m:t>
                        </m:r>
                      </m:e>
                    </m:d>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h𝑒𝑎𝑑𝑠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h𝑒𝑎𝑑𝑠</m:t>
                                </m:r>
                              </m:e>
                            </m:d>
                          </m:e>
                        </m:d>
                      </m:e>
                    </m:func>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𝑡𝑎𝑖𝑙𝑠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𝑡𝑎𝑖𝑙𝑠</m:t>
                                </m:r>
                              </m:e>
                            </m:d>
                          </m:e>
                        </m:d>
                      </m:e>
                    </m:func>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d>
                      </m:e>
                    </m:func>
                    <m:r>
                      <a:rPr lang="en-US" b="0" i="1" smtClean="0">
                        <a:latin typeface="Cambria Math" panose="02040503050406030204" pitchFamily="18" charset="0"/>
                      </a:rPr>
                      <m:t>=0.811</m:t>
                    </m:r>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)=1−0.811=0.189</m:t>
                    </m:r>
                  </m:oMath>
                </a14:m>
                <a:endParaRPr lang="en-US" b="0" dirty="0"/>
              </a:p>
              <a:p>
                <a:endParaRPr lang="en-US" b="0" dirty="0"/>
              </a:p>
              <a:p>
                <a:endParaRPr lang="en-US" b="0" dirty="0"/>
              </a:p>
              <a:p>
                <a:pPr lvl="1"/>
                <a:endParaRPr lang="en-US" b="0" dirty="0"/>
              </a:p>
              <a:p>
                <a:pPr lvl="1"/>
                <a:endParaRPr lang="en-US" b="0" dirty="0"/>
              </a:p>
              <a:p>
                <a:pPr lvl="1"/>
                <a:endParaRPr lang="en-US" b="0"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7CF87F24-FB18-C056-8B3D-30AF462E499F}"/>
                  </a:ext>
                </a:extLst>
              </p:cNvPr>
              <p:cNvSpPr>
                <a:spLocks noGrp="1" noRot="1" noChangeAspect="1" noMove="1" noResize="1" noEditPoints="1" noAdjustHandles="1" noChangeArrowheads="1" noChangeShapeType="1" noTextEdit="1"/>
              </p:cNvSpPr>
              <p:nvPr>
                <p:ph idx="1"/>
              </p:nvPr>
            </p:nvSpPr>
            <p:spPr>
              <a:blipFill>
                <a:blip r:embed="rId2"/>
                <a:stretch>
                  <a:fillRect l="-174" t="-1401" b="-560"/>
                </a:stretch>
              </a:blipFill>
            </p:spPr>
            <p:txBody>
              <a:bodyPr/>
              <a:lstStyle/>
              <a:p>
                <a:r>
                  <a:rPr lang="en-US">
                    <a:noFill/>
                  </a:rPr>
                  <a:t> </a:t>
                </a:r>
              </a:p>
            </p:txBody>
          </p:sp>
        </mc:Fallback>
      </mc:AlternateContent>
    </p:spTree>
    <p:extLst>
      <p:ext uri="{BB962C8B-B14F-4D97-AF65-F5344CB8AC3E}">
        <p14:creationId xmlns:p14="http://schemas.microsoft.com/office/powerpoint/2010/main" val="684797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DABA4-FD9A-572B-4CC6-69A06C99D745}"/>
              </a:ext>
            </a:extLst>
          </p:cNvPr>
          <p:cNvSpPr>
            <a:spLocks noGrp="1"/>
          </p:cNvSpPr>
          <p:nvPr>
            <p:ph type="title"/>
          </p:nvPr>
        </p:nvSpPr>
        <p:spPr/>
        <p:txBody>
          <a:bodyPr/>
          <a:lstStyle/>
          <a:p>
            <a:r>
              <a:rPr lang="en-US" dirty="0"/>
              <a:t>KL divergence and cross entropy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F87F24-FB18-C056-8B3D-30AF462E499F}"/>
                  </a:ext>
                </a:extLst>
              </p:cNvPr>
              <p:cNvSpPr>
                <a:spLocks noGrp="1"/>
              </p:cNvSpPr>
              <p:nvPr>
                <p:ph idx="1"/>
              </p:nvPr>
            </p:nvSpPr>
            <p:spPr/>
            <p:txBody>
              <a:bodyPr>
                <a:normAutofit fontScale="55000" lnSpcReduction="20000"/>
              </a:bodyPr>
              <a:lstStyle/>
              <a:p>
                <a:r>
                  <a:rPr lang="en-US" dirty="0"/>
                  <a:t>KL divergence from a predicted distribution Q to a true data distribution P is</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e>
                    </m:d>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oMath>
                </a14:m>
                <a:endParaRPr lang="en-US" b="0" dirty="0"/>
              </a:p>
              <a:p>
                <a:r>
                  <a:rPr lang="en-US" dirty="0"/>
                  <a:t>If the cross entropy is the same, the KL divergence is higher when the true distribution has a low entropy</a:t>
                </a:r>
              </a:p>
              <a:p>
                <a:r>
                  <a:rPr lang="en-US" dirty="0"/>
                  <a:t>Example 2:</a:t>
                </a:r>
              </a:p>
              <a:p>
                <a14:m>
                  <m:oMath xmlns:m="http://schemas.openxmlformats.org/officeDocument/2006/math">
                    <m:r>
                      <a:rPr lang="en-US" b="0" i="1" smtClean="0">
                        <a:latin typeface="Cambria Math" panose="02040503050406030204" pitchFamily="18" charset="0"/>
                      </a:rPr>
                      <m:t>𝑃</m:t>
                    </m:r>
                  </m:oMath>
                </a14:m>
                <a:r>
                  <a:rPr lang="en-US" dirty="0"/>
                  <a:t> is a true coin toss with 50% heads, 50% tails</a:t>
                </a:r>
              </a:p>
              <a:p>
                <a14:m>
                  <m:oMath xmlns:m="http://schemas.openxmlformats.org/officeDocument/2006/math">
                    <m:r>
                      <a:rPr lang="en-US" b="0" i="1" smtClean="0">
                        <a:latin typeface="Cambria Math" panose="02040503050406030204" pitchFamily="18" charset="0"/>
                      </a:rPr>
                      <m:t>𝑄</m:t>
                    </m:r>
                  </m:oMath>
                </a14:m>
                <a:r>
                  <a:rPr lang="en-US" dirty="0"/>
                  <a:t> is a predicted coin with 50% heads, 50% tails</a:t>
                </a:r>
              </a:p>
              <a:p>
                <a14:m>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e>
                    </m:d>
                    <m:r>
                      <a:rPr lang="en-US" b="0" i="1" smtClean="0">
                        <a:latin typeface="Cambria Math" panose="02040503050406030204" pitchFamily="18" charset="0"/>
                      </a:rPr>
                      <m:t>=</m:t>
                    </m:r>
                  </m:oMath>
                </a14:m>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h𝑒𝑎𝑑𝑠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𝑝𝑟𝑒𝑑</m:t>
                                </m:r>
                                <m:r>
                                  <a:rPr lang="en-US" b="0" i="1" smtClean="0">
                                    <a:latin typeface="Cambria Math" panose="02040503050406030204" pitchFamily="18" charset="0"/>
                                  </a:rPr>
                                  <m:t>=</m:t>
                                </m:r>
                                <m:r>
                                  <a:rPr lang="en-US" b="0" i="1" smtClean="0">
                                    <a:latin typeface="Cambria Math" panose="02040503050406030204" pitchFamily="18" charset="0"/>
                                  </a:rPr>
                                  <m:t>h𝑒𝑎𝑑𝑠</m:t>
                                </m:r>
                              </m:e>
                            </m:d>
                          </m:e>
                        </m:d>
                      </m:e>
                    </m:func>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𝑡𝑎𝑖𝑙𝑠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𝑝𝑟𝑒𝑑</m:t>
                                </m:r>
                                <m:r>
                                  <a:rPr lang="en-US" b="0" i="1" smtClean="0">
                                    <a:latin typeface="Cambria Math" panose="02040503050406030204" pitchFamily="18" charset="0"/>
                                  </a:rPr>
                                  <m:t>=</m:t>
                                </m:r>
                                <m:r>
                                  <a:rPr lang="en-US" b="0" i="1" smtClean="0">
                                    <a:latin typeface="Cambria Math" panose="02040503050406030204" pitchFamily="18" charset="0"/>
                                  </a:rPr>
                                  <m:t>𝑡𝑎𝑖𝑙𝑠</m:t>
                                </m:r>
                              </m:e>
                            </m:d>
                          </m:e>
                        </m:d>
                      </m:e>
                    </m:func>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d>
                      </m:e>
                    </m:func>
                    <m:r>
                      <a:rPr lang="en-US" b="0" i="1" smtClean="0">
                        <a:latin typeface="Cambria Math" panose="02040503050406030204" pitchFamily="18" charset="0"/>
                      </a:rPr>
                      <m:t>=1</m:t>
                    </m:r>
                  </m:oMath>
                </a14:m>
                <a:endParaRPr lang="en-US" b="0" dirty="0"/>
              </a:p>
              <a:p>
                <a14:m>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𝑃</m:t>
                        </m:r>
                      </m:e>
                    </m:d>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h𝑒𝑎𝑑𝑠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h𝑒𝑎𝑑𝑠</m:t>
                                </m:r>
                              </m:e>
                            </m:d>
                          </m:e>
                        </m:d>
                      </m:e>
                    </m:func>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𝑡𝑎𝑖𝑙𝑠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𝑡𝑟𝑢𝑒</m:t>
                                </m:r>
                                <m:r>
                                  <a:rPr lang="en-US" b="0" i="1" smtClean="0">
                                    <a:latin typeface="Cambria Math" panose="02040503050406030204" pitchFamily="18" charset="0"/>
                                  </a:rPr>
                                  <m:t>=</m:t>
                                </m:r>
                                <m:r>
                                  <a:rPr lang="en-US" b="0" i="1" smtClean="0">
                                    <a:latin typeface="Cambria Math" panose="02040503050406030204" pitchFamily="18" charset="0"/>
                                  </a:rPr>
                                  <m:t>𝑡𝑎𝑖𝑙𝑠</m:t>
                                </m:r>
                              </m:e>
                            </m:d>
                          </m:e>
                        </m:d>
                      </m:e>
                    </m:func>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d>
                      </m:e>
                    </m:func>
                    <m:r>
                      <a:rPr lang="en-US" b="0" i="1" smtClean="0">
                        <a:latin typeface="Cambria Math" panose="02040503050406030204" pitchFamily="18" charset="0"/>
                      </a:rPr>
                      <m:t>=1</m:t>
                    </m:r>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)=1−1=0</m:t>
                    </m:r>
                  </m:oMath>
                </a14:m>
                <a:endParaRPr lang="en-US" b="0" dirty="0"/>
              </a:p>
              <a:p>
                <a:endParaRPr lang="en-US" b="0" dirty="0"/>
              </a:p>
              <a:p>
                <a:endParaRPr lang="en-US" b="0" dirty="0"/>
              </a:p>
              <a:p>
                <a:pPr lvl="1"/>
                <a:endParaRPr lang="en-US" b="0" dirty="0"/>
              </a:p>
              <a:p>
                <a:pPr lvl="1"/>
                <a:endParaRPr lang="en-US" b="0" dirty="0"/>
              </a:p>
              <a:p>
                <a:pPr lvl="1"/>
                <a:endParaRPr lang="en-US" b="0"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7CF87F24-FB18-C056-8B3D-30AF462E499F}"/>
                  </a:ext>
                </a:extLst>
              </p:cNvPr>
              <p:cNvSpPr>
                <a:spLocks noGrp="1" noRot="1" noChangeAspect="1" noMove="1" noResize="1" noEditPoints="1" noAdjustHandles="1" noChangeArrowheads="1" noChangeShapeType="1" noTextEdit="1"/>
              </p:cNvSpPr>
              <p:nvPr>
                <p:ph idx="1"/>
              </p:nvPr>
            </p:nvSpPr>
            <p:spPr>
              <a:blipFill>
                <a:blip r:embed="rId2"/>
                <a:stretch>
                  <a:fillRect l="-174" t="-1401" b="-560"/>
                </a:stretch>
              </a:blipFill>
            </p:spPr>
            <p:txBody>
              <a:bodyPr/>
              <a:lstStyle/>
              <a:p>
                <a:r>
                  <a:rPr lang="en-US">
                    <a:noFill/>
                  </a:rPr>
                  <a:t> </a:t>
                </a:r>
              </a:p>
            </p:txBody>
          </p:sp>
        </mc:Fallback>
      </mc:AlternateContent>
    </p:spTree>
    <p:extLst>
      <p:ext uri="{BB962C8B-B14F-4D97-AF65-F5344CB8AC3E}">
        <p14:creationId xmlns:p14="http://schemas.microsoft.com/office/powerpoint/2010/main" val="618409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DABA4-FD9A-572B-4CC6-69A06C99D745}"/>
              </a:ext>
            </a:extLst>
          </p:cNvPr>
          <p:cNvSpPr>
            <a:spLocks noGrp="1"/>
          </p:cNvSpPr>
          <p:nvPr>
            <p:ph type="title"/>
          </p:nvPr>
        </p:nvSpPr>
        <p:spPr/>
        <p:txBody>
          <a:bodyPr/>
          <a:lstStyle/>
          <a:p>
            <a:r>
              <a:rPr lang="en-US" dirty="0"/>
              <a:t>KL divergence and cross entropy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F87F24-FB18-C056-8B3D-30AF462E499F}"/>
                  </a:ext>
                </a:extLst>
              </p:cNvPr>
              <p:cNvSpPr>
                <a:spLocks noGrp="1"/>
              </p:cNvSpPr>
              <p:nvPr>
                <p:ph idx="1"/>
              </p:nvPr>
            </p:nvSpPr>
            <p:spPr/>
            <p:txBody>
              <a:bodyPr>
                <a:normAutofit/>
              </a:bodyPr>
              <a:lstStyle/>
              <a:p>
                <a:r>
                  <a:rPr lang="en-US" b="0" dirty="0"/>
                  <a:t>If we want to minimize KL divergence</a:t>
                </a:r>
              </a:p>
              <a:p>
                <a14:m>
                  <m:oMath xmlns:m="http://schemas.openxmlformats.org/officeDocument/2006/math">
                    <m:r>
                      <a:rPr lang="en-US" b="0" i="1" smtClean="0">
                        <a:latin typeface="Cambria Math" panose="02040503050406030204" pitchFamily="18" charset="0"/>
                      </a:rPr>
                      <m:t>𝑎𝑟𝑔𝑚𝑖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acc>
                          <m:accPr>
                            <m:chr m:val="̂"/>
                            <m:ctrlPr>
                              <a:rPr lang="en-US" b="0" i="1" smtClean="0">
                                <a:latin typeface="Cambria Math" panose="02040503050406030204" pitchFamily="18" charset="0"/>
                              </a:rPr>
                            </m:ctrlPr>
                          </m:accPr>
                          <m:e>
                            <m:r>
                              <a:rPr lang="en-US" i="1">
                                <a:latin typeface="Cambria Math" panose="02040503050406030204" pitchFamily="18" charset="0"/>
                              </a:rPr>
                              <m:t>𝑓</m:t>
                            </m:r>
                          </m:e>
                        </m:acc>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𝑓</m:t>
                        </m:r>
                      </m:e>
                    </m:acc>
                    <m:r>
                      <a:rPr lang="en-US" b="0" i="1" smtClean="0">
                        <a:latin typeface="Cambria Math" panose="02040503050406030204" pitchFamily="18" charset="0"/>
                      </a:rPr>
                      <m:t>)=</m:t>
                    </m:r>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𝑓</m:t>
                            </m:r>
                          </m:e>
                        </m:acc>
                      </m:e>
                    </m:d>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oMath>
                </a14:m>
                <a:endParaRPr lang="en-US" b="0" dirty="0"/>
              </a:p>
              <a:p>
                <a:r>
                  <a:rPr lang="en-US" b="0" dirty="0"/>
                  <a:t>We can minimize cross entropy</a:t>
                </a:r>
              </a:p>
              <a:p>
                <a14:m>
                  <m:oMath xmlns:m="http://schemas.openxmlformats.org/officeDocument/2006/math">
                    <m:r>
                      <a:rPr lang="en-US" b="0" i="1" smtClean="0">
                        <a:latin typeface="Cambria Math" panose="02040503050406030204" pitchFamily="18" charset="0"/>
                      </a:rPr>
                      <m:t>𝑎𝑟𝑔𝑚𝑖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acc>
                          <m:accPr>
                            <m:chr m:val="̂"/>
                            <m:ctrlPr>
                              <a:rPr lang="en-US" b="0" i="1" smtClean="0">
                                <a:latin typeface="Cambria Math" panose="02040503050406030204" pitchFamily="18" charset="0"/>
                              </a:rPr>
                            </m:ctrlPr>
                          </m:accPr>
                          <m:e>
                            <m:r>
                              <a:rPr lang="en-US" i="1">
                                <a:latin typeface="Cambria Math" panose="02040503050406030204" pitchFamily="18" charset="0"/>
                              </a:rPr>
                              <m:t>𝑓</m:t>
                            </m:r>
                          </m:e>
                        </m:acc>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𝑓</m:t>
                        </m:r>
                      </m:e>
                    </m:acc>
                    <m:r>
                      <a:rPr lang="en-US" b="0" i="1" smtClean="0">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𝑎𝑟𝑔𝑚𝑖</m:t>
                    </m:r>
                    <m:sSub>
                      <m:sSubPr>
                        <m:ctrlPr>
                          <a:rPr lang="en-US" i="1">
                            <a:latin typeface="Cambria Math" panose="02040503050406030204" pitchFamily="18" charset="0"/>
                          </a:rPr>
                        </m:ctrlPr>
                      </m:sSubPr>
                      <m:e>
                        <m:r>
                          <a:rPr lang="en-US" i="1">
                            <a:latin typeface="Cambria Math" panose="02040503050406030204" pitchFamily="18" charset="0"/>
                          </a:rPr>
                          <m:t>𝑛</m:t>
                        </m:r>
                      </m:e>
                      <m:sub>
                        <m:acc>
                          <m:accPr>
                            <m:chr m:val="̂"/>
                            <m:ctrlPr>
                              <a:rPr lang="en-US" i="1">
                                <a:latin typeface="Cambria Math" panose="02040503050406030204" pitchFamily="18" charset="0"/>
                              </a:rPr>
                            </m:ctrlPr>
                          </m:accPr>
                          <m:e>
                            <m:r>
                              <a:rPr lang="en-US" i="1">
                                <a:latin typeface="Cambria Math" panose="02040503050406030204" pitchFamily="18" charset="0"/>
                              </a:rPr>
                              <m:t>𝑓</m:t>
                            </m:r>
                          </m:e>
                        </m:acc>
                      </m:sub>
                    </m:sSub>
                    <m:r>
                      <a:rPr lang="en-US" b="0" i="1" smtClean="0">
                        <a:latin typeface="Cambria Math" panose="02040503050406030204" pitchFamily="18" charset="0"/>
                      </a:rPr>
                      <m:t> </m:t>
                    </m:r>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𝑓</m:t>
                        </m:r>
                      </m:e>
                    </m:acc>
                  </m:oMath>
                </a14:m>
                <a:r>
                  <a:rPr lang="en-US" b="0" dirty="0"/>
                  <a:t>)</a:t>
                </a:r>
              </a:p>
              <a:p>
                <a:endParaRPr lang="en-US" b="0" dirty="0"/>
              </a:p>
              <a:p>
                <a:pPr lvl="1"/>
                <a:endParaRPr lang="en-US" b="0" dirty="0"/>
              </a:p>
              <a:p>
                <a:pPr lvl="1"/>
                <a:endParaRPr lang="en-US" b="0" dirty="0"/>
              </a:p>
              <a:p>
                <a:pPr lvl="1"/>
                <a:endParaRPr lang="en-US" b="0"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7CF87F24-FB18-C056-8B3D-30AF462E499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232095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EA19B-55F1-6324-D268-82904279A4CC}"/>
              </a:ext>
            </a:extLst>
          </p:cNvPr>
          <p:cNvSpPr>
            <a:spLocks noGrp="1"/>
          </p:cNvSpPr>
          <p:nvPr>
            <p:ph type="title"/>
          </p:nvPr>
        </p:nvSpPr>
        <p:spPr/>
        <p:txBody>
          <a:bodyPr/>
          <a:lstStyle/>
          <a:p>
            <a:r>
              <a:rPr lang="en-US" dirty="0"/>
              <a:t>Cross Entropy, ML, and MAP (Bayesian)</a:t>
            </a:r>
          </a:p>
        </p:txBody>
      </p:sp>
      <p:sp>
        <p:nvSpPr>
          <p:cNvPr id="3" name="Content Placeholder 2">
            <a:extLst>
              <a:ext uri="{FF2B5EF4-FFF2-40B4-BE49-F238E27FC236}">
                <a16:creationId xmlns:a16="http://schemas.microsoft.com/office/drawing/2014/main" id="{AED7E8D6-3B5E-4153-DA34-E8DDC4BB6CE2}"/>
              </a:ext>
            </a:extLst>
          </p:cNvPr>
          <p:cNvSpPr>
            <a:spLocks noGrp="1"/>
          </p:cNvSpPr>
          <p:nvPr>
            <p:ph idx="1"/>
          </p:nvPr>
        </p:nvSpPr>
        <p:spPr/>
        <p:txBody>
          <a:bodyPr/>
          <a:lstStyle/>
          <a:p>
            <a:r>
              <a:rPr lang="en-US" dirty="0"/>
              <a:t>I will explain from point estimation perspective</a:t>
            </a:r>
          </a:p>
          <a:p>
            <a:r>
              <a:rPr lang="en-US" dirty="0"/>
              <a:t>The same applies to prediction, for example my first seminar on MAP for prediction</a:t>
            </a:r>
          </a:p>
        </p:txBody>
      </p:sp>
    </p:spTree>
    <p:extLst>
      <p:ext uri="{BB962C8B-B14F-4D97-AF65-F5344CB8AC3E}">
        <p14:creationId xmlns:p14="http://schemas.microsoft.com/office/powerpoint/2010/main" val="1013050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282DC-BD8E-D692-EBFA-BC2246CD2099}"/>
              </a:ext>
            </a:extLst>
          </p:cNvPr>
          <p:cNvSpPr>
            <a:spLocks noGrp="1"/>
          </p:cNvSpPr>
          <p:nvPr>
            <p:ph type="title"/>
          </p:nvPr>
        </p:nvSpPr>
        <p:spPr/>
        <p:txBody>
          <a:bodyPr/>
          <a:lstStyle/>
          <a:p>
            <a:r>
              <a:rPr lang="en-US" dirty="0"/>
              <a:t>Point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7F10D2-85D5-F14E-04B6-06BFD47EED6A}"/>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𝑎𝑟𝑔𝑚𝑖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sub>
                    </m:sSub>
                    <m:r>
                      <a:rPr lang="en-US" i="1">
                        <a:latin typeface="Cambria Math" panose="02040503050406030204" pitchFamily="18" charset="0"/>
                      </a:rPr>
                      <m:t> </m:t>
                    </m:r>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r>
                          <a:rPr lang="en-US" b="0" i="0"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e>
                    </m:d>
                  </m:oMath>
                </a14:m>
                <a:r>
                  <a:rPr lang="en-US" dirty="0"/>
                  <a:t> has no general solution</a:t>
                </a:r>
              </a:p>
              <a:p>
                <a:r>
                  <a:rPr lang="en-US" dirty="0"/>
                  <a:t>So we make a constraint on the problem</a:t>
                </a:r>
              </a:p>
              <a:p>
                <a:r>
                  <a:rPr lang="en-US" dirty="0"/>
                  <a:t>UMVU estimation</a:t>
                </a:r>
              </a:p>
              <a:p>
                <a:r>
                  <a:rPr lang="en-US" dirty="0"/>
                  <a:t>Equivariance</a:t>
                </a:r>
              </a:p>
              <a:p>
                <a:r>
                  <a:rPr lang="en-US" dirty="0"/>
                  <a:t>Maximum likelihood (meaning we lose the ability to define a loss)</a:t>
                </a:r>
              </a:p>
              <a:p>
                <a:r>
                  <a:rPr lang="en-US" dirty="0"/>
                  <a:t>Maximum a posterior (Bayesian)</a:t>
                </a:r>
              </a:p>
            </p:txBody>
          </p:sp>
        </mc:Choice>
        <mc:Fallback xmlns="">
          <p:sp>
            <p:nvSpPr>
              <p:cNvPr id="3" name="Content Placeholder 2">
                <a:extLst>
                  <a:ext uri="{FF2B5EF4-FFF2-40B4-BE49-F238E27FC236}">
                    <a16:creationId xmlns:a16="http://schemas.microsoft.com/office/drawing/2014/main" id="{E77F10D2-85D5-F14E-04B6-06BFD47EED6A}"/>
                  </a:ext>
                </a:extLst>
              </p:cNvPr>
              <p:cNvSpPr>
                <a:spLocks noGrp="1" noRot="1" noChangeAspect="1" noMove="1" noResize="1" noEditPoints="1" noAdjustHandles="1" noChangeArrowheads="1" noChangeShapeType="1" noTextEdit="1"/>
              </p:cNvSpPr>
              <p:nvPr>
                <p:ph idx="1"/>
              </p:nvPr>
            </p:nvSpPr>
            <p:spPr>
              <a:blipFill>
                <a:blip r:embed="rId2"/>
                <a:stretch>
                  <a:fillRect l="-1043" t="-1541"/>
                </a:stretch>
              </a:blipFill>
            </p:spPr>
            <p:txBody>
              <a:bodyPr/>
              <a:lstStyle/>
              <a:p>
                <a:r>
                  <a:rPr lang="en-US">
                    <a:noFill/>
                  </a:rPr>
                  <a:t> </a:t>
                </a:r>
              </a:p>
            </p:txBody>
          </p:sp>
        </mc:Fallback>
      </mc:AlternateContent>
    </p:spTree>
    <p:extLst>
      <p:ext uri="{BB962C8B-B14F-4D97-AF65-F5344CB8AC3E}">
        <p14:creationId xmlns:p14="http://schemas.microsoft.com/office/powerpoint/2010/main" val="2401267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282DC-BD8E-D692-EBFA-BC2246CD2099}"/>
              </a:ext>
            </a:extLst>
          </p:cNvPr>
          <p:cNvSpPr>
            <a:spLocks noGrp="1"/>
          </p:cNvSpPr>
          <p:nvPr>
            <p:ph type="title"/>
          </p:nvPr>
        </p:nvSpPr>
        <p:spPr/>
        <p:txBody>
          <a:bodyPr/>
          <a:lstStyle/>
          <a:p>
            <a:r>
              <a:rPr lang="en-US" dirty="0"/>
              <a:t>Maximum Likelihood</a:t>
            </a:r>
          </a:p>
        </p:txBody>
      </p:sp>
      <p:sp>
        <p:nvSpPr>
          <p:cNvPr id="3" name="Content Placeholder 2">
            <a:extLst>
              <a:ext uri="{FF2B5EF4-FFF2-40B4-BE49-F238E27FC236}">
                <a16:creationId xmlns:a16="http://schemas.microsoft.com/office/drawing/2014/main" id="{E77F10D2-85D5-F14E-04B6-06BFD47EED6A}"/>
              </a:ext>
            </a:extLst>
          </p:cNvPr>
          <p:cNvSpPr>
            <a:spLocks noGrp="1"/>
          </p:cNvSpPr>
          <p:nvPr>
            <p:ph idx="1"/>
          </p:nvPr>
        </p:nvSpPr>
        <p:spPr/>
        <p:txBody>
          <a:bodyPr/>
          <a:lstStyle/>
          <a:p>
            <a:r>
              <a:rPr lang="en-US" dirty="0"/>
              <a:t>I didn’t explain this for point estimation in last seminar</a:t>
            </a:r>
          </a:p>
          <a:p>
            <a:r>
              <a:rPr lang="en-US" dirty="0"/>
              <a:t>As an example, take normal distribution</a:t>
            </a:r>
          </a:p>
          <a:p>
            <a:r>
              <a:rPr lang="en-US" dirty="0"/>
              <a:t>We know for normal the sample mean is unbiased, and the sample variance is biased</a:t>
            </a:r>
          </a:p>
          <a:p>
            <a:r>
              <a:rPr lang="en-US" dirty="0"/>
              <a:t>Maximum likelihood of normal gives sample mean and sample variance as estimators of mean and variance, so in the case of maximum likelihood for variance, we can a problem with being biased</a:t>
            </a:r>
          </a:p>
        </p:txBody>
      </p:sp>
    </p:spTree>
    <p:extLst>
      <p:ext uri="{BB962C8B-B14F-4D97-AF65-F5344CB8AC3E}">
        <p14:creationId xmlns:p14="http://schemas.microsoft.com/office/powerpoint/2010/main" val="30143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E54E-72F1-9240-183E-2DD16B5F5F28}"/>
              </a:ext>
            </a:extLst>
          </p:cNvPr>
          <p:cNvSpPr>
            <a:spLocks noGrp="1"/>
          </p:cNvSpPr>
          <p:nvPr>
            <p:ph type="title"/>
          </p:nvPr>
        </p:nvSpPr>
        <p:spPr/>
        <p:txBody>
          <a:bodyPr/>
          <a:lstStyle/>
          <a:p>
            <a:r>
              <a:rPr lang="en-US" dirty="0"/>
              <a:t>Maximum Likelihood Large Sample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0AF019-80F4-1821-A372-B2B30E33480E}"/>
                  </a:ext>
                </a:extLst>
              </p:cNvPr>
              <p:cNvSpPr>
                <a:spLocks noGrp="1"/>
              </p:cNvSpPr>
              <p:nvPr>
                <p:ph idx="1"/>
              </p:nvPr>
            </p:nvSpPr>
            <p:spPr/>
            <p:txBody>
              <a:bodyPr>
                <a:normAutofit lnSpcReduction="10000"/>
              </a:bodyPr>
              <a:lstStyle/>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dirty="0"/>
                  <a:t> are i.i.d.</a:t>
                </a:r>
              </a:p>
              <a:p>
                <a14:m>
                  <m:oMath xmlns:m="http://schemas.openxmlformats.org/officeDocument/2006/math">
                    <m:r>
                      <a:rPr lang="en-US" b="0" i="1" smtClean="0">
                        <a:latin typeface="Cambria Math" panose="02040503050406030204" pitchFamily="18" charset="0"/>
                      </a:rPr>
                      <m:t>𝑙</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oMath>
                </a14:m>
                <a:r>
                  <a:rPr lang="en-US" dirty="0"/>
                  <a:t> is the likelihood given sample </a:t>
                </a:r>
                <a14:m>
                  <m:oMath xmlns:m="http://schemas.openxmlformats.org/officeDocument/2006/math">
                    <m:r>
                      <a:rPr lang="en-US" b="0" i="1" smtClean="0">
                        <a:latin typeface="Cambria Math" panose="02040503050406030204" pitchFamily="18" charset="0"/>
                      </a:rPr>
                      <m:t>𝑖</m:t>
                    </m:r>
                  </m:oMath>
                </a14:m>
                <a:endParaRPr lang="en-US" b="0" dirty="0"/>
              </a:p>
              <a:p>
                <a14:m>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m:rPr>
                            <m:sty m:val="p"/>
                          </m:rPr>
                          <a:rPr lang="en-US" b="0" i="0" smtClean="0">
                            <a:latin typeface="Cambria Math" panose="02040503050406030204" pitchFamily="18" charset="0"/>
                          </a:rPr>
                          <m:t>Π</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sSubSup>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oMath>
                </a14:m>
                <a:r>
                  <a:rPr lang="en-US" b="0" dirty="0"/>
                  <a:t> is the product of likelihoods for i.</a:t>
                </a:r>
                <a:r>
                  <a:rPr lang="en-US" dirty="0"/>
                  <a:t>i.d. samples</a:t>
                </a:r>
                <a:endParaRPr lang="en-US" b="0" dirty="0"/>
              </a:p>
              <a:p>
                <a:r>
                  <a:rPr lang="en-US" dirty="0"/>
                  <a:t>Theorem: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𝐿</m:t>
                        </m:r>
                        <m:d>
                          <m:dPr>
                            <m:ctrlPr>
                              <a:rPr lang="en-US" i="1">
                                <a:latin typeface="Cambria Math" panose="02040503050406030204" pitchFamily="18" charset="0"/>
                              </a:rPr>
                            </m:ctrlPr>
                          </m:dPr>
                          <m:e>
                            <m:r>
                              <a:rPr lang="en-US" b="0" i="1" smtClean="0">
                                <a:latin typeface="Cambria Math" panose="02040503050406030204" pitchFamily="18" charset="0"/>
                              </a:rPr>
                              <m:t>𝜃</m:t>
                            </m:r>
                          </m:e>
                          <m:e>
                            <m:sSub>
                              <m:sSubPr>
                                <m:ctrlPr>
                                  <a:rPr lang="en-US" b="0"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r>
                          <a:rPr lang="en-US" b="0" i="0" smtClean="0">
                            <a:latin typeface="Cambria Math" panose="02040503050406030204" pitchFamily="18" charset="0"/>
                          </a:rPr>
                          <m:t>&gt;</m:t>
                        </m:r>
                        <m:r>
                          <a:rPr lang="en-US" i="1">
                            <a:latin typeface="Cambria Math" panose="02040503050406030204" pitchFamily="18" charset="0"/>
                          </a:rPr>
                          <m:t>𝐿</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e>
                    </m:d>
                    <m:r>
                      <a:rPr lang="en-US" b="0" i="1" smtClean="0">
                        <a:latin typeface="Cambria Math" panose="02040503050406030204" pitchFamily="18" charset="0"/>
                      </a:rPr>
                      <m:t>→1</m:t>
                    </m:r>
                  </m:oMath>
                </a14:m>
                <a:r>
                  <a:rPr lang="en-US" dirty="0"/>
                  <a:t> as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for any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𝜃</m:t>
                    </m:r>
                  </m:oMath>
                </a14:m>
                <a:endParaRPr lang="en-US" dirty="0"/>
              </a:p>
              <a:p>
                <a:r>
                  <a:rPr lang="en-US" dirty="0"/>
                  <a:t>Meaning if the prediction is not equal to the ground truth, the likelihood will be larger for the ground truth than for the prediction as that sample size gets large</a:t>
                </a:r>
              </a:p>
            </p:txBody>
          </p:sp>
        </mc:Choice>
        <mc:Fallback xmlns="">
          <p:sp>
            <p:nvSpPr>
              <p:cNvPr id="3" name="Content Placeholder 2">
                <a:extLst>
                  <a:ext uri="{FF2B5EF4-FFF2-40B4-BE49-F238E27FC236}">
                    <a16:creationId xmlns:a16="http://schemas.microsoft.com/office/drawing/2014/main" id="{2D0AF019-80F4-1821-A372-B2B30E33480E}"/>
                  </a:ext>
                </a:extLst>
              </p:cNvPr>
              <p:cNvSpPr>
                <a:spLocks noGrp="1" noRot="1" noChangeAspect="1" noMove="1" noResize="1" noEditPoints="1" noAdjustHandles="1" noChangeArrowheads="1" noChangeShapeType="1" noTextEdit="1"/>
              </p:cNvSpPr>
              <p:nvPr>
                <p:ph idx="1"/>
              </p:nvPr>
            </p:nvSpPr>
            <p:spPr>
              <a:blipFill>
                <a:blip r:embed="rId2"/>
                <a:stretch>
                  <a:fillRect l="-1043" t="-3081" r="-754"/>
                </a:stretch>
              </a:blipFill>
            </p:spPr>
            <p:txBody>
              <a:bodyPr/>
              <a:lstStyle/>
              <a:p>
                <a:r>
                  <a:rPr lang="en-US">
                    <a:noFill/>
                  </a:rPr>
                  <a:t> </a:t>
                </a:r>
              </a:p>
            </p:txBody>
          </p:sp>
        </mc:Fallback>
      </mc:AlternateContent>
    </p:spTree>
    <p:extLst>
      <p:ext uri="{BB962C8B-B14F-4D97-AF65-F5344CB8AC3E}">
        <p14:creationId xmlns:p14="http://schemas.microsoft.com/office/powerpoint/2010/main" val="2986954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E54E-72F1-9240-183E-2DD16B5F5F28}"/>
              </a:ext>
            </a:extLst>
          </p:cNvPr>
          <p:cNvSpPr>
            <a:spLocks noGrp="1"/>
          </p:cNvSpPr>
          <p:nvPr>
            <p:ph type="title"/>
          </p:nvPr>
        </p:nvSpPr>
        <p:spPr/>
        <p:txBody>
          <a:bodyPr/>
          <a:lstStyle/>
          <a:p>
            <a:r>
              <a:rPr lang="en-US" dirty="0"/>
              <a:t>Maximum Likelihood Large Sample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0AF019-80F4-1821-A372-B2B30E33480E}"/>
                  </a:ext>
                </a:extLst>
              </p:cNvPr>
              <p:cNvSpPr>
                <a:spLocks noGrp="1"/>
              </p:cNvSpPr>
              <p:nvPr>
                <p:ph idx="1"/>
              </p:nvPr>
            </p:nvSpPr>
            <p:spPr/>
            <p:txBody>
              <a:bodyPr>
                <a:normAutofit fontScale="92500" lnSpcReduction="20000"/>
              </a:bodyPr>
              <a:lstStyle/>
              <a:p>
                <a:r>
                  <a:rPr lang="en-US" dirty="0"/>
                  <a:t>Using concept of KL divergence again</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acc>
                          <m:accPr>
                            <m:chr m:val="̂"/>
                            <m:ctrlPr>
                              <a:rPr lang="en-US" i="1">
                                <a:latin typeface="Cambria Math" panose="02040503050406030204" pitchFamily="18" charset="0"/>
                              </a:rPr>
                            </m:ctrlPr>
                          </m:accPr>
                          <m:e>
                            <m:r>
                              <a:rPr lang="en-US" i="1">
                                <a:latin typeface="Cambria Math" panose="02040503050406030204" pitchFamily="18" charset="0"/>
                              </a:rPr>
                              <m:t>𝜃</m:t>
                            </m:r>
                          </m:e>
                        </m:acc>
                      </m:sub>
                    </m:sSub>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b>
                          <m:sSubPr>
                            <m:ctrlPr>
                              <a:rPr lang="en-US" i="1" smtClean="0">
                                <a:latin typeface="Cambria Math" panose="02040503050406030204" pitchFamily="18" charset="0"/>
                              </a:rPr>
                            </m:ctrlPr>
                          </m:sSubPr>
                          <m:e>
                            <m:r>
                              <a:rPr lang="en-US" i="1">
                                <a:latin typeface="Cambria Math" panose="02040503050406030204" pitchFamily="18" charset="0"/>
                              </a:rPr>
                              <m:t>𝑓</m:t>
                            </m:r>
                          </m:e>
                          <m:sub>
                            <m:acc>
                              <m:accPr>
                                <m:chr m:val="̂"/>
                                <m:ctrlPr>
                                  <a:rPr lang="en-US" i="1">
                                    <a:latin typeface="Cambria Math" panose="02040503050406030204" pitchFamily="18" charset="0"/>
                                  </a:rPr>
                                </m:ctrlPr>
                              </m:accPr>
                              <m:e>
                                <m:r>
                                  <a:rPr lang="en-US" i="1">
                                    <a:latin typeface="Cambria Math" panose="02040503050406030204" pitchFamily="18" charset="0"/>
                                  </a:rPr>
                                  <m:t>𝜃</m:t>
                                </m:r>
                              </m:e>
                            </m:acc>
                          </m:sub>
                        </m:sSub>
                        <m:d>
                          <m:dPr>
                            <m:ctrlPr>
                              <a:rPr lang="en-US" i="1">
                                <a:latin typeface="Cambria Math" panose="02040503050406030204" pitchFamily="18" charset="0"/>
                              </a:rPr>
                            </m:ctrlPr>
                          </m:dPr>
                          <m:e>
                            <m:r>
                              <a:rPr lang="en-US" i="1">
                                <a:latin typeface="Cambria Math" panose="02040503050406030204" pitchFamily="18" charset="0"/>
                              </a:rPr>
                              <m:t>𝑋</m:t>
                            </m:r>
                          </m:e>
                        </m:d>
                      </m:den>
                    </m:f>
                    <m:r>
                      <a:rPr lang="en-US" b="0" i="1" smtClean="0">
                        <a:latin typeface="Cambria Math" panose="02040503050406030204" pitchFamily="18" charset="0"/>
                      </a:rPr>
                      <m:t>)]</m:t>
                    </m:r>
                  </m:oMath>
                </a14:m>
                <a:r>
                  <a:rPr lang="en-US" dirty="0"/>
                  <a:t> where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endParaRPr lang="en-US" b="0" dirty="0"/>
              </a:p>
              <a:p>
                <a:r>
                  <a:rPr lang="en-US" dirty="0"/>
                  <a:t>Jensen’s inequality says a strictly convex function of an integral is less than the integral of the convex function (negative log is strictly convex)</a:t>
                </a:r>
                <a:endParaRPr lang="en-US" b="0" dirty="0"/>
              </a:p>
              <a:p>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b>
                                      <m:sSubPr>
                                        <m:ctrlPr>
                                          <a:rPr lang="en-US" i="1" smtClean="0">
                                            <a:latin typeface="Cambria Math" panose="02040503050406030204" pitchFamily="18" charset="0"/>
                                          </a:rPr>
                                        </m:ctrlPr>
                                      </m:sSubPr>
                                      <m:e>
                                        <m:r>
                                          <a:rPr lang="en-US" i="1">
                                            <a:latin typeface="Cambria Math" panose="02040503050406030204" pitchFamily="18" charset="0"/>
                                          </a:rPr>
                                          <m:t>𝑓</m:t>
                                        </m:r>
                                      </m:e>
                                      <m:sub>
                                        <m:acc>
                                          <m:accPr>
                                            <m:chr m:val="̂"/>
                                            <m:ctrlPr>
                                              <a:rPr lang="en-US" i="1">
                                                <a:latin typeface="Cambria Math" panose="02040503050406030204" pitchFamily="18" charset="0"/>
                                              </a:rPr>
                                            </m:ctrlPr>
                                          </m:accPr>
                                          <m:e>
                                            <m:r>
                                              <a:rPr lang="en-US" i="1">
                                                <a:latin typeface="Cambria Math" panose="02040503050406030204" pitchFamily="18" charset="0"/>
                                              </a:rPr>
                                              <m:t>𝜃</m:t>
                                            </m:r>
                                          </m:e>
                                        </m:acc>
                                      </m:sub>
                                    </m:sSub>
                                    <m:d>
                                      <m:dPr>
                                        <m:ctrlPr>
                                          <a:rPr lang="en-US" i="1">
                                            <a:latin typeface="Cambria Math" panose="02040503050406030204" pitchFamily="18" charset="0"/>
                                          </a:rPr>
                                        </m:ctrlPr>
                                      </m:dPr>
                                      <m:e>
                                        <m:r>
                                          <a:rPr lang="en-US" i="1">
                                            <a:latin typeface="Cambria Math" panose="02040503050406030204" pitchFamily="18" charset="0"/>
                                          </a:rPr>
                                          <m:t>𝑋</m:t>
                                        </m:r>
                                      </m:e>
                                    </m:d>
                                  </m:den>
                                </m:f>
                              </m:e>
                            </m:d>
                          </m:e>
                        </m:func>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𝑓</m:t>
                                        </m:r>
                                      </m:e>
                                      <m:sub>
                                        <m:acc>
                                          <m:accPr>
                                            <m:chr m:val="̂"/>
                                            <m:ctrlPr>
                                              <a:rPr lang="en-US" i="1">
                                                <a:latin typeface="Cambria Math" panose="02040503050406030204" pitchFamily="18" charset="0"/>
                                              </a:rPr>
                                            </m:ctrlPr>
                                          </m:accPr>
                                          <m:e>
                                            <m:r>
                                              <a:rPr lang="en-US" i="1">
                                                <a:latin typeface="Cambria Math" panose="02040503050406030204" pitchFamily="18" charset="0"/>
                                              </a:rPr>
                                              <m:t>𝜃</m:t>
                                            </m:r>
                                          </m:e>
                                        </m:acc>
                                      </m:sub>
                                    </m:sSub>
                                    <m:d>
                                      <m:dPr>
                                        <m:ctrlPr>
                                          <a:rPr lang="en-US" i="1">
                                            <a:latin typeface="Cambria Math" panose="02040503050406030204" pitchFamily="18" charset="0"/>
                                          </a:rPr>
                                        </m:ctrlPr>
                                      </m:dPr>
                                      <m:e>
                                        <m:r>
                                          <a:rPr lang="en-US" i="1">
                                            <a:latin typeface="Cambria Math" panose="02040503050406030204" pitchFamily="18" charset="0"/>
                                          </a:rPr>
                                          <m:t>𝑋</m:t>
                                        </m:r>
                                      </m:e>
                                    </m:d>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𝑋</m:t>
                                        </m:r>
                                      </m:e>
                                    </m:d>
                                  </m:den>
                                </m:f>
                              </m:e>
                            </m:d>
                          </m:e>
                        </m:func>
                      </m:e>
                    </m:d>
                    <m:r>
                      <a:rPr lang="en-US" b="0" i="0" smtClean="0">
                        <a:latin typeface="Cambria Math" panose="02040503050406030204" pitchFamily="18" charset="0"/>
                      </a:rPr>
                      <m:t>&gt;−</m:t>
                    </m:r>
                    <m:r>
                      <m:rPr>
                        <m:sty m:val="p"/>
                      </m:rPr>
                      <a:rPr lang="en-US" b="0" i="0" smtClean="0">
                        <a:latin typeface="Cambria Math" panose="02040503050406030204" pitchFamily="18" charset="0"/>
                      </a:rPr>
                      <m:t>log</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𝑓</m:t>
                                    </m:r>
                                  </m:e>
                                  <m:sub>
                                    <m:acc>
                                      <m:accPr>
                                        <m:chr m:val="̂"/>
                                        <m:ctrlPr>
                                          <a:rPr lang="en-US" i="1">
                                            <a:latin typeface="Cambria Math" panose="02040503050406030204" pitchFamily="18" charset="0"/>
                                          </a:rPr>
                                        </m:ctrlPr>
                                      </m:accPr>
                                      <m:e>
                                        <m:r>
                                          <a:rPr lang="en-US" i="1">
                                            <a:latin typeface="Cambria Math" panose="02040503050406030204" pitchFamily="18" charset="0"/>
                                          </a:rPr>
                                          <m:t>𝜃</m:t>
                                        </m:r>
                                      </m:e>
                                    </m:acc>
                                  </m:sub>
                                </m:sSub>
                                <m:d>
                                  <m:dPr>
                                    <m:ctrlPr>
                                      <a:rPr lang="en-US" i="1">
                                        <a:latin typeface="Cambria Math" panose="02040503050406030204" pitchFamily="18" charset="0"/>
                                      </a:rPr>
                                    </m:ctrlPr>
                                  </m:dPr>
                                  <m:e>
                                    <m:r>
                                      <a:rPr lang="en-US" i="1">
                                        <a:latin typeface="Cambria Math" panose="02040503050406030204" pitchFamily="18" charset="0"/>
                                      </a:rPr>
                                      <m:t>𝑋</m:t>
                                    </m:r>
                                  </m:e>
                                </m:d>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𝑋</m:t>
                                    </m:r>
                                  </m:e>
                                </m:d>
                              </m:den>
                            </m:f>
                          </m:e>
                        </m:d>
                      </m:e>
                    </m:d>
                  </m:oMath>
                </a14:m>
                <a:endParaRPr lang="en-US" dirty="0"/>
              </a:p>
              <a:p>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𝑓</m:t>
                                </m:r>
                              </m:e>
                              <m:sub>
                                <m:acc>
                                  <m:accPr>
                                    <m:chr m:val="̂"/>
                                    <m:ctrlPr>
                                      <a:rPr lang="en-US" i="1">
                                        <a:latin typeface="Cambria Math" panose="02040503050406030204" pitchFamily="18" charset="0"/>
                                      </a:rPr>
                                    </m:ctrlPr>
                                  </m:accPr>
                                  <m:e>
                                    <m:r>
                                      <a:rPr lang="en-US" i="1">
                                        <a:latin typeface="Cambria Math" panose="02040503050406030204" pitchFamily="18" charset="0"/>
                                      </a:rPr>
                                      <m:t>𝜃</m:t>
                                    </m:r>
                                  </m:e>
                                </m:acc>
                              </m:sub>
                            </m:sSub>
                            <m:d>
                              <m:dPr>
                                <m:ctrlPr>
                                  <a:rPr lang="en-US" i="1">
                                    <a:latin typeface="Cambria Math" panose="02040503050406030204" pitchFamily="18" charset="0"/>
                                  </a:rPr>
                                </m:ctrlPr>
                              </m:dPr>
                              <m:e>
                                <m:r>
                                  <a:rPr lang="en-US" i="1">
                                    <a:latin typeface="Cambria Math" panose="02040503050406030204" pitchFamily="18" charset="0"/>
                                  </a:rPr>
                                  <m:t>𝑋</m:t>
                                </m:r>
                              </m:e>
                            </m:d>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𝑋</m:t>
                                </m:r>
                              </m:e>
                            </m:d>
                          </m:den>
                        </m:f>
                      </m:e>
                    </m:d>
                    <m:r>
                      <a:rPr lang="en-US" b="0" i="0"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   </m:t>
                        </m:r>
                      </m:sub>
                      <m:sup>
                        <m:r>
                          <m:rPr>
                            <m:brk m:alnAt="23"/>
                          </m:rPr>
                          <a:rPr lang="en-US" i="1">
                            <a:latin typeface="Cambria Math" panose="02040503050406030204" pitchFamily="18" charset="0"/>
                          </a:rPr>
                          <m:t>∞</m:t>
                        </m:r>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𝑓</m:t>
                                </m:r>
                              </m:e>
                              <m:sub>
                                <m:acc>
                                  <m:accPr>
                                    <m:chr m:val="̂"/>
                                    <m:ctrlPr>
                                      <a:rPr lang="en-US" i="1">
                                        <a:latin typeface="Cambria Math" panose="02040503050406030204" pitchFamily="18" charset="0"/>
                                      </a:rPr>
                                    </m:ctrlPr>
                                  </m:accPr>
                                  <m:e>
                                    <m:r>
                                      <a:rPr lang="en-US" i="1">
                                        <a:latin typeface="Cambria Math" panose="02040503050406030204" pitchFamily="18" charset="0"/>
                                      </a:rPr>
                                      <m:t>𝜃</m:t>
                                    </m:r>
                                  </m:e>
                                </m:acc>
                              </m:sub>
                            </m:sSub>
                            <m:d>
                              <m:dPr>
                                <m:ctrlPr>
                                  <a:rPr lang="en-US" i="1">
                                    <a:latin typeface="Cambria Math" panose="02040503050406030204" pitchFamily="18" charset="0"/>
                                  </a:rPr>
                                </m:ctrlPr>
                              </m:dPr>
                              <m:e>
                                <m:r>
                                  <a:rPr lang="en-US" b="0" i="1" smtClean="0">
                                    <a:latin typeface="Cambria Math" panose="02040503050406030204" pitchFamily="18" charset="0"/>
                                  </a:rPr>
                                  <m:t>𝑥</m:t>
                                </m:r>
                              </m:e>
                            </m:d>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𝜃</m:t>
                                </m:r>
                              </m:sub>
                            </m:sSub>
                            <m:d>
                              <m:dPr>
                                <m:ctrlPr>
                                  <a:rPr lang="en-US" i="1">
                                    <a:latin typeface="Cambria Math" panose="02040503050406030204" pitchFamily="18" charset="0"/>
                                  </a:rPr>
                                </m:ctrlPr>
                              </m:dPr>
                              <m:e>
                                <m:r>
                                  <a:rPr lang="en-US" b="0" i="1" smtClean="0">
                                    <a:latin typeface="Cambria Math" panose="02040503050406030204" pitchFamily="18" charset="0"/>
                                  </a:rPr>
                                  <m:t>𝑥</m:t>
                                </m:r>
                              </m:e>
                            </m:d>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e>
                    </m:nary>
                    <m:r>
                      <a:rPr lang="en-US" b="0" i="1" smtClean="0">
                        <a:latin typeface="Cambria Math" panose="02040503050406030204" pitchFamily="18" charset="0"/>
                      </a:rPr>
                      <m:t>=</m:t>
                    </m:r>
                    <m:nary>
                      <m:naryPr>
                        <m:ctrlPr>
                          <a:rPr lang="en-US" i="1">
                            <a:latin typeface="Cambria Math" panose="02040503050406030204" pitchFamily="18" charset="0"/>
                          </a:rPr>
                        </m:ctrlPr>
                      </m:naryPr>
                      <m:sub>
                        <m:r>
                          <m:rPr>
                            <m:brk m:alnAt="23"/>
                          </m:rPr>
                          <a:rPr lang="en-US" i="1">
                            <a:latin typeface="Cambria Math" panose="02040503050406030204" pitchFamily="18" charset="0"/>
                          </a:rPr>
                          <m:t>−</m:t>
                        </m:r>
                        <m:r>
                          <a:rPr lang="en-US" i="1">
                            <a:latin typeface="Cambria Math" panose="02040503050406030204" pitchFamily="18" charset="0"/>
                          </a:rPr>
                          <m:t>∞   </m:t>
                        </m:r>
                      </m:sub>
                      <m:sup>
                        <m:r>
                          <m:rPr>
                            <m:brk m:alnAt="23"/>
                          </m:rPr>
                          <a:rPr lang="en-US" i="1">
                            <a:latin typeface="Cambria Math" panose="02040503050406030204" pitchFamily="18" charset="0"/>
                          </a:rPr>
                          <m:t>∞</m:t>
                        </m:r>
                      </m:sup>
                      <m:e>
                        <m:sSub>
                          <m:sSubPr>
                            <m:ctrlPr>
                              <a:rPr lang="en-US" i="1">
                                <a:latin typeface="Cambria Math" panose="02040503050406030204" pitchFamily="18" charset="0"/>
                              </a:rPr>
                            </m:ctrlPr>
                          </m:sSubPr>
                          <m:e>
                            <m:r>
                              <a:rPr lang="en-US" i="1">
                                <a:latin typeface="Cambria Math" panose="02040503050406030204" pitchFamily="18" charset="0"/>
                              </a:rPr>
                              <m:t>𝑓</m:t>
                            </m:r>
                          </m:e>
                          <m:sub>
                            <m:acc>
                              <m:accPr>
                                <m:chr m:val="̂"/>
                                <m:ctrlPr>
                                  <a:rPr lang="en-US" i="1">
                                    <a:latin typeface="Cambria Math" panose="02040503050406030204" pitchFamily="18" charset="0"/>
                                  </a:rPr>
                                </m:ctrlPr>
                              </m:accPr>
                              <m:e>
                                <m:r>
                                  <a:rPr lang="en-US" i="1">
                                    <a:latin typeface="Cambria Math" panose="02040503050406030204" pitchFamily="18" charset="0"/>
                                  </a:rPr>
                                  <m:t>𝜃</m:t>
                                </m:r>
                              </m:e>
                            </m:acc>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𝑑𝑥</m:t>
                        </m:r>
                      </m:e>
                    </m:nary>
                    <m:r>
                      <a:rPr lang="en-US" b="0" i="1" smtClean="0">
                        <a:latin typeface="Cambria Math" panose="02040503050406030204" pitchFamily="18" charset="0"/>
                      </a:rPr>
                      <m:t>=1</m:t>
                    </m:r>
                  </m:oMath>
                </a14:m>
                <a:endParaRPr lang="en-US" dirty="0"/>
              </a:p>
              <a:p>
                <a14:m>
                  <m:oMath xmlns:m="http://schemas.openxmlformats.org/officeDocument/2006/math">
                    <m:r>
                      <a:rPr lang="en-US" b="0" i="0" smtClean="0">
                        <a:latin typeface="Cambria Math" panose="02040503050406030204" pitchFamily="18" charset="0"/>
                      </a:rPr>
                      <m:t>−</m:t>
                    </m:r>
                    <m:r>
                      <m:rPr>
                        <m:sty m:val="p"/>
                      </m:rPr>
                      <a:rPr lang="en-US" b="0" i="0" smtClean="0">
                        <a:latin typeface="Cambria Math" panose="02040503050406030204" pitchFamily="18" charset="0"/>
                      </a:rPr>
                      <m:t>log</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𝑓</m:t>
                                    </m:r>
                                  </m:e>
                                  <m:sub>
                                    <m:acc>
                                      <m:accPr>
                                        <m:chr m:val="̂"/>
                                        <m:ctrlPr>
                                          <a:rPr lang="en-US" i="1">
                                            <a:latin typeface="Cambria Math" panose="02040503050406030204" pitchFamily="18" charset="0"/>
                                          </a:rPr>
                                        </m:ctrlPr>
                                      </m:accPr>
                                      <m:e>
                                        <m:r>
                                          <a:rPr lang="en-US" i="1">
                                            <a:latin typeface="Cambria Math" panose="02040503050406030204" pitchFamily="18" charset="0"/>
                                          </a:rPr>
                                          <m:t>𝜃</m:t>
                                        </m:r>
                                      </m:e>
                                    </m:acc>
                                  </m:sub>
                                </m:sSub>
                                <m:d>
                                  <m:dPr>
                                    <m:ctrlPr>
                                      <a:rPr lang="en-US" i="1">
                                        <a:latin typeface="Cambria Math" panose="02040503050406030204" pitchFamily="18" charset="0"/>
                                      </a:rPr>
                                    </m:ctrlPr>
                                  </m:dPr>
                                  <m:e>
                                    <m:r>
                                      <a:rPr lang="en-US" i="1">
                                        <a:latin typeface="Cambria Math" panose="02040503050406030204" pitchFamily="18" charset="0"/>
                                      </a:rPr>
                                      <m:t>𝑋</m:t>
                                    </m:r>
                                  </m:e>
                                </m:d>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𝑋</m:t>
                                    </m:r>
                                  </m:e>
                                </m:d>
                              </m:den>
                            </m:f>
                          </m:e>
                        </m:d>
                      </m:e>
                    </m:d>
                    <m:r>
                      <a:rPr lang="en-US">
                        <a:latin typeface="Cambria Math" panose="02040503050406030204" pitchFamily="18" charset="0"/>
                      </a:rPr>
                      <m:t>=−</m:t>
                    </m:r>
                    <m:r>
                      <m:rPr>
                        <m:sty m:val="p"/>
                      </m:rPr>
                      <a:rPr lang="en-US">
                        <a:latin typeface="Cambria Math" panose="02040503050406030204" pitchFamily="18" charset="0"/>
                      </a:rPr>
                      <m:t>log</m:t>
                    </m:r>
                    <m:d>
                      <m:dPr>
                        <m:ctrlPr>
                          <a:rPr lang="en-US" i="1">
                            <a:latin typeface="Cambria Math" panose="02040503050406030204" pitchFamily="18" charset="0"/>
                          </a:rPr>
                        </m:ctrlPr>
                      </m:dPr>
                      <m:e>
                        <m:r>
                          <a:rPr lang="en-US" b="0" i="1" smtClean="0">
                            <a:latin typeface="Cambria Math" panose="02040503050406030204" pitchFamily="18" charset="0"/>
                          </a:rPr>
                          <m:t>1</m:t>
                        </m:r>
                      </m:e>
                    </m:d>
                    <m:r>
                      <a:rPr lang="en-US" b="0" i="0" smtClean="0">
                        <a:latin typeface="Cambria Math" panose="02040503050406030204" pitchFamily="18" charset="0"/>
                      </a:rPr>
                      <m:t>=0</m:t>
                    </m:r>
                  </m:oMath>
                </a14:m>
                <a:endParaRPr lang="en-US" dirty="0"/>
              </a:p>
              <a:p>
                <a:r>
                  <a:rPr lang="en-US" dirty="0"/>
                  <a:t>KL divergence is non-negative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2D0AF019-80F4-1821-A372-B2B30E33480E}"/>
                  </a:ext>
                </a:extLst>
              </p:cNvPr>
              <p:cNvSpPr>
                <a:spLocks noGrp="1" noRot="1" noChangeAspect="1" noMove="1" noResize="1" noEditPoints="1" noAdjustHandles="1" noChangeArrowheads="1" noChangeShapeType="1" noTextEdit="1"/>
              </p:cNvSpPr>
              <p:nvPr>
                <p:ph idx="1"/>
              </p:nvPr>
            </p:nvSpPr>
            <p:spPr>
              <a:blipFill>
                <a:blip r:embed="rId2"/>
                <a:stretch>
                  <a:fillRect l="-928" t="-3501" b="-3221"/>
                </a:stretch>
              </a:blipFill>
            </p:spPr>
            <p:txBody>
              <a:bodyPr/>
              <a:lstStyle/>
              <a:p>
                <a:r>
                  <a:rPr lang="en-US">
                    <a:noFill/>
                  </a:rPr>
                  <a:t> </a:t>
                </a:r>
              </a:p>
            </p:txBody>
          </p:sp>
        </mc:Fallback>
      </mc:AlternateContent>
    </p:spTree>
    <p:extLst>
      <p:ext uri="{BB962C8B-B14F-4D97-AF65-F5344CB8AC3E}">
        <p14:creationId xmlns:p14="http://schemas.microsoft.com/office/powerpoint/2010/main" val="34019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E54E-72F1-9240-183E-2DD16B5F5F28}"/>
              </a:ext>
            </a:extLst>
          </p:cNvPr>
          <p:cNvSpPr>
            <a:spLocks noGrp="1"/>
          </p:cNvSpPr>
          <p:nvPr>
            <p:ph type="title"/>
          </p:nvPr>
        </p:nvSpPr>
        <p:spPr/>
        <p:txBody>
          <a:bodyPr/>
          <a:lstStyle/>
          <a:p>
            <a:r>
              <a:rPr lang="en-US" dirty="0"/>
              <a:t>Maximum Likelihood Large Sample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0AF019-80F4-1821-A372-B2B30E33480E}"/>
                  </a:ext>
                </a:extLst>
              </p:cNvPr>
              <p:cNvSpPr>
                <a:spLocks noGrp="1"/>
              </p:cNvSpPr>
              <p:nvPr>
                <p:ph idx="1"/>
              </p:nvPr>
            </p:nvSpPr>
            <p:spPr/>
            <p:txBody>
              <a:bodyPr>
                <a:normAutofit fontScale="55000" lnSpcReduction="20000"/>
              </a:bodyPr>
              <a:lstStyle/>
              <a:p>
                <a:r>
                  <a:rPr lang="en-US" dirty="0"/>
                  <a:t>Theorem: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𝐿</m:t>
                        </m:r>
                        <m:d>
                          <m:dPr>
                            <m:ctrlPr>
                              <a:rPr lang="en-US" i="1">
                                <a:latin typeface="Cambria Math" panose="02040503050406030204" pitchFamily="18" charset="0"/>
                              </a:rPr>
                            </m:ctrlPr>
                          </m:dPr>
                          <m:e>
                            <m:r>
                              <a:rPr lang="en-US" b="0" i="1" smtClean="0">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r>
                          <a:rPr lang="en-US" b="0" i="0" smtClean="0">
                            <a:latin typeface="Cambria Math" panose="02040503050406030204" pitchFamily="18" charset="0"/>
                          </a:rPr>
                          <m:t>&gt;</m:t>
                        </m:r>
                        <m:r>
                          <a:rPr lang="en-US" i="1">
                            <a:latin typeface="Cambria Math" panose="02040503050406030204" pitchFamily="18" charset="0"/>
                          </a:rPr>
                          <m:t>𝐿</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e>
                    </m:d>
                    <m:r>
                      <a:rPr lang="en-US" b="0" i="1" smtClean="0">
                        <a:latin typeface="Cambria Math" panose="02040503050406030204" pitchFamily="18" charset="0"/>
                      </a:rPr>
                      <m:t>→1</m:t>
                    </m:r>
                  </m:oMath>
                </a14:m>
                <a:r>
                  <a:rPr lang="en-US" dirty="0"/>
                  <a:t> as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for any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𝜃</m:t>
                    </m:r>
                  </m:oMath>
                </a14:m>
                <a:endParaRPr lang="en-US" dirty="0"/>
              </a:p>
              <a:p>
                <a:r>
                  <a:rPr lang="en-US" b="0" i="0" dirty="0">
                    <a:latin typeface="Cambria Math" panose="02040503050406030204" pitchFamily="18" charset="0"/>
                  </a:rPr>
                  <a:t>Proof:</a:t>
                </a:r>
              </a:p>
              <a:p>
                <a:r>
                  <a:rPr lang="en-US" dirty="0"/>
                  <a:t>From previous slide about KL divergence, for any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𝜃</m:t>
                    </m:r>
                  </m:oMath>
                </a14:m>
                <a:endParaRPr lang="en-US" b="0" dirty="0"/>
              </a:p>
              <a:p>
                <a14:m>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𝑙</m:t>
                                    </m:r>
                                    <m:d>
                                      <m:dPr>
                                        <m:ctrlPr>
                                          <a:rPr lang="en-US" b="0"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r>
                                          <a:rPr lang="en-US" b="0" i="1" smtClean="0">
                                            <a:latin typeface="Cambria Math" panose="02040503050406030204" pitchFamily="18" charset="0"/>
                                          </a:rPr>
                                          <m:t>𝑋</m:t>
                                        </m:r>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b="0" i="1" smtClean="0">
                                            <a:latin typeface="Cambria Math" panose="02040503050406030204" pitchFamily="18" charset="0"/>
                                          </a:rPr>
                                          <m:t>𝜃</m:t>
                                        </m:r>
                                      </m:e>
                                      <m:e>
                                        <m:r>
                                          <a:rPr lang="en-US" i="1">
                                            <a:latin typeface="Cambria Math" panose="02040503050406030204" pitchFamily="18" charset="0"/>
                                          </a:rPr>
                                          <m:t>𝑋</m:t>
                                        </m:r>
                                      </m:e>
                                    </m:d>
                                  </m:den>
                                </m:f>
                              </m:e>
                            </m:d>
                          </m:e>
                        </m:d>
                      </m:e>
                    </m:func>
                    <m:r>
                      <a:rPr lang="en-US" b="0" i="1" smtClean="0">
                        <a:latin typeface="Cambria Math" panose="02040503050406030204" pitchFamily="18" charset="0"/>
                      </a:rPr>
                      <m:t>=0</m:t>
                    </m:r>
                  </m:oMath>
                </a14:m>
                <a:endParaRPr lang="en-US" b="0" dirty="0"/>
              </a:p>
              <a:p>
                <a:r>
                  <a:rPr lang="en-US" dirty="0"/>
                  <a:t>From Jensen’s inequality</a:t>
                </a:r>
              </a:p>
              <a:p>
                <a14:m>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𝑙</m:t>
                                    </m:r>
                                    <m:d>
                                      <m:dPr>
                                        <m:ctrlPr>
                                          <a:rPr lang="en-US" b="0"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r>
                                          <a:rPr lang="en-US" b="0" i="1" smtClean="0">
                                            <a:latin typeface="Cambria Math" panose="02040503050406030204" pitchFamily="18" charset="0"/>
                                          </a:rPr>
                                          <m:t>𝑋</m:t>
                                        </m:r>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b="0" i="1" smtClean="0">
                                            <a:latin typeface="Cambria Math" panose="02040503050406030204" pitchFamily="18" charset="0"/>
                                          </a:rPr>
                                          <m:t>𝜃</m:t>
                                        </m:r>
                                      </m:e>
                                      <m:e>
                                        <m:r>
                                          <a:rPr lang="en-US" i="1">
                                            <a:latin typeface="Cambria Math" panose="02040503050406030204" pitchFamily="18" charset="0"/>
                                          </a:rPr>
                                          <m:t>𝑋</m:t>
                                        </m:r>
                                      </m:e>
                                    </m:d>
                                  </m:den>
                                </m:f>
                              </m:e>
                            </m:d>
                          </m:e>
                        </m:d>
                      </m:e>
                    </m:func>
                    <m:r>
                      <a:rPr lang="en-US" b="0" i="0" smtClean="0">
                        <a:latin typeface="Cambria Math" panose="02040503050406030204" pitchFamily="18" charset="0"/>
                      </a:rPr>
                      <m:t>&lt;</m:t>
                    </m:r>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m:t>
                        </m:r>
                        <m:r>
                          <m:rPr>
                            <m:sty m:val="p"/>
                          </m:rPr>
                          <a:rPr lang="en-US" b="0" i="0" smtClean="0">
                            <a:latin typeface="Cambria Math" panose="02040503050406030204" pitchFamily="18" charset="0"/>
                          </a:rPr>
                          <m:t>log</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r>
                                      <a:rPr lang="en-US" i="1">
                                        <a:latin typeface="Cambria Math" panose="02040503050406030204" pitchFamily="18" charset="0"/>
                                      </a:rPr>
                                      <m:t>𝑋</m:t>
                                    </m:r>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r>
                                      <a:rPr lang="en-US" i="1">
                                        <a:latin typeface="Cambria Math" panose="02040503050406030204" pitchFamily="18" charset="0"/>
                                      </a:rPr>
                                      <m:t>𝑋</m:t>
                                    </m:r>
                                  </m:e>
                                </m:d>
                              </m:den>
                            </m:f>
                          </m:e>
                        </m:d>
                      </m:e>
                    </m:d>
                  </m:oMath>
                </a14:m>
                <a:endParaRPr lang="en-US" b="0" dirty="0"/>
              </a:p>
              <a:p>
                <a14:m>
                  <m:oMath xmlns:m="http://schemas.openxmlformats.org/officeDocument/2006/math">
                    <m:r>
                      <a:rPr lang="en-US" b="0" i="1" smtClean="0">
                        <a:latin typeface="Cambria Math" panose="02040503050406030204" pitchFamily="18" charset="0"/>
                      </a:rPr>
                      <m:t>0</m:t>
                    </m:r>
                    <m:r>
                      <a:rPr lang="en-US" b="0" i="0" smtClean="0">
                        <a:latin typeface="Cambria Math" panose="02040503050406030204" pitchFamily="18" charset="0"/>
                      </a:rPr>
                      <m:t>&lt;</m:t>
                    </m:r>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m:t>
                        </m:r>
                        <m:r>
                          <m:rPr>
                            <m:sty m:val="p"/>
                          </m:rPr>
                          <a:rPr lang="en-US" b="0" i="0" smtClean="0">
                            <a:latin typeface="Cambria Math" panose="02040503050406030204" pitchFamily="18" charset="0"/>
                          </a:rPr>
                          <m:t>log</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r>
                                      <a:rPr lang="en-US" i="1">
                                        <a:latin typeface="Cambria Math" panose="02040503050406030204" pitchFamily="18" charset="0"/>
                                      </a:rPr>
                                      <m:t>𝑋</m:t>
                                    </m:r>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r>
                                      <a:rPr lang="en-US" i="1">
                                        <a:latin typeface="Cambria Math" panose="02040503050406030204" pitchFamily="18" charset="0"/>
                                      </a:rPr>
                                      <m:t>𝑋</m:t>
                                    </m:r>
                                  </m:e>
                                </m:d>
                              </m:den>
                            </m:f>
                          </m:e>
                        </m:d>
                      </m:e>
                    </m:d>
                  </m:oMath>
                </a14:m>
                <a:endParaRPr lang="en-US" b="0" dirty="0"/>
              </a:p>
              <a:p>
                <a14:m>
                  <m:oMath xmlns:m="http://schemas.openxmlformats.org/officeDocument/2006/math">
                    <m:r>
                      <a:rPr lang="en-US" b="0" i="1" smtClean="0">
                        <a:latin typeface="Cambria Math" panose="02040503050406030204" pitchFamily="18" charset="0"/>
                      </a:rPr>
                      <m:t>0</m:t>
                    </m:r>
                    <m:r>
                      <a:rPr lang="en-US" b="0" i="0" smtClean="0">
                        <a:latin typeface="Cambria Math" panose="02040503050406030204" pitchFamily="18" charset="0"/>
                      </a:rPr>
                      <m:t>&lt;−</m:t>
                    </m:r>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log</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r>
                                      <a:rPr lang="en-US" i="1">
                                        <a:latin typeface="Cambria Math" panose="02040503050406030204" pitchFamily="18" charset="0"/>
                                      </a:rPr>
                                      <m:t>𝑋</m:t>
                                    </m:r>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r>
                                      <a:rPr lang="en-US" i="1">
                                        <a:latin typeface="Cambria Math" panose="02040503050406030204" pitchFamily="18" charset="0"/>
                                      </a:rPr>
                                      <m:t>𝑋</m:t>
                                    </m:r>
                                  </m:e>
                                </m:d>
                              </m:den>
                            </m:f>
                          </m:e>
                        </m:d>
                      </m:e>
                    </m:d>
                  </m:oMath>
                </a14:m>
                <a:endParaRPr lang="en-US" b="0" dirty="0"/>
              </a:p>
              <a:p>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log</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r>
                                      <a:rPr lang="en-US" i="1">
                                        <a:latin typeface="Cambria Math" panose="02040503050406030204" pitchFamily="18" charset="0"/>
                                      </a:rPr>
                                      <m:t>𝑋</m:t>
                                    </m:r>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r>
                                      <a:rPr lang="en-US" i="1">
                                        <a:latin typeface="Cambria Math" panose="02040503050406030204" pitchFamily="18" charset="0"/>
                                      </a:rPr>
                                      <m:t>𝑋</m:t>
                                    </m:r>
                                  </m:e>
                                </m:d>
                              </m:den>
                            </m:f>
                          </m:e>
                        </m:d>
                      </m:e>
                    </m:d>
                    <m:r>
                      <a:rPr lang="en-US" b="0" i="1" smtClean="0">
                        <a:latin typeface="Cambria Math" panose="02040503050406030204" pitchFamily="18" charset="0"/>
                      </a:rPr>
                      <m:t>&lt;0</m:t>
                    </m:r>
                  </m:oMath>
                </a14:m>
                <a:endParaRPr lang="en-US" b="0" dirty="0"/>
              </a:p>
              <a:p>
                <a:endParaRPr lang="en-US" b="0" dirty="0"/>
              </a:p>
              <a:p>
                <a:endParaRPr lang="en-US" b="0" dirty="0"/>
              </a:p>
              <a:p>
                <a:endParaRPr lang="en-US" b="0" dirty="0"/>
              </a:p>
              <a:p>
                <a:endParaRPr lang="en-US" dirty="0"/>
              </a:p>
            </p:txBody>
          </p:sp>
        </mc:Choice>
        <mc:Fallback xmlns="">
          <p:sp>
            <p:nvSpPr>
              <p:cNvPr id="3" name="Content Placeholder 2">
                <a:extLst>
                  <a:ext uri="{FF2B5EF4-FFF2-40B4-BE49-F238E27FC236}">
                    <a16:creationId xmlns:a16="http://schemas.microsoft.com/office/drawing/2014/main" id="{2D0AF019-80F4-1821-A372-B2B30E33480E}"/>
                  </a:ext>
                </a:extLst>
              </p:cNvPr>
              <p:cNvSpPr>
                <a:spLocks noGrp="1" noRot="1" noChangeAspect="1" noMove="1" noResize="1" noEditPoints="1" noAdjustHandles="1" noChangeArrowheads="1" noChangeShapeType="1" noTextEdit="1"/>
              </p:cNvSpPr>
              <p:nvPr>
                <p:ph idx="1"/>
              </p:nvPr>
            </p:nvSpPr>
            <p:spPr>
              <a:blipFill>
                <a:blip r:embed="rId2"/>
                <a:stretch>
                  <a:fillRect l="-174" t="-700"/>
                </a:stretch>
              </a:blipFill>
            </p:spPr>
            <p:txBody>
              <a:bodyPr/>
              <a:lstStyle/>
              <a:p>
                <a:r>
                  <a:rPr lang="en-US">
                    <a:noFill/>
                  </a:rPr>
                  <a:t> </a:t>
                </a:r>
              </a:p>
            </p:txBody>
          </p:sp>
        </mc:Fallback>
      </mc:AlternateContent>
    </p:spTree>
    <p:extLst>
      <p:ext uri="{BB962C8B-B14F-4D97-AF65-F5344CB8AC3E}">
        <p14:creationId xmlns:p14="http://schemas.microsoft.com/office/powerpoint/2010/main" val="1258090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E54E-72F1-9240-183E-2DD16B5F5F28}"/>
              </a:ext>
            </a:extLst>
          </p:cNvPr>
          <p:cNvSpPr>
            <a:spLocks noGrp="1"/>
          </p:cNvSpPr>
          <p:nvPr>
            <p:ph type="title"/>
          </p:nvPr>
        </p:nvSpPr>
        <p:spPr/>
        <p:txBody>
          <a:bodyPr/>
          <a:lstStyle/>
          <a:p>
            <a:r>
              <a:rPr lang="en-US" dirty="0"/>
              <a:t>Maximum Likelihood Large Sample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0AF019-80F4-1821-A372-B2B30E33480E}"/>
                  </a:ext>
                </a:extLst>
              </p:cNvPr>
              <p:cNvSpPr>
                <a:spLocks noGrp="1"/>
              </p:cNvSpPr>
              <p:nvPr>
                <p:ph idx="1"/>
              </p:nvPr>
            </p:nvSpPr>
            <p:spPr/>
            <p:txBody>
              <a:bodyPr>
                <a:normAutofit fontScale="77500" lnSpcReduction="20000"/>
              </a:bodyPr>
              <a:lstStyle/>
              <a:p>
                <a14:m>
                  <m:oMath xmlns:m="http://schemas.openxmlformats.org/officeDocument/2006/math">
                    <m:r>
                      <m:rPr>
                        <m:sty m:val="p"/>
                      </m:rPr>
                      <a:rPr lang="en-US" smtClean="0">
                        <a:latin typeface="Cambria Math" panose="02040503050406030204" pitchFamily="18" charset="0"/>
                      </a:rPr>
                      <m:t>E</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r>
                                      <a:rPr lang="en-US" i="1">
                                        <a:latin typeface="Cambria Math" panose="02040503050406030204" pitchFamily="18" charset="0"/>
                                      </a:rPr>
                                      <m:t>𝑋</m:t>
                                    </m:r>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r>
                                      <a:rPr lang="en-US" i="1">
                                        <a:latin typeface="Cambria Math" panose="02040503050406030204" pitchFamily="18" charset="0"/>
                                      </a:rPr>
                                      <m:t>𝑋</m:t>
                                    </m:r>
                                  </m:e>
                                </m:d>
                              </m:den>
                            </m:f>
                          </m:e>
                        </m:d>
                      </m:e>
                    </m:d>
                    <m:r>
                      <a:rPr lang="en-US" i="1">
                        <a:latin typeface="Cambria Math" panose="02040503050406030204" pitchFamily="18" charset="0"/>
                      </a:rPr>
                      <m:t>&lt;0</m:t>
                    </m:r>
                  </m:oMath>
                </a14:m>
                <a:r>
                  <a:rPr lang="en-US" dirty="0"/>
                  <a:t> </a:t>
                </a:r>
              </a:p>
              <a:p>
                <a:r>
                  <a:rPr lang="en-US" dirty="0"/>
                  <a:t>The law of large numbers (the sample average converges to the true expectation), using weak version</a:t>
                </a:r>
              </a:p>
              <a:p>
                <a:r>
                  <a:rPr lang="en-US" b="0" dirty="0"/>
                  <a:t>Let the function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a14:m>
                <a:r>
                  <a:rPr lang="en-US" b="0" dirty="0"/>
                  <a:t> given by the quotient inside the sum be a random variable below</a:t>
                </a:r>
                <a:endParaRPr lang="en-US" dirty="0"/>
              </a:p>
              <a:p>
                <a14:m>
                  <m:oMath xmlns:m="http://schemas.openxmlformats.org/officeDocument/2006/math">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𝜖</m:t>
                        </m:r>
                      </m:e>
                      <m:sub>
                        <m:r>
                          <a:rPr lang="en-US" b="0" i="1" smtClean="0">
                            <a:latin typeface="Cambria Math" panose="02040503050406030204" pitchFamily="18" charset="0"/>
                          </a:rPr>
                          <m:t>0</m:t>
                        </m:r>
                      </m:sub>
                    </m:sSub>
                    <m:r>
                      <a:rPr lang="en-US">
                        <a:latin typeface="Cambria Math" panose="02040503050406030204" pitchFamily="18" charset="0"/>
                      </a:rPr>
                      <m:t>&gt;0</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𝑖</m:t>
                                    </m:r>
                                  </m:sub>
                                </m:sSub>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b="0" i="1" smtClean="0">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b="0" i="1" smtClean="0">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𝑖</m:t>
                                                </m:r>
                                              </m:sub>
                                            </m:sSub>
                                          </m:e>
                                        </m:d>
                                      </m:den>
                                    </m:f>
                                  </m:e>
                                </m:d>
                                <m:r>
                                  <a:rPr lang="en-US" b="0" i="1" smtClean="0">
                                    <a:latin typeface="Cambria Math" panose="02040503050406030204" pitchFamily="18" charset="0"/>
                                  </a:rPr>
                                  <m:t>−</m:t>
                                </m:r>
                                <m:r>
                                  <m:rPr>
                                    <m:sty m:val="p"/>
                                  </m:rPr>
                                  <a:rPr lang="en-US">
                                    <a:latin typeface="Cambria Math" panose="02040503050406030204" pitchFamily="18" charset="0"/>
                                  </a:rPr>
                                  <m:t>E</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e>
                                </m:d>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i="1">
                                    <a:latin typeface="Cambria Math" panose="02040503050406030204" pitchFamily="18" charset="0"/>
                                  </a:rPr>
                                  <m:t>𝜖</m:t>
                                </m:r>
                              </m:e>
                              <m:sub>
                                <m:r>
                                  <a:rPr lang="en-US" b="0" i="1" smtClean="0">
                                    <a:latin typeface="Cambria Math" panose="02040503050406030204" pitchFamily="18" charset="0"/>
                                  </a:rPr>
                                  <m:t>0</m:t>
                                </m:r>
                              </m:sub>
                            </m:sSub>
                          </m:e>
                        </m:d>
                      </m:e>
                    </m:func>
                    <m:r>
                      <a:rPr lang="en-US" b="0" i="0" smtClean="0">
                        <a:latin typeface="Cambria Math" panose="02040503050406030204" pitchFamily="18" charset="0"/>
                      </a:rPr>
                      <m:t>=1</m:t>
                    </m:r>
                  </m:oMath>
                </a14:m>
                <a:endParaRPr lang="en-US" b="0" dirty="0"/>
              </a:p>
              <a:p>
                <a:r>
                  <a:rPr lang="en-US" dirty="0"/>
                  <a:t>Implies</a:t>
                </a:r>
              </a:p>
              <a:p>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𝑖</m:t>
                                </m:r>
                              </m:sub>
                            </m:sSub>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r>
                              <a:rPr lang="en-US" b="0" i="1" smtClean="0">
                                <a:latin typeface="Cambria Math" panose="02040503050406030204" pitchFamily="18" charset="0"/>
                              </a:rPr>
                              <m:t>&lt;0</m:t>
                            </m:r>
                          </m:e>
                        </m:d>
                      </m:e>
                    </m:func>
                    <m:r>
                      <a:rPr lang="en-US" b="0" i="0" smtClean="0">
                        <a:latin typeface="Cambria Math" panose="02040503050406030204" pitchFamily="18" charset="0"/>
                      </a:rPr>
                      <m:t>=1</m:t>
                    </m:r>
                  </m:oMath>
                </a14:m>
                <a:endParaRPr lang="en-US" dirty="0"/>
              </a:p>
              <a:p>
                <a:r>
                  <a:rPr lang="en-US" dirty="0"/>
                  <a:t>Analysis on next 2 slides</a:t>
                </a:r>
              </a:p>
              <a:p>
                <a:endParaRPr lang="en-US" dirty="0"/>
              </a:p>
              <a:p>
                <a:endParaRPr lang="en-US" dirty="0"/>
              </a:p>
              <a:p>
                <a:endParaRPr lang="en-US" dirty="0"/>
              </a:p>
              <a:p>
                <a:endParaRPr lang="en-US" dirty="0"/>
              </a:p>
              <a:p>
                <a:endParaRPr lang="en-US" dirty="0"/>
              </a:p>
              <a:p>
                <a:endParaRPr lang="en-US" b="0" dirty="0"/>
              </a:p>
              <a:p>
                <a:endParaRPr lang="en-US" dirty="0"/>
              </a:p>
            </p:txBody>
          </p:sp>
        </mc:Choice>
        <mc:Fallback xmlns="">
          <p:sp>
            <p:nvSpPr>
              <p:cNvPr id="3" name="Content Placeholder 2">
                <a:extLst>
                  <a:ext uri="{FF2B5EF4-FFF2-40B4-BE49-F238E27FC236}">
                    <a16:creationId xmlns:a16="http://schemas.microsoft.com/office/drawing/2014/main" id="{2D0AF019-80F4-1821-A372-B2B30E33480E}"/>
                  </a:ext>
                </a:extLst>
              </p:cNvPr>
              <p:cNvSpPr>
                <a:spLocks noGrp="1" noRot="1" noChangeAspect="1" noMove="1" noResize="1" noEditPoints="1" noAdjustHandles="1" noChangeArrowheads="1" noChangeShapeType="1" noTextEdit="1"/>
              </p:cNvSpPr>
              <p:nvPr>
                <p:ph idx="1"/>
              </p:nvPr>
            </p:nvSpPr>
            <p:spPr>
              <a:blipFill>
                <a:blip r:embed="rId2"/>
                <a:stretch>
                  <a:fillRect l="-696" t="-2101" b="-280"/>
                </a:stretch>
              </a:blipFill>
            </p:spPr>
            <p:txBody>
              <a:bodyPr/>
              <a:lstStyle/>
              <a:p>
                <a:r>
                  <a:rPr lang="en-US">
                    <a:noFill/>
                  </a:rPr>
                  <a:t> </a:t>
                </a:r>
              </a:p>
            </p:txBody>
          </p:sp>
        </mc:Fallback>
      </mc:AlternateContent>
    </p:spTree>
    <p:extLst>
      <p:ext uri="{BB962C8B-B14F-4D97-AF65-F5344CB8AC3E}">
        <p14:creationId xmlns:p14="http://schemas.microsoft.com/office/powerpoint/2010/main" val="1446639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E54E-72F1-9240-183E-2DD16B5F5F28}"/>
              </a:ext>
            </a:extLst>
          </p:cNvPr>
          <p:cNvSpPr>
            <a:spLocks noGrp="1"/>
          </p:cNvSpPr>
          <p:nvPr>
            <p:ph type="title"/>
          </p:nvPr>
        </p:nvSpPr>
        <p:spPr/>
        <p:txBody>
          <a:bodyPr/>
          <a:lstStyle/>
          <a:p>
            <a:r>
              <a:rPr lang="en-US" dirty="0"/>
              <a:t>Maximum Likelihood Large Sample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0AF019-80F4-1821-A372-B2B30E33480E}"/>
                  </a:ext>
                </a:extLst>
              </p:cNvPr>
              <p:cNvSpPr>
                <a:spLocks noGrp="1"/>
              </p:cNvSpPr>
              <p:nvPr>
                <p:ph idx="1"/>
              </p:nvPr>
            </p:nvSpPr>
            <p:spPr/>
            <p:txBody>
              <a:bodyPr>
                <a:normAutofit/>
              </a:bodyPr>
              <a:lstStyle/>
              <a:p>
                <a14:m>
                  <m:oMath xmlns:m="http://schemas.openxmlformats.org/officeDocument/2006/math">
                    <m:r>
                      <a:rPr lang="en-US" sz="200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i="1" smtClean="0">
                            <a:latin typeface="Cambria Math" panose="02040503050406030204" pitchFamily="18" charset="0"/>
                          </a:rPr>
                          <m:t>𝜖</m:t>
                        </m:r>
                      </m:e>
                      <m:sub>
                        <m:r>
                          <a:rPr lang="en-US" sz="2000" b="0" i="1" smtClean="0">
                            <a:latin typeface="Cambria Math" panose="02040503050406030204" pitchFamily="18" charset="0"/>
                          </a:rPr>
                          <m:t>0</m:t>
                        </m:r>
                      </m:sub>
                    </m:sSub>
                    <m:r>
                      <a:rPr lang="en-US" sz="2000">
                        <a:latin typeface="Cambria Math" panose="02040503050406030204" pitchFamily="18" charset="0"/>
                      </a:rPr>
                      <m:t>&gt;0</m:t>
                    </m:r>
                    <m:r>
                      <a:rPr lang="en-US" sz="2000" i="1">
                        <a:latin typeface="Cambria Math" panose="02040503050406030204" pitchFamily="18" charset="0"/>
                      </a:rPr>
                      <m:t>,</m:t>
                    </m:r>
                    <m:func>
                      <m:funcPr>
                        <m:ctrlPr>
                          <a:rPr lang="en-US" sz="2000" i="1">
                            <a:latin typeface="Cambria Math" panose="02040503050406030204" pitchFamily="18" charset="0"/>
                          </a:rPr>
                        </m:ctrlPr>
                      </m:funcPr>
                      <m:fName>
                        <m:limLow>
                          <m:limLowPr>
                            <m:ctrlPr>
                              <a:rPr lang="en-US" sz="2000" i="1">
                                <a:latin typeface="Cambria Math" panose="02040503050406030204" pitchFamily="18" charset="0"/>
                              </a:rPr>
                            </m:ctrlPr>
                          </m:limLowPr>
                          <m:e>
                            <m:r>
                              <m:rPr>
                                <m:sty m:val="p"/>
                              </m:rPr>
                              <a:rPr lang="en-US" sz="2000">
                                <a:latin typeface="Cambria Math" panose="02040503050406030204" pitchFamily="18" charset="0"/>
                              </a:rPr>
                              <m:t>lim</m:t>
                            </m:r>
                          </m:e>
                          <m:lim>
                            <m:r>
                              <a:rPr lang="en-US" sz="2000" i="1">
                                <a:latin typeface="Cambria Math" panose="02040503050406030204" pitchFamily="18" charset="0"/>
                              </a:rPr>
                              <m:t>𝑛</m:t>
                            </m:r>
                            <m:r>
                              <a:rPr lang="en-US" sz="2000" i="1">
                                <a:latin typeface="Cambria Math" panose="02040503050406030204" pitchFamily="18" charset="0"/>
                              </a:rPr>
                              <m:t>→∞</m:t>
                            </m:r>
                          </m:lim>
                        </m:limLow>
                      </m:fName>
                      <m:e>
                        <m:r>
                          <a:rPr lang="en-US" sz="2000" i="1">
                            <a:latin typeface="Cambria Math" panose="02040503050406030204" pitchFamily="18" charset="0"/>
                          </a:rPr>
                          <m:t>𝑃</m:t>
                        </m:r>
                        <m:d>
                          <m:dPr>
                            <m:ctrlPr>
                              <a:rPr lang="en-US" sz="2000" i="1">
                                <a:latin typeface="Cambria Math" panose="02040503050406030204" pitchFamily="18" charset="0"/>
                              </a:rPr>
                            </m:ctrlPr>
                          </m:dPr>
                          <m:e>
                            <m:d>
                              <m:dPr>
                                <m:begChr m:val="|"/>
                                <m:endChr m:val="|"/>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𝑛</m:t>
                                    </m:r>
                                  </m:den>
                                </m:f>
                                <m:sSub>
                                  <m:sSubPr>
                                    <m:ctrlPr>
                                      <a:rPr lang="en-US" sz="2000" i="1">
                                        <a:latin typeface="Cambria Math" panose="02040503050406030204" pitchFamily="18" charset="0"/>
                                      </a:rPr>
                                    </m:ctrlPr>
                                  </m:sSubPr>
                                  <m:e>
                                    <m:r>
                                      <m:rPr>
                                        <m:sty m:val="p"/>
                                      </m:rPr>
                                      <a:rPr lang="en-US" sz="2000">
                                        <a:latin typeface="Cambria Math" panose="02040503050406030204" pitchFamily="18" charset="0"/>
                                      </a:rPr>
                                      <m:t>Σ</m:t>
                                    </m:r>
                                  </m:e>
                                  <m:sub>
                                    <m:r>
                                      <a:rPr lang="en-US" sz="2000" i="1">
                                        <a:latin typeface="Cambria Math" panose="02040503050406030204" pitchFamily="18" charset="0"/>
                                      </a:rPr>
                                      <m:t>𝑖</m:t>
                                    </m:r>
                                  </m:sub>
                                </m:sSub>
                                <m:r>
                                  <m:rPr>
                                    <m:sty m:val="p"/>
                                  </m:rPr>
                                  <a:rPr lang="en-US" sz="2000">
                                    <a:latin typeface="Cambria Math" panose="02040503050406030204" pitchFamily="18" charset="0"/>
                                  </a:rPr>
                                  <m:t>log</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𝑙</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𝜃</m:t>
                                                </m:r>
                                              </m:e>
                                            </m:acc>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num>
                                      <m:den>
                                        <m:r>
                                          <a:rPr lang="en-US" sz="2000" i="1">
                                            <a:latin typeface="Cambria Math" panose="02040503050406030204" pitchFamily="18" charset="0"/>
                                          </a:rPr>
                                          <m:t>𝑙</m:t>
                                        </m:r>
                                        <m:d>
                                          <m:dPr>
                                            <m:ctrlPr>
                                              <a:rPr lang="en-US" sz="2000" i="1">
                                                <a:latin typeface="Cambria Math" panose="02040503050406030204" pitchFamily="18" charset="0"/>
                                              </a:rPr>
                                            </m:ctrlPr>
                                          </m:dPr>
                                          <m:e>
                                            <m:r>
                                              <a:rPr lang="en-US" sz="2000" i="1">
                                                <a:latin typeface="Cambria Math" panose="02040503050406030204" pitchFamily="18" charset="0"/>
                                              </a:rPr>
                                              <m:t>𝜃</m:t>
                                            </m:r>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den>
                                    </m:f>
                                  </m:e>
                                </m:d>
                                <m:r>
                                  <a:rPr lang="en-US" sz="2000" i="1">
                                    <a:latin typeface="Cambria Math" panose="02040503050406030204" pitchFamily="18" charset="0"/>
                                  </a:rPr>
                                  <m:t>−</m:t>
                                </m:r>
                                <m:r>
                                  <m:rPr>
                                    <m:sty m:val="p"/>
                                  </m:rPr>
                                  <a:rPr lang="en-US" sz="2000">
                                    <a:latin typeface="Cambria Math" panose="02040503050406030204" pitchFamily="18" charset="0"/>
                                  </a:rPr>
                                  <m:t>E</m:t>
                                </m:r>
                                <m:d>
                                  <m:dPr>
                                    <m:begChr m:val="["/>
                                    <m:endChr m:val="]"/>
                                    <m:ctrlPr>
                                      <a:rPr lang="en-US" sz="2000" i="1">
                                        <a:latin typeface="Cambria Math" panose="02040503050406030204" pitchFamily="18" charset="0"/>
                                      </a:rPr>
                                    </m:ctrlPr>
                                  </m:dPr>
                                  <m:e>
                                    <m:r>
                                      <m:rPr>
                                        <m:sty m:val="p"/>
                                      </m:rPr>
                                      <a:rPr lang="en-US" sz="2000">
                                        <a:latin typeface="Cambria Math" panose="02040503050406030204" pitchFamily="18" charset="0"/>
                                      </a:rPr>
                                      <m:t>log</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𝑙</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𝜃</m:t>
                                                    </m:r>
                                                  </m:e>
                                                </m:acc>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num>
                                          <m:den>
                                            <m:r>
                                              <a:rPr lang="en-US" sz="2000" i="1">
                                                <a:latin typeface="Cambria Math" panose="02040503050406030204" pitchFamily="18" charset="0"/>
                                              </a:rPr>
                                              <m:t>𝑙</m:t>
                                            </m:r>
                                            <m:d>
                                              <m:dPr>
                                                <m:ctrlPr>
                                                  <a:rPr lang="en-US" sz="2000" i="1">
                                                    <a:latin typeface="Cambria Math" panose="02040503050406030204" pitchFamily="18" charset="0"/>
                                                  </a:rPr>
                                                </m:ctrlPr>
                                              </m:dPr>
                                              <m:e>
                                                <m:r>
                                                  <a:rPr lang="en-US" sz="2000" i="1">
                                                    <a:latin typeface="Cambria Math" panose="02040503050406030204" pitchFamily="18" charset="0"/>
                                                  </a:rPr>
                                                  <m:t>𝜃</m:t>
                                                </m:r>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den>
                                        </m:f>
                                      </m:e>
                                    </m:d>
                                  </m:e>
                                </m:d>
                              </m:e>
                            </m:d>
                            <m:r>
                              <a:rPr lang="en-US" sz="2000" i="1">
                                <a:latin typeface="Cambria Math" panose="02040503050406030204" pitchFamily="18" charset="0"/>
                              </a:rPr>
                              <m:t>&lt;</m:t>
                            </m:r>
                            <m:sSub>
                              <m:sSubPr>
                                <m:ctrlPr>
                                  <a:rPr lang="en-US" sz="2000" b="0" i="1" smtClean="0">
                                    <a:latin typeface="Cambria Math" panose="02040503050406030204" pitchFamily="18" charset="0"/>
                                  </a:rPr>
                                </m:ctrlPr>
                              </m:sSubPr>
                              <m:e>
                                <m:r>
                                  <a:rPr lang="en-US" sz="2000" i="1">
                                    <a:latin typeface="Cambria Math" panose="02040503050406030204" pitchFamily="18" charset="0"/>
                                  </a:rPr>
                                  <m:t>𝜖</m:t>
                                </m:r>
                              </m:e>
                              <m:sub>
                                <m:r>
                                  <a:rPr lang="en-US" sz="2000" b="0" i="1" smtClean="0">
                                    <a:latin typeface="Cambria Math" panose="02040503050406030204" pitchFamily="18" charset="0"/>
                                  </a:rPr>
                                  <m:t>0</m:t>
                                </m:r>
                              </m:sub>
                            </m:sSub>
                          </m:e>
                        </m:d>
                      </m:e>
                    </m:func>
                    <m:r>
                      <a:rPr lang="en-US" sz="2000">
                        <a:latin typeface="Cambria Math" panose="02040503050406030204" pitchFamily="18" charset="0"/>
                      </a:rPr>
                      <m:t>=1</m:t>
                    </m:r>
                  </m:oMath>
                </a14:m>
                <a:endParaRPr lang="en-US" sz="2000" dirty="0"/>
              </a:p>
              <a:p>
                <a14:m>
                  <m:oMath xmlns:m="http://schemas.openxmlformats.org/officeDocument/2006/math">
                    <m:func>
                      <m:funcPr>
                        <m:ctrlPr>
                          <a:rPr lang="en-US" sz="2000" i="1" smtClean="0">
                            <a:latin typeface="Cambria Math" panose="02040503050406030204" pitchFamily="18" charset="0"/>
                          </a:rPr>
                        </m:ctrlPr>
                      </m:funcPr>
                      <m:fName>
                        <m:limLow>
                          <m:limLowPr>
                            <m:ctrlPr>
                              <a:rPr lang="en-US" sz="2000" i="1">
                                <a:latin typeface="Cambria Math" panose="02040503050406030204" pitchFamily="18" charset="0"/>
                              </a:rPr>
                            </m:ctrlPr>
                          </m:limLowPr>
                          <m:e>
                            <m:r>
                              <m:rPr>
                                <m:sty m:val="p"/>
                              </m:rPr>
                              <a:rPr lang="en-US" sz="2000">
                                <a:latin typeface="Cambria Math" panose="02040503050406030204" pitchFamily="18" charset="0"/>
                              </a:rPr>
                              <m:t>lim</m:t>
                            </m:r>
                          </m:e>
                          <m:lim>
                            <m:r>
                              <a:rPr lang="en-US" sz="2000" i="1">
                                <a:latin typeface="Cambria Math" panose="02040503050406030204" pitchFamily="18" charset="0"/>
                              </a:rPr>
                              <m:t>𝑛</m:t>
                            </m:r>
                            <m:r>
                              <a:rPr lang="en-US" sz="2000" i="1">
                                <a:latin typeface="Cambria Math" panose="02040503050406030204" pitchFamily="18" charset="0"/>
                              </a:rPr>
                              <m:t>→∞</m:t>
                            </m:r>
                          </m:lim>
                        </m:limLow>
                      </m:fName>
                      <m:e>
                        <m:r>
                          <a:rPr lang="en-US" sz="2000" i="1">
                            <a:latin typeface="Cambria Math" panose="02040503050406030204" pitchFamily="18" charset="0"/>
                          </a:rPr>
                          <m:t>𝑃</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𝑛</m:t>
                                </m:r>
                              </m:den>
                            </m:f>
                            <m:sSub>
                              <m:sSubPr>
                                <m:ctrlPr>
                                  <a:rPr lang="en-US" sz="2000" i="1">
                                    <a:latin typeface="Cambria Math" panose="02040503050406030204" pitchFamily="18" charset="0"/>
                                  </a:rPr>
                                </m:ctrlPr>
                              </m:sSubPr>
                              <m:e>
                                <m:r>
                                  <m:rPr>
                                    <m:sty m:val="p"/>
                                  </m:rPr>
                                  <a:rPr lang="en-US" sz="2000">
                                    <a:latin typeface="Cambria Math" panose="02040503050406030204" pitchFamily="18" charset="0"/>
                                  </a:rPr>
                                  <m:t>Σ</m:t>
                                </m:r>
                              </m:e>
                              <m:sub>
                                <m:r>
                                  <a:rPr lang="en-US" sz="2000" i="1">
                                    <a:latin typeface="Cambria Math" panose="02040503050406030204" pitchFamily="18" charset="0"/>
                                  </a:rPr>
                                  <m:t>𝑖</m:t>
                                </m:r>
                              </m:sub>
                            </m:sSub>
                            <m:r>
                              <m:rPr>
                                <m:sty m:val="p"/>
                              </m:rPr>
                              <a:rPr lang="en-US" sz="2000">
                                <a:latin typeface="Cambria Math" panose="02040503050406030204" pitchFamily="18" charset="0"/>
                              </a:rPr>
                              <m:t>log</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𝑙</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𝜃</m:t>
                                            </m:r>
                                          </m:e>
                                        </m:acc>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num>
                                  <m:den>
                                    <m:r>
                                      <a:rPr lang="en-US" sz="2000" i="1">
                                        <a:latin typeface="Cambria Math" panose="02040503050406030204" pitchFamily="18" charset="0"/>
                                      </a:rPr>
                                      <m:t>𝑙</m:t>
                                    </m:r>
                                    <m:d>
                                      <m:dPr>
                                        <m:ctrlPr>
                                          <a:rPr lang="en-US" sz="2000" i="1">
                                            <a:latin typeface="Cambria Math" panose="02040503050406030204" pitchFamily="18" charset="0"/>
                                          </a:rPr>
                                        </m:ctrlPr>
                                      </m:dPr>
                                      <m:e>
                                        <m:r>
                                          <a:rPr lang="en-US" sz="2000" i="1">
                                            <a:latin typeface="Cambria Math" panose="02040503050406030204" pitchFamily="18" charset="0"/>
                                          </a:rPr>
                                          <m:t>𝜃</m:t>
                                        </m:r>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den>
                                </m:f>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&lt;</m:t>
                            </m:r>
                            <m:r>
                              <m:rPr>
                                <m:sty m:val="p"/>
                              </m:rPr>
                              <a:rPr lang="en-US" sz="2000">
                                <a:latin typeface="Cambria Math" panose="02040503050406030204" pitchFamily="18" charset="0"/>
                              </a:rPr>
                              <m:t>E</m:t>
                            </m:r>
                            <m:d>
                              <m:dPr>
                                <m:begChr m:val="["/>
                                <m:endChr m:val="]"/>
                                <m:ctrlPr>
                                  <a:rPr lang="en-US" sz="2000" i="1">
                                    <a:latin typeface="Cambria Math" panose="02040503050406030204" pitchFamily="18" charset="0"/>
                                  </a:rPr>
                                </m:ctrlPr>
                              </m:dPr>
                              <m:e>
                                <m:r>
                                  <m:rPr>
                                    <m:sty m:val="p"/>
                                  </m:rPr>
                                  <a:rPr lang="en-US" sz="2000">
                                    <a:latin typeface="Cambria Math" panose="02040503050406030204" pitchFamily="18" charset="0"/>
                                  </a:rPr>
                                  <m:t>log</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𝑙</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𝜃</m:t>
                                                </m:r>
                                              </m:e>
                                            </m:acc>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num>
                                      <m:den>
                                        <m:r>
                                          <a:rPr lang="en-US" sz="2000" i="1">
                                            <a:latin typeface="Cambria Math" panose="02040503050406030204" pitchFamily="18" charset="0"/>
                                          </a:rPr>
                                          <m:t>𝑙</m:t>
                                        </m:r>
                                        <m:d>
                                          <m:dPr>
                                            <m:ctrlPr>
                                              <a:rPr lang="en-US" sz="2000" i="1">
                                                <a:latin typeface="Cambria Math" panose="02040503050406030204" pitchFamily="18" charset="0"/>
                                              </a:rPr>
                                            </m:ctrlPr>
                                          </m:dPr>
                                          <m:e>
                                            <m:r>
                                              <a:rPr lang="en-US" sz="2000" i="1">
                                                <a:latin typeface="Cambria Math" panose="02040503050406030204" pitchFamily="18" charset="0"/>
                                              </a:rPr>
                                              <m:t>𝜃</m:t>
                                            </m:r>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den>
                                    </m:f>
                                  </m:e>
                                </m:d>
                              </m:e>
                            </m:d>
                            <m:r>
                              <a:rPr lang="en-US" sz="2000" b="0" i="1" smtClean="0">
                                <a:latin typeface="Cambria Math" panose="02040503050406030204" pitchFamily="18" charset="0"/>
                              </a:rPr>
                              <m:t>&lt;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𝑛</m:t>
                                </m:r>
                              </m:den>
                            </m:f>
                            <m:sSub>
                              <m:sSubPr>
                                <m:ctrlPr>
                                  <a:rPr lang="en-US" sz="2000" i="1">
                                    <a:latin typeface="Cambria Math" panose="02040503050406030204" pitchFamily="18" charset="0"/>
                                  </a:rPr>
                                </m:ctrlPr>
                              </m:sSubPr>
                              <m:e>
                                <m:r>
                                  <m:rPr>
                                    <m:sty m:val="p"/>
                                  </m:rPr>
                                  <a:rPr lang="en-US" sz="2000">
                                    <a:latin typeface="Cambria Math" panose="02040503050406030204" pitchFamily="18" charset="0"/>
                                  </a:rPr>
                                  <m:t>Σ</m:t>
                                </m:r>
                              </m:e>
                              <m:sub>
                                <m:r>
                                  <a:rPr lang="en-US" sz="2000" i="1">
                                    <a:latin typeface="Cambria Math" panose="02040503050406030204" pitchFamily="18" charset="0"/>
                                  </a:rPr>
                                  <m:t>𝑖</m:t>
                                </m:r>
                              </m:sub>
                            </m:sSub>
                            <m:r>
                              <m:rPr>
                                <m:sty m:val="p"/>
                              </m:rPr>
                              <a:rPr lang="en-US" sz="2000">
                                <a:latin typeface="Cambria Math" panose="02040503050406030204" pitchFamily="18" charset="0"/>
                              </a:rPr>
                              <m:t>log</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𝑙</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𝜃</m:t>
                                            </m:r>
                                          </m:e>
                                        </m:acc>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num>
                                  <m:den>
                                    <m:r>
                                      <a:rPr lang="en-US" sz="2000" i="1">
                                        <a:latin typeface="Cambria Math" panose="02040503050406030204" pitchFamily="18" charset="0"/>
                                      </a:rPr>
                                      <m:t>𝑙</m:t>
                                    </m:r>
                                    <m:d>
                                      <m:dPr>
                                        <m:ctrlPr>
                                          <a:rPr lang="en-US" sz="2000" i="1">
                                            <a:latin typeface="Cambria Math" panose="02040503050406030204" pitchFamily="18" charset="0"/>
                                          </a:rPr>
                                        </m:ctrlPr>
                                      </m:dPr>
                                      <m:e>
                                        <m:r>
                                          <a:rPr lang="en-US" sz="2000" i="1">
                                            <a:latin typeface="Cambria Math" panose="02040503050406030204" pitchFamily="18" charset="0"/>
                                          </a:rPr>
                                          <m:t>𝜃</m:t>
                                        </m:r>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den>
                                </m:f>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0</m:t>
                                </m:r>
                              </m:sub>
                            </m:sSub>
                          </m:e>
                        </m:d>
                      </m:e>
                    </m:func>
                    <m:r>
                      <a:rPr lang="en-US" sz="2000" b="0" i="1" smtClean="0">
                        <a:latin typeface="Cambria Math" panose="02040503050406030204" pitchFamily="18" charset="0"/>
                      </a:rPr>
                      <m:t>=1</m:t>
                    </m:r>
                  </m:oMath>
                </a14:m>
                <a:endParaRPr lang="en-US" sz="2000" dirty="0"/>
              </a:p>
              <a:p>
                <a:r>
                  <a:rPr lang="en-US" sz="2000" dirty="0"/>
                  <a:t>If P(rain and clouds)=100%, then P(rain)=100%</a:t>
                </a:r>
              </a:p>
              <a:p>
                <a14:m>
                  <m:oMath xmlns:m="http://schemas.openxmlformats.org/officeDocument/2006/math">
                    <m:func>
                      <m:funcPr>
                        <m:ctrlPr>
                          <a:rPr lang="en-US" sz="2000" i="1" smtClean="0">
                            <a:latin typeface="Cambria Math" panose="02040503050406030204" pitchFamily="18" charset="0"/>
                          </a:rPr>
                        </m:ctrlPr>
                      </m:funcPr>
                      <m:fName>
                        <m:limLow>
                          <m:limLowPr>
                            <m:ctrlPr>
                              <a:rPr lang="en-US" sz="2000" i="1">
                                <a:latin typeface="Cambria Math" panose="02040503050406030204" pitchFamily="18" charset="0"/>
                              </a:rPr>
                            </m:ctrlPr>
                          </m:limLowPr>
                          <m:e>
                            <m:r>
                              <m:rPr>
                                <m:sty m:val="p"/>
                              </m:rPr>
                              <a:rPr lang="en-US" sz="2000">
                                <a:latin typeface="Cambria Math" panose="02040503050406030204" pitchFamily="18" charset="0"/>
                              </a:rPr>
                              <m:t>lim</m:t>
                            </m:r>
                          </m:e>
                          <m:lim>
                            <m:r>
                              <a:rPr lang="en-US" sz="2000" i="1">
                                <a:latin typeface="Cambria Math" panose="02040503050406030204" pitchFamily="18" charset="0"/>
                              </a:rPr>
                              <m:t>𝑛</m:t>
                            </m:r>
                            <m:r>
                              <a:rPr lang="en-US" sz="2000" i="1">
                                <a:latin typeface="Cambria Math" panose="02040503050406030204" pitchFamily="18" charset="0"/>
                              </a:rPr>
                              <m:t>→∞</m:t>
                            </m:r>
                          </m:lim>
                        </m:limLow>
                      </m:fName>
                      <m:e>
                        <m:r>
                          <a:rPr lang="en-US" sz="2000" i="1">
                            <a:latin typeface="Cambria Math" panose="02040503050406030204" pitchFamily="18" charset="0"/>
                          </a:rPr>
                          <m:t>𝑃</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𝑛</m:t>
                                </m:r>
                              </m:den>
                            </m:f>
                            <m:sSub>
                              <m:sSubPr>
                                <m:ctrlPr>
                                  <a:rPr lang="en-US" sz="2000" i="1">
                                    <a:latin typeface="Cambria Math" panose="02040503050406030204" pitchFamily="18" charset="0"/>
                                  </a:rPr>
                                </m:ctrlPr>
                              </m:sSubPr>
                              <m:e>
                                <m:r>
                                  <m:rPr>
                                    <m:sty m:val="p"/>
                                  </m:rPr>
                                  <a:rPr lang="en-US" sz="2000">
                                    <a:latin typeface="Cambria Math" panose="02040503050406030204" pitchFamily="18" charset="0"/>
                                  </a:rPr>
                                  <m:t>Σ</m:t>
                                </m:r>
                              </m:e>
                              <m:sub>
                                <m:r>
                                  <a:rPr lang="en-US" sz="2000" i="1">
                                    <a:latin typeface="Cambria Math" panose="02040503050406030204" pitchFamily="18" charset="0"/>
                                  </a:rPr>
                                  <m:t>𝑖</m:t>
                                </m:r>
                              </m:sub>
                            </m:sSub>
                            <m:r>
                              <m:rPr>
                                <m:sty m:val="p"/>
                              </m:rPr>
                              <a:rPr lang="en-US" sz="2000">
                                <a:latin typeface="Cambria Math" panose="02040503050406030204" pitchFamily="18" charset="0"/>
                              </a:rPr>
                              <m:t>log</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𝑙</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𝜃</m:t>
                                            </m:r>
                                          </m:e>
                                        </m:acc>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num>
                                  <m:den>
                                    <m:r>
                                      <a:rPr lang="en-US" sz="2000" i="1">
                                        <a:latin typeface="Cambria Math" panose="02040503050406030204" pitchFamily="18" charset="0"/>
                                      </a:rPr>
                                      <m:t>𝑙</m:t>
                                    </m:r>
                                    <m:d>
                                      <m:dPr>
                                        <m:ctrlPr>
                                          <a:rPr lang="en-US" sz="2000" i="1">
                                            <a:latin typeface="Cambria Math" panose="02040503050406030204" pitchFamily="18" charset="0"/>
                                          </a:rPr>
                                        </m:ctrlPr>
                                      </m:dPr>
                                      <m:e>
                                        <m:r>
                                          <a:rPr lang="en-US" sz="2000" i="1">
                                            <a:latin typeface="Cambria Math" panose="02040503050406030204" pitchFamily="18" charset="0"/>
                                          </a:rPr>
                                          <m:t>𝜃</m:t>
                                        </m:r>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den>
                                </m:f>
                              </m:e>
                            </m:d>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i="1">
                                    <a:latin typeface="Cambria Math" panose="02040503050406030204" pitchFamily="18" charset="0"/>
                                  </a:rPr>
                                  <m:t>𝜖</m:t>
                                </m:r>
                              </m:e>
                              <m:sub>
                                <m:r>
                                  <a:rPr lang="en-US" sz="2000" b="0" i="1" smtClean="0">
                                    <a:latin typeface="Cambria Math" panose="02040503050406030204" pitchFamily="18" charset="0"/>
                                  </a:rPr>
                                  <m:t>0</m:t>
                                </m:r>
                              </m:sub>
                            </m:sSub>
                            <m:r>
                              <a:rPr lang="en-US" sz="2000" i="1">
                                <a:latin typeface="Cambria Math" panose="02040503050406030204" pitchFamily="18" charset="0"/>
                              </a:rPr>
                              <m:t>&lt;</m:t>
                            </m:r>
                            <m:r>
                              <m:rPr>
                                <m:sty m:val="p"/>
                              </m:rPr>
                              <a:rPr lang="en-US" sz="2000">
                                <a:latin typeface="Cambria Math" panose="02040503050406030204" pitchFamily="18" charset="0"/>
                              </a:rPr>
                              <m:t>E</m:t>
                            </m:r>
                            <m:d>
                              <m:dPr>
                                <m:begChr m:val="["/>
                                <m:endChr m:val="]"/>
                                <m:ctrlPr>
                                  <a:rPr lang="en-US" sz="2000" i="1">
                                    <a:latin typeface="Cambria Math" panose="02040503050406030204" pitchFamily="18" charset="0"/>
                                  </a:rPr>
                                </m:ctrlPr>
                              </m:dPr>
                              <m:e>
                                <m:r>
                                  <m:rPr>
                                    <m:sty m:val="p"/>
                                  </m:rPr>
                                  <a:rPr lang="en-US" sz="2000">
                                    <a:latin typeface="Cambria Math" panose="02040503050406030204" pitchFamily="18" charset="0"/>
                                  </a:rPr>
                                  <m:t>log</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𝑙</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𝜃</m:t>
                                                </m:r>
                                              </m:e>
                                            </m:acc>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num>
                                      <m:den>
                                        <m:r>
                                          <a:rPr lang="en-US" sz="2000" i="1">
                                            <a:latin typeface="Cambria Math" panose="02040503050406030204" pitchFamily="18" charset="0"/>
                                          </a:rPr>
                                          <m:t>𝑙</m:t>
                                        </m:r>
                                        <m:d>
                                          <m:dPr>
                                            <m:ctrlPr>
                                              <a:rPr lang="en-US" sz="2000" i="1">
                                                <a:latin typeface="Cambria Math" panose="02040503050406030204" pitchFamily="18" charset="0"/>
                                              </a:rPr>
                                            </m:ctrlPr>
                                          </m:dPr>
                                          <m:e>
                                            <m:r>
                                              <a:rPr lang="en-US" sz="2000" i="1">
                                                <a:latin typeface="Cambria Math" panose="02040503050406030204" pitchFamily="18" charset="0"/>
                                              </a:rPr>
                                              <m:t>𝜃</m:t>
                                            </m:r>
                                          </m:e>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𝑖</m:t>
                                                </m:r>
                                              </m:sub>
                                            </m:sSub>
                                          </m:e>
                                        </m:d>
                                      </m:den>
                                    </m:f>
                                  </m:e>
                                </m:d>
                              </m:e>
                            </m:d>
                          </m:e>
                        </m:d>
                      </m:e>
                    </m:func>
                    <m:r>
                      <a:rPr lang="en-US" sz="2000" b="0" i="1" smtClean="0">
                        <a:latin typeface="Cambria Math" panose="02040503050406030204" pitchFamily="18" charset="0"/>
                      </a:rPr>
                      <m:t>=1</m:t>
                    </m:r>
                  </m:oMath>
                </a14:m>
                <a:endParaRPr lang="en-US" sz="2000" dirty="0"/>
              </a:p>
              <a:p>
                <a:endParaRPr lang="en-US" dirty="0"/>
              </a:p>
              <a:p>
                <a:endParaRPr lang="en-US" dirty="0"/>
              </a:p>
              <a:p>
                <a:endParaRPr lang="en-US" dirty="0"/>
              </a:p>
              <a:p>
                <a:endParaRPr lang="en-US" dirty="0"/>
              </a:p>
              <a:p>
                <a:endParaRPr lang="en-US" dirty="0"/>
              </a:p>
              <a:p>
                <a:endParaRPr lang="en-US" dirty="0"/>
              </a:p>
              <a:p>
                <a:endParaRPr lang="en-US" b="0" dirty="0"/>
              </a:p>
              <a:p>
                <a:endParaRPr lang="en-US" b="0" dirty="0"/>
              </a:p>
              <a:p>
                <a:endParaRPr lang="en-US" dirty="0"/>
              </a:p>
              <a:p>
                <a:endParaRPr lang="en-US" dirty="0"/>
              </a:p>
              <a:p>
                <a:endParaRPr lang="en-US" dirty="0"/>
              </a:p>
              <a:p>
                <a:endParaRPr lang="en-US" dirty="0"/>
              </a:p>
              <a:p>
                <a:endParaRPr lang="en-US" dirty="0"/>
              </a:p>
              <a:p>
                <a:endParaRPr lang="en-US" dirty="0"/>
              </a:p>
              <a:p>
                <a:endParaRPr lang="en-US" dirty="0"/>
              </a:p>
              <a:p>
                <a:endParaRPr lang="en-US" b="0" dirty="0"/>
              </a:p>
              <a:p>
                <a:endParaRPr lang="en-US" dirty="0"/>
              </a:p>
            </p:txBody>
          </p:sp>
        </mc:Choice>
        <mc:Fallback xmlns="">
          <p:sp>
            <p:nvSpPr>
              <p:cNvPr id="3" name="Content Placeholder 2">
                <a:extLst>
                  <a:ext uri="{FF2B5EF4-FFF2-40B4-BE49-F238E27FC236}">
                    <a16:creationId xmlns:a16="http://schemas.microsoft.com/office/drawing/2014/main" id="{2D0AF019-80F4-1821-A372-B2B30E33480E}"/>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US">
                    <a:noFill/>
                  </a:rPr>
                  <a:t> </a:t>
                </a:r>
              </a:p>
            </p:txBody>
          </p:sp>
        </mc:Fallback>
      </mc:AlternateContent>
    </p:spTree>
    <p:extLst>
      <p:ext uri="{BB962C8B-B14F-4D97-AF65-F5344CB8AC3E}">
        <p14:creationId xmlns:p14="http://schemas.microsoft.com/office/powerpoint/2010/main" val="2430060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E54E-72F1-9240-183E-2DD16B5F5F28}"/>
              </a:ext>
            </a:extLst>
          </p:cNvPr>
          <p:cNvSpPr>
            <a:spLocks noGrp="1"/>
          </p:cNvSpPr>
          <p:nvPr>
            <p:ph type="title"/>
          </p:nvPr>
        </p:nvSpPr>
        <p:spPr/>
        <p:txBody>
          <a:bodyPr/>
          <a:lstStyle/>
          <a:p>
            <a:r>
              <a:rPr lang="en-US" dirty="0"/>
              <a:t>Maximum Likelihood Large Sample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0AF019-80F4-1821-A372-B2B30E33480E}"/>
                  </a:ext>
                </a:extLst>
              </p:cNvPr>
              <p:cNvSpPr>
                <a:spLocks noGrp="1"/>
              </p:cNvSpPr>
              <p:nvPr>
                <p:ph idx="1"/>
              </p:nvPr>
            </p:nvSpPr>
            <p:spPr/>
            <p:txBody>
              <a:bodyPr>
                <a:normAutofit fontScale="47500" lnSpcReduction="20000"/>
              </a:bodyPr>
              <a:lstStyle/>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0</m:t>
                        </m:r>
                      </m:sub>
                    </m:sSub>
                    <m:func>
                      <m:funcPr>
                        <m:ctrlPr>
                          <a:rPr lang="en-US"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𝑛</m:t>
                            </m:r>
                            <m:r>
                              <a:rPr lang="en-US" i="1">
                                <a:latin typeface="Cambria Math" panose="02040503050406030204" pitchFamily="18" charset="0"/>
                              </a:rPr>
                              <m:t>→∞</m:t>
                            </m:r>
                          </m:lim>
                        </m:limLow>
                      </m:fName>
                      <m:e>
                        <m:r>
                          <a:rPr lang="en-US" i="1">
                            <a:latin typeface="Cambria Math" panose="02040503050406030204" pitchFamily="18" charset="0"/>
                          </a:rPr>
                          <m:t>𝑃</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𝑖</m:t>
                                </m:r>
                              </m:sub>
                            </m:sSub>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𝜖</m:t>
                                </m:r>
                              </m:e>
                              <m:sub>
                                <m:r>
                                  <a:rPr lang="en-US" b="0" i="1" smtClean="0">
                                    <a:latin typeface="Cambria Math" panose="02040503050406030204" pitchFamily="18" charset="0"/>
                                  </a:rPr>
                                  <m:t>0</m:t>
                                </m:r>
                              </m:sub>
                            </m:sSub>
                            <m:r>
                              <a:rPr lang="en-US" i="1">
                                <a:latin typeface="Cambria Math" panose="02040503050406030204" pitchFamily="18" charset="0"/>
                              </a:rPr>
                              <m:t>&lt;</m:t>
                            </m:r>
                            <m:r>
                              <m:rPr>
                                <m:sty m:val="p"/>
                              </m:rPr>
                              <a:rPr lang="en-US">
                                <a:latin typeface="Cambria Math" panose="02040503050406030204" pitchFamily="18" charset="0"/>
                              </a:rPr>
                              <m:t>E</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e>
                            </m:d>
                          </m:e>
                        </m:d>
                      </m:e>
                    </m:func>
                    <m:r>
                      <a:rPr lang="en-US" b="0" i="1" smtClean="0">
                        <a:latin typeface="Cambria Math" panose="02040503050406030204" pitchFamily="18" charset="0"/>
                      </a:rPr>
                      <m:t>=1</m:t>
                    </m:r>
                  </m:oMath>
                </a14:m>
                <a:endParaRPr lang="en-US" b="0" dirty="0"/>
              </a:p>
              <a:p>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log</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smtClean="0">
                                            <a:latin typeface="Cambria Math" panose="02040503050406030204" pitchFamily="18" charset="0"/>
                                          </a:rPr>
                                          <m:t>𝜃</m:t>
                                        </m:r>
                                      </m:e>
                                    </m:acc>
                                  </m:e>
                                  <m:e>
                                    <m:r>
                                      <a:rPr lang="en-US" i="1">
                                        <a:latin typeface="Cambria Math" panose="02040503050406030204" pitchFamily="18" charset="0"/>
                                      </a:rPr>
                                      <m:t>𝑋</m:t>
                                    </m:r>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r>
                                      <a:rPr lang="en-US" i="1">
                                        <a:latin typeface="Cambria Math" panose="02040503050406030204" pitchFamily="18" charset="0"/>
                                      </a:rPr>
                                      <m:t>𝑋</m:t>
                                    </m:r>
                                  </m:e>
                                </m:d>
                              </m:den>
                            </m:f>
                          </m:e>
                        </m:d>
                      </m:e>
                    </m:d>
                    <m:r>
                      <a:rPr lang="en-US" b="0" i="1" smtClean="0">
                        <a:latin typeface="Cambria Math" panose="02040503050406030204" pitchFamily="18" charset="0"/>
                      </a:rPr>
                      <m:t>&lt;0</m:t>
                    </m:r>
                  </m:oMath>
                </a14:m>
                <a:r>
                  <a:rPr lang="en-US" dirty="0"/>
                  <a:t> means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1</m:t>
                        </m:r>
                      </m:sub>
                    </m:sSub>
                    <m:r>
                      <a:rPr lang="en-US" b="0" i="1" smtClean="0">
                        <a:latin typeface="Cambria Math" panose="02040503050406030204" pitchFamily="18" charset="0"/>
                      </a:rPr>
                      <m:t>&gt;0</m:t>
                    </m:r>
                  </m:oMath>
                </a14:m>
                <a:endParaRPr lang="en-US" b="0" i="1" dirty="0">
                  <a:latin typeface="Cambria Math" panose="02040503050406030204" pitchFamily="18" charset="0"/>
                </a:endParaRPr>
              </a:p>
              <a:p>
                <a14:m>
                  <m:oMath xmlns:m="http://schemas.openxmlformats.org/officeDocument/2006/math">
                    <m:r>
                      <m:rPr>
                        <m:sty m:val="p"/>
                      </m:rPr>
                      <a:rPr lang="en-US">
                        <a:latin typeface="Cambria Math" panose="02040503050406030204" pitchFamily="18" charset="0"/>
                      </a:rPr>
                      <m:t>E</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r>
                                      <a:rPr lang="en-US" i="1">
                                        <a:latin typeface="Cambria Math" panose="02040503050406030204" pitchFamily="18" charset="0"/>
                                      </a:rPr>
                                      <m:t>𝑋</m:t>
                                    </m:r>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r>
                                      <a:rPr lang="en-US" i="1">
                                        <a:latin typeface="Cambria Math" panose="02040503050406030204" pitchFamily="18" charset="0"/>
                                      </a:rPr>
                                      <m:t>𝑋</m:t>
                                    </m:r>
                                  </m:e>
                                </m:d>
                              </m:den>
                            </m:f>
                          </m:e>
                        </m:d>
                      </m:e>
                    </m:d>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1</m:t>
                        </m:r>
                      </m:sub>
                    </m:sSub>
                    <m:r>
                      <a:rPr lang="en-US" b="0" i="1" smtClean="0">
                        <a:latin typeface="Cambria Math" panose="02040503050406030204" pitchFamily="18" charset="0"/>
                      </a:rPr>
                      <m:t>=0</m:t>
                    </m:r>
                  </m:oMath>
                </a14:m>
                <a:endParaRPr lang="en-US" b="0" dirty="0"/>
              </a:p>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0</m:t>
                        </m:r>
                      </m:sub>
                    </m:sSub>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1</m:t>
                        </m:r>
                      </m:sub>
                    </m:sSub>
                    <m:r>
                      <a:rPr lang="en-US" b="0" i="0" smtClean="0">
                        <a:latin typeface="Cambria Math" panose="02040503050406030204" pitchFamily="18" charset="0"/>
                      </a:rPr>
                      <m:t>→ </m:t>
                    </m:r>
                  </m:oMath>
                </a14:m>
                <a:endParaRPr lang="en-US" b="0" i="0" dirty="0">
                  <a:latin typeface="Cambria Math" panose="02040503050406030204" pitchFamily="18" charset="0"/>
                </a:endParaRPr>
              </a:p>
              <a:p>
                <a14:m>
                  <m:oMath xmlns:m="http://schemas.openxmlformats.org/officeDocument/2006/math">
                    <m:func>
                      <m:funcPr>
                        <m:ctrlPr>
                          <a:rPr lang="en-US"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𝑛</m:t>
                            </m:r>
                            <m:r>
                              <a:rPr lang="en-US" i="1">
                                <a:latin typeface="Cambria Math" panose="02040503050406030204" pitchFamily="18" charset="0"/>
                              </a:rPr>
                              <m:t>→∞</m:t>
                            </m:r>
                          </m:lim>
                        </m:limLow>
                      </m:fName>
                      <m:e>
                        <m:r>
                          <a:rPr lang="en-US" i="1">
                            <a:latin typeface="Cambria Math" panose="02040503050406030204" pitchFamily="18" charset="0"/>
                          </a:rPr>
                          <m:t>𝑃</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𝑖</m:t>
                                </m:r>
                              </m:sub>
                            </m:sSub>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0</m:t>
                                </m:r>
                              </m:sub>
                            </m:sSub>
                            <m:r>
                              <a:rPr lang="en-US" i="1">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𝜖</m:t>
                                </m:r>
                              </m:e>
                              <m:sub>
                                <m:r>
                                  <a:rPr lang="en-US" b="0" i="1" smtClean="0">
                                    <a:latin typeface="Cambria Math" panose="02040503050406030204" pitchFamily="18" charset="0"/>
                                  </a:rPr>
                                  <m:t>1</m:t>
                                </m:r>
                              </m:sub>
                            </m:sSub>
                          </m:e>
                        </m:d>
                        <m:r>
                          <a:rPr lang="en-US" b="0" i="1" smtClean="0">
                            <a:latin typeface="Cambria Math" panose="02040503050406030204" pitchFamily="18" charset="0"/>
                          </a:rPr>
                          <m:t>=1</m:t>
                        </m:r>
                      </m:e>
                    </m:func>
                  </m:oMath>
                </a14:m>
                <a:endParaRPr lang="en-US" b="0" dirty="0"/>
              </a:p>
              <a:p>
                <a14:m>
                  <m:oMath xmlns:m="http://schemas.openxmlformats.org/officeDocument/2006/math">
                    <m:func>
                      <m:funcPr>
                        <m:ctrlPr>
                          <a:rPr lang="en-US"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𝑛</m:t>
                            </m:r>
                            <m:r>
                              <a:rPr lang="en-US" i="1">
                                <a:latin typeface="Cambria Math" panose="02040503050406030204" pitchFamily="18" charset="0"/>
                              </a:rPr>
                              <m:t>→∞</m:t>
                            </m:r>
                          </m:lim>
                        </m:limLow>
                      </m:fName>
                      <m:e>
                        <m:r>
                          <a:rPr lang="en-US" i="1">
                            <a:latin typeface="Cambria Math" panose="02040503050406030204" pitchFamily="18" charset="0"/>
                          </a:rPr>
                          <m:t>𝑃</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𝑖</m:t>
                                </m:r>
                              </m:sub>
                            </m:sSub>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r>
                              <a:rPr lang="en-US" i="1">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𝜖</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0</m:t>
                                </m:r>
                              </m:sub>
                            </m:sSub>
                            <m:r>
                              <a:rPr lang="en-US" b="0" i="1" smtClean="0">
                                <a:latin typeface="Cambria Math" panose="02040503050406030204" pitchFamily="18" charset="0"/>
                              </a:rPr>
                              <m:t> </m:t>
                            </m:r>
                          </m:e>
                        </m:d>
                      </m:e>
                    </m:func>
                    <m:r>
                      <a:rPr lang="en-US" b="0" i="1" smtClean="0">
                        <a:latin typeface="Cambria Math" panose="02040503050406030204" pitchFamily="18" charset="0"/>
                      </a:rPr>
                      <m:t>=1</m:t>
                    </m:r>
                  </m:oMath>
                </a14:m>
                <a:endParaRPr lang="en-US" b="0" dirty="0"/>
              </a:p>
              <a:p>
                <a14:m>
                  <m:oMath xmlns:m="http://schemas.openxmlformats.org/officeDocument/2006/math">
                    <m:func>
                      <m:funcPr>
                        <m:ctrlPr>
                          <a:rPr lang="en-US"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𝑛</m:t>
                            </m:r>
                            <m:r>
                              <a:rPr lang="en-US" i="1">
                                <a:latin typeface="Cambria Math" panose="02040503050406030204" pitchFamily="18" charset="0"/>
                              </a:rPr>
                              <m:t>→∞</m:t>
                            </m:r>
                          </m:lim>
                        </m:limLow>
                      </m:fName>
                      <m:e>
                        <m:r>
                          <a:rPr lang="en-US" i="1">
                            <a:latin typeface="Cambria Math" panose="02040503050406030204" pitchFamily="18" charset="0"/>
                          </a:rPr>
                          <m:t>𝑃</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𝑖</m:t>
                                </m:r>
                              </m:sub>
                            </m:sSub>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r>
                              <a:rPr lang="en-US" i="1">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2</m:t>
                                </m:r>
                              </m:sub>
                            </m:sSub>
                          </m:e>
                        </m:d>
                        <m:r>
                          <a:rPr lang="en-US" b="0" i="1" smtClean="0">
                            <a:latin typeface="Cambria Math" panose="02040503050406030204" pitchFamily="18" charset="0"/>
                          </a:rPr>
                          <m:t>=1</m:t>
                        </m:r>
                      </m:e>
                    </m:func>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2</m:t>
                        </m:r>
                      </m:sub>
                    </m:sSub>
                    <m:r>
                      <a:rPr lang="en-US" b="0" i="1" smtClean="0">
                        <a:latin typeface="Cambria Math" panose="02040503050406030204" pitchFamily="18" charset="0"/>
                      </a:rPr>
                      <m:t>&lt;0</m:t>
                    </m:r>
                  </m:oMath>
                </a14:m>
                <a:endParaRPr lang="en-US" b="0" dirty="0"/>
              </a:p>
              <a:p>
                <a:r>
                  <a:rPr lang="en-US" dirty="0"/>
                  <a:t>Again, i</a:t>
                </a:r>
                <a:r>
                  <a:rPr lang="en-US" sz="2800" dirty="0"/>
                  <a:t>f P(rain and clouds)=100%, then P(rain)=100%</a:t>
                </a:r>
                <a:endParaRPr lang="en-US" b="0" dirty="0"/>
              </a:p>
              <a:p>
                <a14:m>
                  <m:oMath xmlns:m="http://schemas.openxmlformats.org/officeDocument/2006/math">
                    <m:func>
                      <m:funcPr>
                        <m:ctrlPr>
                          <a:rPr lang="en-US"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𝑛</m:t>
                            </m:r>
                            <m:r>
                              <a:rPr lang="en-US" i="1">
                                <a:latin typeface="Cambria Math" panose="02040503050406030204" pitchFamily="18" charset="0"/>
                              </a:rPr>
                              <m:t>→∞</m:t>
                            </m:r>
                          </m:lim>
                        </m:limLow>
                      </m:fName>
                      <m:e>
                        <m:r>
                          <a:rPr lang="en-US" i="1">
                            <a:latin typeface="Cambria Math" panose="02040503050406030204" pitchFamily="18" charset="0"/>
                          </a:rPr>
                          <m:t>𝑃</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𝑖</m:t>
                                </m:r>
                              </m:sub>
                            </m:sSub>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r>
                              <a:rPr lang="en-US" i="1">
                                <a:latin typeface="Cambria Math" panose="02040503050406030204" pitchFamily="18" charset="0"/>
                              </a:rPr>
                              <m:t>&lt;</m:t>
                            </m:r>
                            <m:r>
                              <a:rPr lang="en-US" b="0" i="1" smtClean="0">
                                <a:latin typeface="Cambria Math" panose="02040503050406030204" pitchFamily="18" charset="0"/>
                              </a:rPr>
                              <m:t>0</m:t>
                            </m:r>
                          </m:e>
                        </m:d>
                      </m:e>
                    </m:func>
                    <m:r>
                      <a:rPr lang="en-US" b="0" i="1" smtClean="0">
                        <a:latin typeface="Cambria Math" panose="02040503050406030204" pitchFamily="18" charset="0"/>
                      </a:rPr>
                      <m:t>=1</m:t>
                    </m:r>
                  </m:oMath>
                </a14:m>
                <a:endParaRPr lang="en-US" b="0" dirty="0"/>
              </a:p>
              <a:p>
                <a:endParaRPr lang="en-US" b="0" dirty="0"/>
              </a:p>
              <a:p>
                <a:endParaRPr lang="en-US" b="0"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b="0" dirty="0"/>
              </a:p>
              <a:p>
                <a:endParaRPr lang="en-US" b="0" dirty="0"/>
              </a:p>
              <a:p>
                <a:endParaRPr lang="en-US" dirty="0"/>
              </a:p>
              <a:p>
                <a:endParaRPr lang="en-US" dirty="0"/>
              </a:p>
              <a:p>
                <a:endParaRPr lang="en-US" dirty="0"/>
              </a:p>
              <a:p>
                <a:endParaRPr lang="en-US" dirty="0"/>
              </a:p>
              <a:p>
                <a:endParaRPr lang="en-US" dirty="0"/>
              </a:p>
              <a:p>
                <a:endParaRPr lang="en-US" dirty="0"/>
              </a:p>
              <a:p>
                <a:endParaRPr lang="en-US" dirty="0"/>
              </a:p>
              <a:p>
                <a:endParaRPr lang="en-US" b="0" dirty="0"/>
              </a:p>
              <a:p>
                <a:endParaRPr lang="en-US" dirty="0"/>
              </a:p>
            </p:txBody>
          </p:sp>
        </mc:Choice>
        <mc:Fallback xmlns="">
          <p:sp>
            <p:nvSpPr>
              <p:cNvPr id="3" name="Content Placeholder 2">
                <a:extLst>
                  <a:ext uri="{FF2B5EF4-FFF2-40B4-BE49-F238E27FC236}">
                    <a16:creationId xmlns:a16="http://schemas.microsoft.com/office/drawing/2014/main" id="{2D0AF019-80F4-1821-A372-B2B30E33480E}"/>
                  </a:ext>
                </a:extLst>
              </p:cNvPr>
              <p:cNvSpPr>
                <a:spLocks noGrp="1" noRot="1" noChangeAspect="1" noMove="1" noResize="1" noEditPoints="1" noAdjustHandles="1" noChangeArrowheads="1" noChangeShapeType="1" noTextEdit="1"/>
              </p:cNvSpPr>
              <p:nvPr>
                <p:ph idx="1"/>
              </p:nvPr>
            </p:nvSpPr>
            <p:spPr>
              <a:blipFill>
                <a:blip r:embed="rId2"/>
                <a:stretch>
                  <a:fillRect l="-58" t="-700"/>
                </a:stretch>
              </a:blipFill>
            </p:spPr>
            <p:txBody>
              <a:bodyPr/>
              <a:lstStyle/>
              <a:p>
                <a:r>
                  <a:rPr lang="en-US">
                    <a:noFill/>
                  </a:rPr>
                  <a:t> </a:t>
                </a:r>
              </a:p>
            </p:txBody>
          </p:sp>
        </mc:Fallback>
      </mc:AlternateContent>
    </p:spTree>
    <p:extLst>
      <p:ext uri="{BB962C8B-B14F-4D97-AF65-F5344CB8AC3E}">
        <p14:creationId xmlns:p14="http://schemas.microsoft.com/office/powerpoint/2010/main" val="3152146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E54E-72F1-9240-183E-2DD16B5F5F28}"/>
              </a:ext>
            </a:extLst>
          </p:cNvPr>
          <p:cNvSpPr>
            <a:spLocks noGrp="1"/>
          </p:cNvSpPr>
          <p:nvPr>
            <p:ph type="title"/>
          </p:nvPr>
        </p:nvSpPr>
        <p:spPr/>
        <p:txBody>
          <a:bodyPr/>
          <a:lstStyle/>
          <a:p>
            <a:r>
              <a:rPr lang="en-US" dirty="0"/>
              <a:t>Maximum Likelihood Large Sample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0AF019-80F4-1821-A372-B2B30E33480E}"/>
                  </a:ext>
                </a:extLst>
              </p:cNvPr>
              <p:cNvSpPr>
                <a:spLocks noGrp="1"/>
              </p:cNvSpPr>
              <p:nvPr>
                <p:ph idx="1"/>
              </p:nvPr>
            </p:nvSpPr>
            <p:spPr/>
            <p:txBody>
              <a:bodyPr>
                <a:normAutofit fontScale="55000" lnSpcReduction="20000"/>
              </a:bodyPr>
              <a:lstStyle/>
              <a:p>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𝑖</m:t>
                                </m:r>
                              </m:sub>
                            </m:sSub>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r>
                              <a:rPr lang="en-US" b="0" i="1" smtClean="0">
                                <a:latin typeface="Cambria Math" panose="02040503050406030204" pitchFamily="18" charset="0"/>
                              </a:rPr>
                              <m:t>&lt;0</m:t>
                            </m:r>
                          </m:e>
                        </m:d>
                      </m:e>
                    </m:func>
                    <m:r>
                      <a:rPr lang="en-US" b="0" i="0" smtClean="0">
                        <a:latin typeface="Cambria Math" panose="02040503050406030204" pitchFamily="18" charset="0"/>
                      </a:rPr>
                      <m:t>=1</m:t>
                    </m:r>
                  </m:oMath>
                </a14:m>
                <a:endParaRPr lang="en-US" b="0" dirty="0"/>
              </a:p>
              <a:p>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𝑖</m:t>
                                </m:r>
                              </m:sub>
                            </m:sSub>
                            <m:r>
                              <m:rPr>
                                <m:sty m:val="p"/>
                              </m:rPr>
                              <a:rPr lang="en-US">
                                <a:latin typeface="Cambria Math" panose="02040503050406030204" pitchFamily="18" charset="0"/>
                              </a:rPr>
                              <m:t>log</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r>
                              <a:rPr lang="en-US" i="1">
                                <a:latin typeface="Cambria Math" panose="02040503050406030204" pitchFamily="18" charset="0"/>
                              </a:rPr>
                              <m:t>&lt;0</m:t>
                            </m:r>
                          </m:e>
                        </m:d>
                      </m:e>
                    </m:func>
                    <m:r>
                      <a:rPr lang="en-US" b="0" i="0" smtClean="0">
                        <a:latin typeface="Cambria Math" panose="02040503050406030204" pitchFamily="18" charset="0"/>
                      </a:rPr>
                      <m:t>=1</m:t>
                    </m:r>
                  </m:oMath>
                </a14:m>
                <a:endParaRPr lang="en-US" b="0" dirty="0"/>
              </a:p>
              <a:p>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Π</m:t>
                                        </m:r>
                                      </m:e>
                                      <m:sub>
                                        <m:r>
                                          <a:rPr lang="en-US" b="0" i="1" smtClean="0">
                                            <a:latin typeface="Cambria Math" panose="02040503050406030204" pitchFamily="18" charset="0"/>
                                          </a:rPr>
                                          <m:t>𝑖</m:t>
                                        </m:r>
                                      </m:sub>
                                    </m:sSub>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e>
                                </m:d>
                              </m:e>
                            </m:func>
                            <m:r>
                              <a:rPr lang="en-US" i="1">
                                <a:latin typeface="Cambria Math" panose="02040503050406030204" pitchFamily="18" charset="0"/>
                              </a:rPr>
                              <m:t>&lt;0</m:t>
                            </m:r>
                          </m:e>
                        </m:d>
                      </m:e>
                    </m:func>
                    <m:r>
                      <a:rPr lang="en-US" b="0" i="0" smtClean="0">
                        <a:latin typeface="Cambria Math" panose="02040503050406030204" pitchFamily="18" charset="0"/>
                      </a:rPr>
                      <m:t>=1</m:t>
                    </m:r>
                  </m:oMath>
                </a14:m>
                <a:endParaRPr lang="en-US" b="0" dirty="0"/>
              </a:p>
              <a:p>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Π</m:t>
                                </m:r>
                              </m:e>
                              <m:sub>
                                <m:r>
                                  <a:rPr lang="en-US" i="1">
                                    <a:latin typeface="Cambria Math" panose="02040503050406030204" pitchFamily="18" charset="0"/>
                                  </a:rPr>
                                  <m:t>𝑖</m:t>
                                </m:r>
                              </m:sub>
                            </m:sSub>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e>
                            </m:d>
                            <m:r>
                              <a:rPr lang="en-US" i="1">
                                <a:latin typeface="Cambria Math" panose="02040503050406030204" pitchFamily="18" charset="0"/>
                              </a:rPr>
                              <m:t>&lt;</m:t>
                            </m:r>
                            <m:r>
                              <a:rPr lang="en-US" b="0" i="1" smtClean="0">
                                <a:latin typeface="Cambria Math" panose="02040503050406030204" pitchFamily="18" charset="0"/>
                              </a:rPr>
                              <m:t>1</m:t>
                            </m:r>
                          </m:e>
                        </m:d>
                      </m:e>
                    </m:func>
                    <m:r>
                      <a:rPr lang="en-US" b="0" i="0" smtClean="0">
                        <a:latin typeface="Cambria Math" panose="02040503050406030204" pitchFamily="18" charset="0"/>
                      </a:rPr>
                      <m:t>=1</m:t>
                    </m:r>
                  </m:oMath>
                </a14:m>
                <a:endParaRPr lang="en-US" b="0" dirty="0"/>
              </a:p>
              <a:p>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Π</m:t>
                                    </m:r>
                                  </m:e>
                                  <m:sub>
                                    <m:r>
                                      <a:rPr lang="en-US" i="1">
                                        <a:latin typeface="Cambria Math" panose="02040503050406030204" pitchFamily="18" charset="0"/>
                                      </a:rPr>
                                      <m:t>𝑖</m:t>
                                    </m:r>
                                  </m:sub>
                                </m:sSub>
                                <m:r>
                                  <a:rPr lang="en-US" b="0" i="1" smtClean="0">
                                    <a:latin typeface="Cambria Math" panose="02040503050406030204" pitchFamily="18" charset="0"/>
                                  </a:rPr>
                                  <m:t> </m:t>
                                </m:r>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num>
                              <m:den>
                                <m:sSub>
                                  <m:sSubPr>
                                    <m:ctrlPr>
                                      <a:rPr lang="en-US" i="1">
                                        <a:latin typeface="Cambria Math" panose="02040503050406030204" pitchFamily="18" charset="0"/>
                                      </a:rPr>
                                    </m:ctrlPr>
                                  </m:sSubPr>
                                  <m:e>
                                    <m:r>
                                      <m:rPr>
                                        <m:sty m:val="p"/>
                                      </m:rPr>
                                      <a:rPr lang="en-US">
                                        <a:latin typeface="Cambria Math" panose="02040503050406030204" pitchFamily="18" charset="0"/>
                                      </a:rPr>
                                      <m:t>Π</m:t>
                                    </m:r>
                                  </m:e>
                                  <m:sub>
                                    <m:r>
                                      <a:rPr lang="en-US" i="1">
                                        <a:latin typeface="Cambria Math" panose="02040503050406030204" pitchFamily="18" charset="0"/>
                                      </a:rPr>
                                      <m:t>𝑖</m:t>
                                    </m:r>
                                  </m:sub>
                                </m:sSub>
                                <m:r>
                                  <a:rPr lang="en-US" b="0" i="1" smtClean="0">
                                    <a:latin typeface="Cambria Math" panose="02040503050406030204" pitchFamily="18" charset="0"/>
                                  </a:rPr>
                                  <m:t> </m:t>
                                </m:r>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den>
                            </m:f>
                            <m:r>
                              <a:rPr lang="en-US" b="0" i="1" smtClean="0">
                                <a:latin typeface="Cambria Math" panose="02040503050406030204" pitchFamily="18" charset="0"/>
                              </a:rPr>
                              <m:t>&lt;1</m:t>
                            </m:r>
                          </m:e>
                        </m:d>
                      </m:e>
                    </m:func>
                    <m:r>
                      <a:rPr lang="en-US" b="0" i="0" smtClean="0">
                        <a:latin typeface="Cambria Math" panose="02040503050406030204" pitchFamily="18" charset="0"/>
                      </a:rPr>
                      <m:t>=1</m:t>
                    </m:r>
                  </m:oMath>
                </a14:m>
                <a:endParaRPr lang="en-US" b="0" dirty="0"/>
              </a:p>
              <a:p>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Π</m:t>
                                </m:r>
                              </m:e>
                              <m:sub>
                                <m:r>
                                  <a:rPr lang="en-US" i="1">
                                    <a:latin typeface="Cambria Math" panose="02040503050406030204" pitchFamily="18" charset="0"/>
                                  </a:rPr>
                                  <m:t>𝑖</m:t>
                                </m:r>
                              </m:sub>
                            </m:sSub>
                            <m:r>
                              <a:rPr lang="en-US" i="1">
                                <a:latin typeface="Cambria Math" panose="02040503050406030204" pitchFamily="18" charset="0"/>
                              </a:rPr>
                              <m:t> </m:t>
                            </m:r>
                            <m:r>
                              <a:rPr lang="en-US" i="1">
                                <a:latin typeface="Cambria Math" panose="02040503050406030204" pitchFamily="18" charset="0"/>
                              </a:rPr>
                              <m:t>𝑙</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r>
                              <a:rPr lang="en-US" b="0" i="1" smtClean="0">
                                <a:latin typeface="Cambria Math" panose="02040503050406030204" pitchFamily="18" charset="0"/>
                              </a:rPr>
                              <m:t>&gt;</m:t>
                            </m:r>
                            <m:sSub>
                              <m:sSubPr>
                                <m:ctrlPr>
                                  <a:rPr lang="en-US" i="1">
                                    <a:latin typeface="Cambria Math" panose="02040503050406030204" pitchFamily="18" charset="0"/>
                                  </a:rPr>
                                </m:ctrlPr>
                              </m:sSubPr>
                              <m:e>
                                <m:r>
                                  <m:rPr>
                                    <m:sty m:val="p"/>
                                  </m:rPr>
                                  <a:rPr lang="en-US">
                                    <a:latin typeface="Cambria Math" panose="02040503050406030204" pitchFamily="18" charset="0"/>
                                  </a:rPr>
                                  <m:t>Π</m:t>
                                </m:r>
                              </m:e>
                              <m:sub>
                                <m:r>
                                  <a:rPr lang="en-US" i="1">
                                    <a:latin typeface="Cambria Math" panose="02040503050406030204" pitchFamily="18" charset="0"/>
                                  </a:rPr>
                                  <m:t>𝑖</m:t>
                                </m:r>
                              </m:sub>
                            </m:sSub>
                            <m:r>
                              <a:rPr lang="en-US" i="1">
                                <a:latin typeface="Cambria Math" panose="02040503050406030204" pitchFamily="18" charset="0"/>
                              </a:rPr>
                              <m:t> </m:t>
                            </m:r>
                            <m:r>
                              <a:rPr lang="en-US" i="1">
                                <a:latin typeface="Cambria Math" panose="02040503050406030204" pitchFamily="18" charset="0"/>
                              </a:rPr>
                              <m:t>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e>
                        </m:d>
                      </m:e>
                    </m:func>
                    <m:r>
                      <a:rPr lang="en-US" b="0" i="0" smtClean="0">
                        <a:latin typeface="Cambria Math" panose="02040503050406030204" pitchFamily="18" charset="0"/>
                      </a:rPr>
                      <m:t>=1</m:t>
                    </m:r>
                  </m:oMath>
                </a14:m>
                <a:endParaRPr lang="en-US" b="0" dirty="0"/>
              </a:p>
              <a:p>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𝐿</m:t>
                            </m:r>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𝑚</m:t>
                                    </m:r>
                                  </m:sub>
                                </m:sSub>
                              </m:e>
                            </m:d>
                            <m:r>
                              <a:rPr lang="en-US" b="0" i="1" smtClean="0">
                                <a:latin typeface="Cambria Math" panose="02040503050406030204" pitchFamily="18" charset="0"/>
                              </a:rPr>
                              <m:t>&gt;</m:t>
                            </m:r>
                            <m:r>
                              <a:rPr lang="en-US" b="0" i="1" smtClean="0">
                                <a:latin typeface="Cambria Math" panose="02040503050406030204" pitchFamily="18" charset="0"/>
                              </a:rPr>
                              <m:t>𝐿</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sub>
                                </m:sSub>
                              </m:e>
                            </m:d>
                          </m:e>
                        </m:d>
                      </m:e>
                    </m:func>
                    <m:r>
                      <a:rPr lang="en-US" b="0" i="0" smtClean="0">
                        <a:latin typeface="Cambria Math" panose="02040503050406030204" pitchFamily="18" charset="0"/>
                      </a:rPr>
                      <m:t>=1</m:t>
                    </m:r>
                  </m:oMath>
                </a14:m>
                <a:endParaRPr lang="en-US" b="0" dirty="0"/>
              </a:p>
              <a:p>
                <a:endParaRPr lang="en-US" b="0" dirty="0"/>
              </a:p>
              <a:p>
                <a:endParaRPr lang="en-US" b="0" dirty="0"/>
              </a:p>
              <a:p>
                <a:endParaRPr lang="en-US" b="0" dirty="0"/>
              </a:p>
              <a:p>
                <a:endParaRPr lang="en-US" b="0" dirty="0"/>
              </a:p>
              <a:p>
                <a:endParaRPr lang="en-US" b="0" dirty="0"/>
              </a:p>
              <a:p>
                <a:endParaRPr lang="en-US" b="0" dirty="0"/>
              </a:p>
              <a:p>
                <a:endParaRPr lang="en-US" b="0" dirty="0"/>
              </a:p>
              <a:p>
                <a:endParaRPr lang="en-US" dirty="0"/>
              </a:p>
              <a:p>
                <a:endParaRPr lang="en-US" dirty="0"/>
              </a:p>
              <a:p>
                <a:endParaRPr lang="en-US" dirty="0"/>
              </a:p>
              <a:p>
                <a:endParaRPr lang="en-US" dirty="0"/>
              </a:p>
              <a:p>
                <a:endParaRPr lang="en-US" dirty="0"/>
              </a:p>
              <a:p>
                <a:endParaRPr lang="en-US" dirty="0"/>
              </a:p>
              <a:p>
                <a:endParaRPr lang="en-US" b="0" dirty="0"/>
              </a:p>
              <a:p>
                <a:endParaRPr lang="en-US" dirty="0"/>
              </a:p>
            </p:txBody>
          </p:sp>
        </mc:Choice>
        <mc:Fallback xmlns="">
          <p:sp>
            <p:nvSpPr>
              <p:cNvPr id="3" name="Content Placeholder 2">
                <a:extLst>
                  <a:ext uri="{FF2B5EF4-FFF2-40B4-BE49-F238E27FC236}">
                    <a16:creationId xmlns:a16="http://schemas.microsoft.com/office/drawing/2014/main" id="{2D0AF019-80F4-1821-A372-B2B30E33480E}"/>
                  </a:ext>
                </a:extLst>
              </p:cNvPr>
              <p:cNvSpPr>
                <a:spLocks noGrp="1" noRot="1" noChangeAspect="1" noMove="1" noResize="1" noEditPoints="1" noAdjustHandles="1" noChangeArrowheads="1" noChangeShapeType="1" noTextEdit="1"/>
              </p:cNvSpPr>
              <p:nvPr>
                <p:ph idx="1"/>
              </p:nvPr>
            </p:nvSpPr>
            <p:spPr>
              <a:blipFill>
                <a:blip r:embed="rId2"/>
                <a:stretch>
                  <a:fillRect l="-174"/>
                </a:stretch>
              </a:blipFill>
            </p:spPr>
            <p:txBody>
              <a:bodyPr/>
              <a:lstStyle/>
              <a:p>
                <a:r>
                  <a:rPr lang="en-US">
                    <a:noFill/>
                  </a:rPr>
                  <a:t> </a:t>
                </a:r>
              </a:p>
            </p:txBody>
          </p:sp>
        </mc:Fallback>
      </mc:AlternateContent>
    </p:spTree>
    <p:extLst>
      <p:ext uri="{BB962C8B-B14F-4D97-AF65-F5344CB8AC3E}">
        <p14:creationId xmlns:p14="http://schemas.microsoft.com/office/powerpoint/2010/main" val="1831622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DE8C9-B61E-FD1E-98E3-DFB2C7B12EAF}"/>
              </a:ext>
            </a:extLst>
          </p:cNvPr>
          <p:cNvSpPr>
            <a:spLocks noGrp="1"/>
          </p:cNvSpPr>
          <p:nvPr>
            <p:ph type="title"/>
          </p:nvPr>
        </p:nvSpPr>
        <p:spPr/>
        <p:txBody>
          <a:bodyPr/>
          <a:lstStyle/>
          <a:p>
            <a:r>
              <a:rPr lang="en-US" dirty="0"/>
              <a:t>Maximum Likelihood</a:t>
            </a:r>
          </a:p>
        </p:txBody>
      </p:sp>
      <p:sp>
        <p:nvSpPr>
          <p:cNvPr id="3" name="Content Placeholder 2">
            <a:extLst>
              <a:ext uri="{FF2B5EF4-FFF2-40B4-BE49-F238E27FC236}">
                <a16:creationId xmlns:a16="http://schemas.microsoft.com/office/drawing/2014/main" id="{5F61EDE2-4764-0A47-D636-7ABC3DB8C930}"/>
              </a:ext>
            </a:extLst>
          </p:cNvPr>
          <p:cNvSpPr>
            <a:spLocks noGrp="1"/>
          </p:cNvSpPr>
          <p:nvPr>
            <p:ph idx="1"/>
          </p:nvPr>
        </p:nvSpPr>
        <p:spPr/>
        <p:txBody>
          <a:bodyPr>
            <a:normAutofit fontScale="92500"/>
          </a:bodyPr>
          <a:lstStyle/>
          <a:p>
            <a:r>
              <a:rPr lang="en-US" dirty="0"/>
              <a:t>Equivalent to minimizing mean squared loss for regression</a:t>
            </a:r>
          </a:p>
          <a:p>
            <a:r>
              <a:rPr lang="en-US" dirty="0"/>
              <a:t>Equivalent to minimizing cross entropy loss for classification</a:t>
            </a:r>
          </a:p>
          <a:p>
            <a:r>
              <a:rPr lang="en-US" dirty="0"/>
              <a:t>May not be the best if the number of samples is low</a:t>
            </a:r>
          </a:p>
          <a:p>
            <a:pPr lvl="1"/>
            <a:r>
              <a:rPr lang="en-US" dirty="0"/>
              <a:t>For example, if number of samples if low, we would not use maximum likelihood for normal variance estimation, we would use the unbiased estimator</a:t>
            </a:r>
          </a:p>
          <a:p>
            <a:r>
              <a:rPr lang="en-US" dirty="0"/>
              <a:t>May not be the best if the loss function is customized based on the problem</a:t>
            </a:r>
          </a:p>
          <a:p>
            <a:pPr lvl="1"/>
            <a:r>
              <a:rPr lang="en-US" dirty="0"/>
              <a:t>For example, consider a loss that penalizes small error more than large errors. According to Berger decision theory text, the first million dollars is worth more than the second million dollars, is an example of a loss function that is more complicated</a:t>
            </a:r>
          </a:p>
          <a:p>
            <a:endParaRPr lang="en-US" dirty="0"/>
          </a:p>
        </p:txBody>
      </p:sp>
    </p:spTree>
    <p:extLst>
      <p:ext uri="{BB962C8B-B14F-4D97-AF65-F5344CB8AC3E}">
        <p14:creationId xmlns:p14="http://schemas.microsoft.com/office/powerpoint/2010/main" val="3808782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2DF38-ED9F-EA82-2046-E8D1EA7C0B10}"/>
              </a:ext>
            </a:extLst>
          </p:cNvPr>
          <p:cNvSpPr>
            <a:spLocks noGrp="1"/>
          </p:cNvSpPr>
          <p:nvPr>
            <p:ph type="title"/>
          </p:nvPr>
        </p:nvSpPr>
        <p:spPr/>
        <p:txBody>
          <a:bodyPr/>
          <a:lstStyle/>
          <a:p>
            <a:r>
              <a:rPr lang="en-US" dirty="0"/>
              <a:t>MAP estimation</a:t>
            </a:r>
          </a:p>
        </p:txBody>
      </p:sp>
      <p:sp>
        <p:nvSpPr>
          <p:cNvPr id="3" name="Content Placeholder 2">
            <a:extLst>
              <a:ext uri="{FF2B5EF4-FFF2-40B4-BE49-F238E27FC236}">
                <a16:creationId xmlns:a16="http://schemas.microsoft.com/office/drawing/2014/main" id="{7BA55CD5-9A58-4176-A526-BFDE945A7C00}"/>
              </a:ext>
            </a:extLst>
          </p:cNvPr>
          <p:cNvSpPr>
            <a:spLocks noGrp="1"/>
          </p:cNvSpPr>
          <p:nvPr>
            <p:ph idx="1"/>
          </p:nvPr>
        </p:nvSpPr>
        <p:spPr/>
        <p:txBody>
          <a:bodyPr>
            <a:normAutofit fontScale="92500" lnSpcReduction="10000"/>
          </a:bodyPr>
          <a:lstStyle/>
          <a:p>
            <a:r>
              <a:rPr lang="en-US" dirty="0"/>
              <a:t>Bayesian estimation is a point estimation</a:t>
            </a:r>
          </a:p>
          <a:p>
            <a:r>
              <a:rPr lang="en-US" dirty="0"/>
              <a:t>Even in maximum likelihood, we have a distribution, but we find the mode or the max of the distribution</a:t>
            </a:r>
          </a:p>
          <a:p>
            <a:r>
              <a:rPr lang="en-US" dirty="0"/>
              <a:t>In Bayesian, we use a prior to weight the distribution, but again we need to select a parameter to use in prediction, so we take the mode or the max of the posterior</a:t>
            </a:r>
          </a:p>
          <a:p>
            <a:r>
              <a:rPr lang="en-US" dirty="0"/>
              <a:t>Considering a distribution is not special to Bayesian, is it just probabilistic</a:t>
            </a:r>
          </a:p>
          <a:p>
            <a:pPr lvl="1"/>
            <a:r>
              <a:rPr lang="en-US"/>
              <a:t>We also use </a:t>
            </a:r>
            <a:r>
              <a:rPr lang="en-US" dirty="0"/>
              <a:t>distributions for UMVU, maximum likelihood, equivariance, minimax</a:t>
            </a:r>
          </a:p>
          <a:p>
            <a:r>
              <a:rPr lang="en-US" dirty="0"/>
              <a:t>Of course there are ways to use Bayesian other than point estimation</a:t>
            </a:r>
          </a:p>
        </p:txBody>
      </p:sp>
    </p:spTree>
    <p:extLst>
      <p:ext uri="{BB962C8B-B14F-4D97-AF65-F5344CB8AC3E}">
        <p14:creationId xmlns:p14="http://schemas.microsoft.com/office/powerpoint/2010/main" val="632467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709D-A8F0-FCD9-6869-9169143BC626}"/>
              </a:ext>
            </a:extLst>
          </p:cNvPr>
          <p:cNvSpPr>
            <a:spLocks noGrp="1"/>
          </p:cNvSpPr>
          <p:nvPr>
            <p:ph type="title"/>
          </p:nvPr>
        </p:nvSpPr>
        <p:spPr/>
        <p:txBody>
          <a:bodyPr/>
          <a:lstStyle/>
          <a:p>
            <a:r>
              <a:rPr lang="en-US" dirty="0"/>
              <a:t>Urn problem question</a:t>
            </a:r>
          </a:p>
        </p:txBody>
      </p:sp>
      <p:sp>
        <p:nvSpPr>
          <p:cNvPr id="3" name="Content Placeholder 2">
            <a:extLst>
              <a:ext uri="{FF2B5EF4-FFF2-40B4-BE49-F238E27FC236}">
                <a16:creationId xmlns:a16="http://schemas.microsoft.com/office/drawing/2014/main" id="{48724086-AB77-2AB5-A437-531309851A94}"/>
              </a:ext>
            </a:extLst>
          </p:cNvPr>
          <p:cNvSpPr>
            <a:spLocks noGrp="1"/>
          </p:cNvSpPr>
          <p:nvPr>
            <p:ph idx="1"/>
          </p:nvPr>
        </p:nvSpPr>
        <p:spPr/>
        <p:txBody>
          <a:bodyPr>
            <a:normAutofit lnSpcReduction="10000"/>
          </a:bodyPr>
          <a:lstStyle/>
          <a:p>
            <a:r>
              <a:rPr lang="en-US" dirty="0"/>
              <a:t>If we find any unbiased estimator, it will have high variance for certain values of n (because no UMVU exists)</a:t>
            </a:r>
          </a:p>
          <a:p>
            <a:pPr lvl="1"/>
            <a:r>
              <a:rPr lang="en-US" dirty="0"/>
              <a:t>I think I said high variance for high values of n</a:t>
            </a:r>
          </a:p>
          <a:p>
            <a:pPr lvl="1"/>
            <a:r>
              <a:rPr lang="en-US" dirty="0"/>
              <a:t>An unbiased estimator could exist with high variance for lower values of n</a:t>
            </a:r>
          </a:p>
          <a:p>
            <a:pPr lvl="1"/>
            <a:r>
              <a:rPr lang="en-US" dirty="0"/>
              <a:t>I think in the urn problem, because each outcome is equally likely from 1 to n, that the variance increases for high values of n, haven’t found a proof yet</a:t>
            </a:r>
          </a:p>
          <a:p>
            <a:pPr lvl="2"/>
            <a:r>
              <a:rPr lang="en-US" dirty="0"/>
              <a:t>Proof sketch</a:t>
            </a:r>
          </a:p>
          <a:p>
            <a:pPr lvl="2"/>
            <a:r>
              <a:rPr lang="en-US" dirty="0"/>
              <a:t>An unbiased estimator of n, needs to assign probability mass to large values of k, so that when k is large our estimate of n is large</a:t>
            </a:r>
          </a:p>
          <a:p>
            <a:pPr lvl="2"/>
            <a:r>
              <a:rPr lang="en-US" dirty="0"/>
              <a:t>Because n may be small, we also need to assign probability values to small k</a:t>
            </a:r>
          </a:p>
          <a:p>
            <a:pPr lvl="2"/>
            <a:r>
              <a:rPr lang="en-US" dirty="0"/>
              <a:t>If we assign probability mass to small and large k, and n is high, our mass is distributed over a large spread, so we get </a:t>
            </a:r>
            <a:r>
              <a:rPr lang="en-US"/>
              <a:t>high variance</a:t>
            </a:r>
            <a:endParaRPr lang="en-US" dirty="0"/>
          </a:p>
          <a:p>
            <a:endParaRPr lang="en-US" dirty="0"/>
          </a:p>
          <a:p>
            <a:endParaRPr lang="en-US" dirty="0"/>
          </a:p>
        </p:txBody>
      </p:sp>
    </p:spTree>
    <p:extLst>
      <p:ext uri="{BB962C8B-B14F-4D97-AF65-F5344CB8AC3E}">
        <p14:creationId xmlns:p14="http://schemas.microsoft.com/office/powerpoint/2010/main" val="1938986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331</TotalTime>
  <Words>1487</Words>
  <Application>Microsoft Office PowerPoint</Application>
  <PresentationFormat>Widescreen</PresentationFormat>
  <Paragraphs>217</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Cambria Math</vt:lpstr>
      <vt:lpstr>Office Theme</vt:lpstr>
      <vt:lpstr>Loss Functions Seminar 2</vt:lpstr>
      <vt:lpstr>Review the Problem</vt:lpstr>
      <vt:lpstr>Review the Problem</vt:lpstr>
      <vt:lpstr>KL divergence and cross entropy</vt:lpstr>
      <vt:lpstr>KL divergence and cross entropy</vt:lpstr>
      <vt:lpstr>KL divergence and cross entropy</vt:lpstr>
      <vt:lpstr>Cross Entropy, ML, and MAP (Bayesian)</vt:lpstr>
      <vt:lpstr>Point Estimation</vt:lpstr>
      <vt:lpstr>Maximum Likelihood</vt:lpstr>
      <vt:lpstr>Maximum Likelihood Large Sample Size</vt:lpstr>
      <vt:lpstr>Maximum Likelihood Large Sample Size</vt:lpstr>
      <vt:lpstr>Maximum Likelihood Large Sample Size</vt:lpstr>
      <vt:lpstr>Maximum Likelihood Large Sample Size</vt:lpstr>
      <vt:lpstr>Maximum Likelihood Large Sample Size</vt:lpstr>
      <vt:lpstr>Maximum Likelihood Large Sample Size</vt:lpstr>
      <vt:lpstr>Maximum Likelihood Large Sample Size</vt:lpstr>
      <vt:lpstr>Maximum Likelihood</vt:lpstr>
      <vt:lpstr>MAP estimation</vt:lpstr>
      <vt:lpstr>Urn problem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GLANDON, ALEXANDER M.</dc:creator>
  <cp:lastModifiedBy>GLANDON, ALEXANDER M.</cp:lastModifiedBy>
  <cp:revision>81</cp:revision>
  <dcterms:created xsi:type="dcterms:W3CDTF">2025-01-13T03:22:54Z</dcterms:created>
  <dcterms:modified xsi:type="dcterms:W3CDTF">2025-12-20T04:21:34Z</dcterms:modified>
</cp:coreProperties>
</file>